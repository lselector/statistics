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304" r:id="rId2"/>
    <p:sldId id="269" r:id="rId3"/>
    <p:sldId id="302" r:id="rId4"/>
    <p:sldId id="305" r:id="rId5"/>
    <p:sldId id="303" r:id="rId6"/>
    <p:sldId id="256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/>
    <p:restoredTop sz="92179"/>
  </p:normalViewPr>
  <p:slideViewPr>
    <p:cSldViewPr snapToGrid="0" snapToObjects="1">
      <p:cViewPr>
        <p:scale>
          <a:sx n="120" d="100"/>
          <a:sy n="120" d="100"/>
        </p:scale>
        <p:origin x="6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1EA1-5C46-5341-8587-79D72DBE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A7D02-E489-6247-A488-5C2C9B2AC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B3616-05FA-A84E-879E-76D70962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5/19/22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61D6-F5AF-DE42-B285-D209FD8C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590-5A43-BD4B-BCAC-5417620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tats.stackexchange.com/questions/3931/intuitive-explanation-for-dividing-by-n-1-when-calculating-standard-deviation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TZSnTN67Fk" TargetMode="External"/><Relationship Id="rId2" Type="http://schemas.openxmlformats.org/officeDocument/2006/relationships/hyperlink" Target="https://en.wikipedia.org/wiki/Sample_(statistics)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en.wikipedia.org/wiki/Resampling_(statistics)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hyperlink" Target="https://en.wikipedia.org/wiki/Bradley_Efron" TargetMode="External"/><Relationship Id="rId7" Type="http://schemas.openxmlformats.org/officeDocument/2006/relationships/image" Target="../media/image6.jpeg"/><Relationship Id="rId2" Type="http://schemas.openxmlformats.org/officeDocument/2006/relationships/hyperlink" Target="https://en.wikipedia.org/wiki/John_Tuke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hyperlink" Target="https://en.wikipedia.org/wiki/Bootstrapping_(statistics)" TargetMode="External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BCE90-9DB5-3745-E4FE-F8A8578E23B7}"/>
              </a:ext>
            </a:extLst>
          </p:cNvPr>
          <p:cNvSpPr txBox="1"/>
          <p:nvPr/>
        </p:nvSpPr>
        <p:spPr>
          <a:xfrm>
            <a:off x="1365504" y="978604"/>
            <a:ext cx="9009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B0F0"/>
                </a:solidFill>
              </a:rPr>
              <a:t>Previous lectures were about </a:t>
            </a:r>
            <a:r>
              <a:rPr lang="en-US" sz="2800" b="1">
                <a:solidFill>
                  <a:srgbClr val="00B050"/>
                </a:solidFill>
              </a:rPr>
              <a:t>Probability</a:t>
            </a:r>
            <a:r>
              <a:rPr lang="en-US" sz="2800" b="1">
                <a:solidFill>
                  <a:srgbClr val="00B0F0"/>
                </a:solidFill>
              </a:rPr>
              <a:t>.</a:t>
            </a:r>
          </a:p>
          <a:p>
            <a:pPr algn="ctr"/>
            <a:r>
              <a:rPr lang="en-US" sz="2800" b="1">
                <a:solidFill>
                  <a:srgbClr val="00B0F0"/>
                </a:solidFill>
              </a:rPr>
              <a:t>Today we start talking about </a:t>
            </a:r>
            <a:r>
              <a:rPr lang="en-US" sz="2800" b="1">
                <a:solidFill>
                  <a:srgbClr val="00B050"/>
                </a:solidFill>
              </a:rPr>
              <a:t>Statistics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24233-902C-E49C-3EBE-7D59384416E9}"/>
              </a:ext>
            </a:extLst>
          </p:cNvPr>
          <p:cNvSpPr txBox="1"/>
          <p:nvPr/>
        </p:nvSpPr>
        <p:spPr>
          <a:xfrm>
            <a:off x="1365504" y="3429000"/>
            <a:ext cx="90098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>
                <a:solidFill>
                  <a:srgbClr val="00B0F0"/>
                </a:solidFill>
              </a:rPr>
              <a:t>Statistics</a:t>
            </a:r>
          </a:p>
        </p:txBody>
      </p:sp>
    </p:spTree>
    <p:extLst>
      <p:ext uri="{BB962C8B-B14F-4D97-AF65-F5344CB8AC3E}">
        <p14:creationId xmlns:p14="http://schemas.microsoft.com/office/powerpoint/2010/main" val="148418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2EEA3B-9D50-A145-B8FE-B6686486D979}"/>
              </a:ext>
            </a:extLst>
          </p:cNvPr>
          <p:cNvSpPr txBox="1"/>
          <p:nvPr/>
        </p:nvSpPr>
        <p:spPr>
          <a:xfrm>
            <a:off x="0" y="0"/>
            <a:ext cx="4807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 into Statistics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731C5-EDD2-C145-932A-A88B03CA28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94" y="894842"/>
            <a:ext cx="3452730" cy="3601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4CC4E-3332-5542-A614-EDEF0AE14AAA}"/>
              </a:ext>
            </a:extLst>
          </p:cNvPr>
          <p:cNvSpPr txBox="1"/>
          <p:nvPr/>
        </p:nvSpPr>
        <p:spPr>
          <a:xfrm>
            <a:off x="8020423" y="200054"/>
            <a:ext cx="301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Here are some basic formulas: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AE6D3-B545-F244-8CA7-FAE7513462A6}"/>
              </a:ext>
            </a:extLst>
          </p:cNvPr>
          <p:cNvSpPr txBox="1"/>
          <p:nvPr/>
        </p:nvSpPr>
        <p:spPr>
          <a:xfrm>
            <a:off x="8007619" y="5152339"/>
            <a:ext cx="40819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 </a:t>
            </a:r>
            <a:r>
              <a:rPr lang="en-US" b="1" dirty="0">
                <a:solidFill>
                  <a:srgbClr val="00B050"/>
                </a:solidFill>
              </a:rPr>
              <a:t>"n-1"</a:t>
            </a:r>
            <a:r>
              <a:rPr lang="en-US" dirty="0"/>
              <a:t>  instead of  </a:t>
            </a:r>
            <a:r>
              <a:rPr lang="en-US" b="1" dirty="0">
                <a:solidFill>
                  <a:srgbClr val="00B050"/>
                </a:solidFill>
              </a:rPr>
              <a:t>"n"</a:t>
            </a:r>
            <a:r>
              <a:rPr lang="en-US" dirty="0"/>
              <a:t>  ?</a:t>
            </a:r>
          </a:p>
          <a:p>
            <a:endParaRPr lang="en-US" dirty="0"/>
          </a:p>
          <a:p>
            <a:r>
              <a:rPr lang="en-US" sz="1200" dirty="0"/>
              <a:t>- </a:t>
            </a:r>
            <a:r>
              <a:rPr lang="en-US" sz="1200" dirty="0">
                <a:hlinkClick r:id="rId3"/>
              </a:rPr>
              <a:t>http://</a:t>
            </a:r>
            <a:r>
              <a:rPr lang="en-US" sz="1200" dirty="0" err="1">
                <a:hlinkClick r:id="rId3"/>
              </a:rPr>
              <a:t>stats.stackexchange.com</a:t>
            </a:r>
            <a:r>
              <a:rPr lang="en-US" sz="1200" dirty="0">
                <a:hlinkClick r:id="rId3"/>
              </a:rPr>
              <a:t>/questions/3931/intuitive-explanation-for-dividing-by-n-1-when-calculating-standard-deviation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1F507-013B-404F-8201-ACF41C87EF19}"/>
              </a:ext>
            </a:extLst>
          </p:cNvPr>
          <p:cNvSpPr txBox="1"/>
          <p:nvPr/>
        </p:nvSpPr>
        <p:spPr>
          <a:xfrm>
            <a:off x="95533" y="629571"/>
            <a:ext cx="7342650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b="1" dirty="0">
                <a:solidFill>
                  <a:srgbClr val="FF0000"/>
                </a:solidFill>
              </a:rPr>
              <a:t>Statistics</a:t>
            </a:r>
            <a:r>
              <a:rPr lang="en-US" dirty="0">
                <a:solidFill>
                  <a:schemeClr val="tx1"/>
                </a:solidFill>
              </a:rPr>
              <a:t> - the study of the collection, analysis, </a:t>
            </a:r>
          </a:p>
          <a:p>
            <a:r>
              <a:rPr lang="en-US" dirty="0">
                <a:solidFill>
                  <a:schemeClr val="tx1"/>
                </a:solidFill>
              </a:rPr>
              <a:t>interpretation, presentation, and organization of data.”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Statistical Inference</a:t>
            </a:r>
            <a:r>
              <a:rPr lang="en-US" dirty="0">
                <a:solidFill>
                  <a:schemeClr val="tx1"/>
                </a:solidFill>
              </a:rPr>
              <a:t> - using data from a </a:t>
            </a:r>
            <a:r>
              <a:rPr lang="en-US" b="1" dirty="0">
                <a:solidFill>
                  <a:srgbClr val="00B050"/>
                </a:solidFill>
              </a:rPr>
              <a:t>noisy sample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make estimates or test hypotheses about the </a:t>
            </a:r>
            <a:r>
              <a:rPr lang="en-US" b="1" dirty="0">
                <a:solidFill>
                  <a:srgbClr val="00B050"/>
                </a:solidFill>
              </a:rPr>
              <a:t>whole population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Being a Statistician is the major part of being a Data Scientist. </a:t>
            </a:r>
          </a:p>
          <a:p>
            <a:r>
              <a:rPr lang="en-US" dirty="0"/>
              <a:t>Atention – it is easy to mis-use statistics:</a:t>
            </a:r>
          </a:p>
          <a:p>
            <a:r>
              <a:rPr lang="en-US" b="1" dirty="0">
                <a:solidFill>
                  <a:srgbClr val="0070C0"/>
                </a:solidFill>
              </a:rPr>
              <a:t>“There are three kinds of lies: lies, damned lies, and statistics.”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Statistics involves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Collecting (sampling)</a:t>
            </a:r>
            <a:r>
              <a:rPr lang="en-US" dirty="0"/>
              <a:t> the data from different kind of </a:t>
            </a:r>
            <a:r>
              <a:rPr lang="en-US" b="1" dirty="0">
                <a:solidFill>
                  <a:srgbClr val="00B050"/>
                </a:solidFill>
              </a:rPr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Visualizing</a:t>
            </a:r>
            <a:r>
              <a:rPr lang="en-US" dirty="0"/>
              <a:t> the data, estimating the parameters (</a:t>
            </a:r>
            <a:r>
              <a:rPr lang="en-US" b="1" dirty="0">
                <a:solidFill>
                  <a:srgbClr val="00B050"/>
                </a:solidFill>
              </a:rPr>
              <a:t>average/mean values, errors</a:t>
            </a:r>
            <a:r>
              <a:rPr lang="en-US" dirty="0"/>
              <a:t>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HypothesisTesting</a:t>
            </a:r>
            <a:r>
              <a:rPr lang="en-US" dirty="0"/>
              <a:t> - </a:t>
            </a:r>
            <a:r>
              <a:rPr lang="en-US" b="1" dirty="0">
                <a:solidFill>
                  <a:srgbClr val="00B0F0"/>
                </a:solidFill>
              </a:rPr>
              <a:t>null hypothesis</a:t>
            </a:r>
            <a:r>
              <a:rPr lang="en-US" dirty="0"/>
              <a:t> or alternative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</a:t>
            </a:r>
            <a:r>
              <a:rPr lang="en-US" b="1" dirty="0">
                <a:solidFill>
                  <a:srgbClr val="00B050"/>
                </a:solidFill>
              </a:rPr>
              <a:t>confidence intervals</a:t>
            </a:r>
            <a:r>
              <a:rPr lang="en-US" dirty="0"/>
              <a:t>, estimating </a:t>
            </a:r>
            <a:r>
              <a:rPr lang="en-US" b="1" dirty="0">
                <a:solidFill>
                  <a:srgbClr val="00B050"/>
                </a:solidFill>
              </a:rPr>
              <a:t>significance</a:t>
            </a:r>
            <a:r>
              <a:rPr lang="en-US" dirty="0"/>
              <a:t> of observed differences,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3A544D-1068-7342-8615-6D2C04FDA47D}"/>
              </a:ext>
            </a:extLst>
          </p:cNvPr>
          <p:cNvGrpSpPr/>
          <p:nvPr/>
        </p:nvGrpSpPr>
        <p:grpSpPr>
          <a:xfrm>
            <a:off x="4795870" y="4735058"/>
            <a:ext cx="2025854" cy="1206714"/>
            <a:chOff x="529389" y="4535701"/>
            <a:chExt cx="2448817" cy="145865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86DF43D-29FE-0443-9985-9ED524012597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5311AFC-C517-DC4C-960A-490461E576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23A88AC-F721-804B-8F1A-F75760468CA7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25DDCFC-44DE-5B43-83EA-2419844DEEC2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B5CD29-2539-1545-A9D4-A04D8BC9EB4B}"/>
              </a:ext>
            </a:extLst>
          </p:cNvPr>
          <p:cNvSpPr txBox="1"/>
          <p:nvPr/>
        </p:nvSpPr>
        <p:spPr>
          <a:xfrm>
            <a:off x="3877454" y="5629393"/>
            <a:ext cx="9250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32BD6-7C9A-5146-8497-592987C58E52}"/>
              </a:ext>
            </a:extLst>
          </p:cNvPr>
          <p:cNvSpPr txBox="1"/>
          <p:nvPr/>
        </p:nvSpPr>
        <p:spPr>
          <a:xfrm>
            <a:off x="5219124" y="6012892"/>
            <a:ext cx="1276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87302-9BB2-514D-BE3D-821FD097A44A}"/>
              </a:ext>
            </a:extLst>
          </p:cNvPr>
          <p:cNvSpPr txBox="1"/>
          <p:nvPr/>
        </p:nvSpPr>
        <p:spPr>
          <a:xfrm>
            <a:off x="5369111" y="4339389"/>
            <a:ext cx="1004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 A   B</a:t>
            </a:r>
          </a:p>
        </p:txBody>
      </p:sp>
      <p:pic>
        <p:nvPicPr>
          <p:cNvPr id="19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28CB2243-567E-6E40-9C2E-493178477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728" y="4528004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690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A9F4D4-7EEB-964F-83D0-EB156B63BAD7}"/>
              </a:ext>
            </a:extLst>
          </p:cNvPr>
          <p:cNvSpPr txBox="1"/>
          <p:nvPr/>
        </p:nvSpPr>
        <p:spPr>
          <a:xfrm>
            <a:off x="1" y="1610"/>
            <a:ext cx="675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Sampling, Resampling, Bootstrapping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DB410-4267-8E45-9276-D7FD97CA0E8A}"/>
              </a:ext>
            </a:extLst>
          </p:cNvPr>
          <p:cNvSpPr txBox="1"/>
          <p:nvPr/>
        </p:nvSpPr>
        <p:spPr>
          <a:xfrm>
            <a:off x="161576" y="739248"/>
            <a:ext cx="701951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Sample</a:t>
            </a:r>
            <a:r>
              <a:rPr lang="en-US" dirty="0"/>
              <a:t> – a set of objects/observations which were collected by a defined procedure. </a:t>
            </a:r>
          </a:p>
          <a:p>
            <a:endParaRPr lang="en-US" dirty="0"/>
          </a:p>
          <a:p>
            <a:r>
              <a:rPr lang="en-US" dirty="0"/>
              <a:t>The elements of a sample are known as </a:t>
            </a:r>
            <a:r>
              <a:rPr lang="en-US" b="1" dirty="0">
                <a:solidFill>
                  <a:srgbClr val="0070C0"/>
                </a:solidFill>
              </a:rPr>
              <a:t>sample points (units</a:t>
            </a:r>
            <a:r>
              <a:rPr lang="en-US" dirty="0"/>
              <a:t> or </a:t>
            </a:r>
            <a:r>
              <a:rPr lang="en-US" b="1" dirty="0">
                <a:solidFill>
                  <a:srgbClr val="0070C0"/>
                </a:solidFill>
              </a:rPr>
              <a:t>observations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https://en.wikipedia.org/wiki/Sample_(statistics)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https://www.youtube.com/watch?v=vTZSnTN67Fk</a:t>
            </a:r>
            <a:r>
              <a:rPr lang="en-US" dirty="0"/>
              <a:t> – very good lecture by Brian </a:t>
            </a:r>
            <a:r>
              <a:rPr lang="en-US" dirty="0" err="1"/>
              <a:t>Caffo</a:t>
            </a:r>
            <a:endParaRPr lang="en-US" dirty="0"/>
          </a:p>
        </p:txBody>
      </p:sp>
      <p:pic>
        <p:nvPicPr>
          <p:cNvPr id="1028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3C98B8CF-E121-5841-8A78-D7EE94486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7016" y="3716415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146B72-845C-3D46-981A-04566C3C4D92}"/>
              </a:ext>
            </a:extLst>
          </p:cNvPr>
          <p:cNvSpPr txBox="1"/>
          <p:nvPr/>
        </p:nvSpPr>
        <p:spPr>
          <a:xfrm>
            <a:off x="341866" y="2606963"/>
            <a:ext cx="2691866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 statistics we often try </a:t>
            </a:r>
          </a:p>
          <a:p>
            <a:r>
              <a:rPr lang="en-US" b="1" dirty="0">
                <a:solidFill>
                  <a:srgbClr val="00B050"/>
                </a:solidFill>
              </a:rPr>
              <a:t>to </a:t>
            </a:r>
            <a:r>
              <a:rPr lang="en-US" b="1" dirty="0">
                <a:solidFill>
                  <a:srgbClr val="00B0F0"/>
                </a:solidFill>
              </a:rPr>
              <a:t>learn about population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  <a:p>
            <a:r>
              <a:rPr lang="en-US" b="1" dirty="0">
                <a:solidFill>
                  <a:srgbClr val="00B050"/>
                </a:solidFill>
              </a:rPr>
              <a:t>by </a:t>
            </a:r>
            <a:r>
              <a:rPr lang="en-US" b="1" dirty="0">
                <a:solidFill>
                  <a:srgbClr val="00B0F0"/>
                </a:solidFill>
              </a:rPr>
              <a:t>analyzing noisy samples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5D4DF8-9DC2-9EC5-B713-1DC9E47CA72D}"/>
              </a:ext>
            </a:extLst>
          </p:cNvPr>
          <p:cNvSpPr txBox="1"/>
          <p:nvPr/>
        </p:nvSpPr>
        <p:spPr>
          <a:xfrm>
            <a:off x="3430487" y="3828347"/>
            <a:ext cx="4276416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Bootstrap principle</a:t>
            </a:r>
            <a:r>
              <a:rPr lang="en-US" dirty="0"/>
              <a:t> – </a:t>
            </a:r>
            <a:r>
              <a:rPr lang="en-US" b="1" dirty="0">
                <a:solidFill>
                  <a:srgbClr val="00B050"/>
                </a:solidFill>
              </a:rPr>
              <a:t>use distribution from computer resampling to evaluate the population distribution.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 values of calculated parameters usually differ between samples. We can build distributions and estimate the variability of the estimates.</a:t>
            </a:r>
          </a:p>
          <a:p>
            <a:endParaRPr lang="en-US" dirty="0"/>
          </a:p>
          <a:p>
            <a:r>
              <a:rPr lang="en-US" dirty="0"/>
              <a:t>Under certain conditions when the numbers are big, the </a:t>
            </a:r>
            <a:r>
              <a:rPr lang="en-US" b="1" dirty="0">
                <a:solidFill>
                  <a:srgbClr val="0070C0"/>
                </a:solidFill>
              </a:rPr>
              <a:t>Central Limit Theorem (CLT)</a:t>
            </a:r>
            <a:r>
              <a:rPr lang="en-US" dirty="0"/>
              <a:t> can kick in leading to </a:t>
            </a:r>
            <a:r>
              <a:rPr lang="en-US" b="1" dirty="0">
                <a:solidFill>
                  <a:srgbClr val="0070C0"/>
                </a:solidFill>
              </a:rPr>
              <a:t>Normal Gaussian</a:t>
            </a:r>
            <a:r>
              <a:rPr lang="en-US" dirty="0"/>
              <a:t> distributions. But this doesn't have to be the case.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F038A-7A67-9A13-EF70-071F11266D88}"/>
              </a:ext>
            </a:extLst>
          </p:cNvPr>
          <p:cNvSpPr txBox="1"/>
          <p:nvPr/>
        </p:nvSpPr>
        <p:spPr>
          <a:xfrm>
            <a:off x="7985761" y="3828347"/>
            <a:ext cx="3529223" cy="2677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Why bootstrapping is useful?</a:t>
            </a:r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We don't need resampling to simply calculate the mean or standard error.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We use resampling to calculate non-trivial parameters</a:t>
            </a:r>
            <a:r>
              <a:rPr lang="en-US" dirty="0">
                <a:solidFill>
                  <a:schemeClr val="tx1"/>
                </a:solidFill>
              </a:rPr>
              <a:t> (especially their distributions, errors, confidence intervals, regression coefficients, etc.).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main benefit of resampling is </a:t>
            </a:r>
            <a:r>
              <a:rPr lang="en-US" b="1" dirty="0">
                <a:solidFill>
                  <a:srgbClr val="00B050"/>
                </a:solidFill>
              </a:rPr>
              <a:t>SIMPLICITY of computer hacking</a:t>
            </a:r>
            <a:r>
              <a:rPr lang="en-US" dirty="0">
                <a:solidFill>
                  <a:schemeClr val="tx1"/>
                </a:solidFill>
              </a:rPr>
              <a:t> as opposed to complex math.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A5D9B-95EC-7B9C-F542-8A57507F9D03}"/>
              </a:ext>
            </a:extLst>
          </p:cNvPr>
          <p:cNvSpPr txBox="1"/>
          <p:nvPr/>
        </p:nvSpPr>
        <p:spPr>
          <a:xfrm>
            <a:off x="3426631" y="2622352"/>
            <a:ext cx="365082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Resampling</a:t>
            </a:r>
            <a:r>
              <a:rPr lang="en-US" dirty="0"/>
              <a:t> - collecting multiple samples to do statistical estimations:</a:t>
            </a:r>
          </a:p>
          <a:p>
            <a:r>
              <a:rPr lang="en-US" sz="1200" dirty="0">
                <a:hlinkClick r:id="rId5"/>
              </a:rPr>
              <a:t>https://en.wikipedia.org/wiki/Resampling_(statistics)</a:t>
            </a:r>
            <a:endParaRPr lang="en-US" sz="1200" dirty="0"/>
          </a:p>
        </p:txBody>
      </p:sp>
      <p:pic>
        <p:nvPicPr>
          <p:cNvPr id="10" name="Picture 2" descr="Resampling Methods — A Simple Introduction to The Bootstrap Method | by  Arif R | Medium">
            <a:extLst>
              <a:ext uri="{FF2B5EF4-FFF2-40B4-BE49-F238E27FC236}">
                <a16:creationId xmlns:a16="http://schemas.microsoft.com/office/drawing/2014/main" id="{960EA2D5-C297-00FB-B692-8EC90302B8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240945" y="677085"/>
            <a:ext cx="2323541" cy="25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5B3483-83A6-17FE-F737-359CE34615C6}"/>
              </a:ext>
            </a:extLst>
          </p:cNvPr>
          <p:cNvSpPr txBox="1"/>
          <p:nvPr/>
        </p:nvSpPr>
        <p:spPr>
          <a:xfrm>
            <a:off x="10784018" y="795760"/>
            <a:ext cx="187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0F0"/>
                </a:solidFill>
              </a:rPr>
              <a:t>CALCULATE</a:t>
            </a:r>
          </a:p>
        </p:txBody>
      </p:sp>
    </p:spTree>
    <p:extLst>
      <p:ext uri="{BB962C8B-B14F-4D97-AF65-F5344CB8AC3E}">
        <p14:creationId xmlns:p14="http://schemas.microsoft.com/office/powerpoint/2010/main" val="55783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A9F4D4-7EEB-964F-83D0-EB156B63BAD7}"/>
              </a:ext>
            </a:extLst>
          </p:cNvPr>
          <p:cNvSpPr txBox="1"/>
          <p:nvPr/>
        </p:nvSpPr>
        <p:spPr>
          <a:xfrm>
            <a:off x="1" y="1610"/>
            <a:ext cx="5677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Resampling, Bootstrapping . .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16F69-773D-7044-A74D-A5F8B6802708}"/>
              </a:ext>
            </a:extLst>
          </p:cNvPr>
          <p:cNvSpPr txBox="1"/>
          <p:nvPr/>
        </p:nvSpPr>
        <p:spPr>
          <a:xfrm>
            <a:off x="130991" y="3818708"/>
            <a:ext cx="642929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Bootstrapping popularity</a:t>
            </a:r>
            <a:r>
              <a:rPr lang="en-US" dirty="0">
                <a:solidFill>
                  <a:schemeClr val="tx1"/>
                </a:solidFill>
              </a:rPr>
              <a:t> grew around 1980 when computers became widely available. Computers allowed to run thousands of virtual experiments to get statistical results. This is basically the Monte-Carlo approach.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1980  |  after 1980</a:t>
            </a:r>
          </a:p>
          <a:p>
            <a:r>
              <a:rPr lang="en-US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-------------+---------------------</a:t>
            </a:r>
          </a:p>
          <a:p>
            <a:r>
              <a:rPr lang="en-US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manual math  |  computer hacking</a:t>
            </a:r>
          </a:p>
          <a:p>
            <a:r>
              <a:rPr lang="en-US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|  run virtual random experiments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3AD0-3010-744C-81A8-0EC52C014139}"/>
              </a:ext>
            </a:extLst>
          </p:cNvPr>
          <p:cNvSpPr txBox="1"/>
          <p:nvPr/>
        </p:nvSpPr>
        <p:spPr>
          <a:xfrm>
            <a:off x="6838347" y="5310635"/>
            <a:ext cx="522266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Special resampling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Shuffling</a:t>
            </a:r>
            <a:r>
              <a:rPr lang="en-US" dirty="0"/>
              <a:t> - exchanging labels on data points when performing significance tests (a.k.a. permutation tests, exact tests, randomization tests, or re-randomization tests)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Cross-Validation</a:t>
            </a:r>
            <a:r>
              <a:rPr lang="en-US" dirty="0"/>
              <a:t> of models by comparing models built using random subsets of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1CA07-9F87-D24C-A744-86785634A022}"/>
              </a:ext>
            </a:extLst>
          </p:cNvPr>
          <p:cNvSpPr txBox="1"/>
          <p:nvPr/>
        </p:nvSpPr>
        <p:spPr>
          <a:xfrm>
            <a:off x="130991" y="807910"/>
            <a:ext cx="6429297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Two most common methods of Resampling: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jackknife</a:t>
            </a:r>
            <a:r>
              <a:rPr lang="en-US" dirty="0"/>
              <a:t> – simple tool - </a:t>
            </a:r>
            <a:r>
              <a:rPr lang="en-US" dirty="0">
                <a:solidFill>
                  <a:srgbClr val="0070C0"/>
                </a:solidFill>
              </a:rPr>
              <a:t>selecting subsets by removing one or more points from the original data set</a:t>
            </a:r>
            <a:r>
              <a:rPr lang="en-US" dirty="0"/>
              <a:t>. Invented by </a:t>
            </a:r>
            <a:r>
              <a:rPr lang="en-US" b="1" dirty="0">
                <a:solidFill>
                  <a:srgbClr val="FF0000"/>
                </a:solidFill>
              </a:rPr>
              <a:t>John Tukey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https://en.wikipedia.org/wiki/John_Tukey</a:t>
            </a:r>
            <a:r>
              <a:rPr lang="en-US" dirty="0"/>
              <a:t>  (inventor of FFT, "bit", ...)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bootstrap</a:t>
            </a:r>
            <a:r>
              <a:rPr lang="en-US" dirty="0"/>
              <a:t> - </a:t>
            </a:r>
            <a:r>
              <a:rPr lang="en-US" dirty="0">
                <a:solidFill>
                  <a:srgbClr val="0070C0"/>
                </a:solidFill>
              </a:rPr>
              <a:t>sampling with replacement (data points may be included more than once into any sample</a:t>
            </a:r>
            <a:r>
              <a:rPr lang="en-US" dirty="0"/>
              <a:t>).</a:t>
            </a:r>
            <a:r>
              <a:rPr lang="en-US" b="1" dirty="0">
                <a:solidFill>
                  <a:srgbClr val="00B050"/>
                </a:solidFill>
              </a:rPr>
              <a:t> Invented by </a:t>
            </a:r>
            <a:r>
              <a:rPr lang="en-US" b="1" dirty="0">
                <a:solidFill>
                  <a:srgbClr val="FF0000"/>
                </a:solidFill>
              </a:rPr>
              <a:t>Bradley </a:t>
            </a:r>
            <a:r>
              <a:rPr lang="en-US" b="1" dirty="0" err="1">
                <a:solidFill>
                  <a:srgbClr val="FF0000"/>
                </a:solidFill>
              </a:rPr>
              <a:t>Efron</a:t>
            </a:r>
            <a:r>
              <a:rPr lang="en-US" b="1" dirty="0">
                <a:solidFill>
                  <a:srgbClr val="00B050"/>
                </a:solidFill>
              </a:rPr>
              <a:t> (1979)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"Bootstrap Methods: Another Look at the Jackknife"</a:t>
            </a:r>
            <a:r>
              <a:rPr lang="en-US" dirty="0"/>
              <a:t> - 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3"/>
              </a:rPr>
              <a:t>https://en.wikipedia.org/wiki/Bradley_Efron</a:t>
            </a:r>
            <a:r>
              <a:rPr lang="en-US" dirty="0"/>
              <a:t> - 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4"/>
              </a:rPr>
              <a:t>https://en.wikipedia.org/wiki/Bootstrapping_(statistics)</a:t>
            </a:r>
            <a:r>
              <a:rPr lang="en-US" dirty="0"/>
              <a:t> </a:t>
            </a:r>
          </a:p>
        </p:txBody>
      </p:sp>
      <p:pic>
        <p:nvPicPr>
          <p:cNvPr id="1026" name="Picture 2" descr="Jackknife definition and meaning | Collins English Dictionary">
            <a:extLst>
              <a:ext uri="{FF2B5EF4-FFF2-40B4-BE49-F238E27FC236}">
                <a16:creationId xmlns:a16="http://schemas.microsoft.com/office/drawing/2014/main" id="{3CE90554-EED8-084C-8931-AA23DBC70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28747" y="374255"/>
            <a:ext cx="1085088" cy="90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at &quot;Pull Yourself Up By The Bootstraps&quot; Really Means... | Toluna">
            <a:extLst>
              <a:ext uri="{FF2B5EF4-FFF2-40B4-BE49-F238E27FC236}">
                <a16:creationId xmlns:a16="http://schemas.microsoft.com/office/drawing/2014/main" id="{568673C8-DB92-4E49-AD39-A764D7148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47899" y="2298034"/>
            <a:ext cx="635359" cy="121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4C389BF-7215-A647-BE4C-4DB6D0884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83970" y="534897"/>
            <a:ext cx="784797" cy="11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335C03E-0C17-AF43-B98C-B9CC044D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9"/>
          <a:stretch/>
        </p:blipFill>
        <p:spPr bwMode="auto">
          <a:xfrm>
            <a:off x="6893799" y="2260820"/>
            <a:ext cx="820589" cy="121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B0E83-5D9F-1944-BE18-8773ABA4BDFC}"/>
              </a:ext>
            </a:extLst>
          </p:cNvPr>
          <p:cNvSpPr txBox="1"/>
          <p:nvPr/>
        </p:nvSpPr>
        <p:spPr>
          <a:xfrm>
            <a:off x="6893799" y="4021074"/>
            <a:ext cx="2400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Bootstrap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"pulling yourself up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by your own bootstraps"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5A468-6DD4-7E43-AADD-AD9BA74FAA27}"/>
              </a:ext>
            </a:extLst>
          </p:cNvPr>
          <p:cNvSpPr txBox="1"/>
          <p:nvPr/>
        </p:nvSpPr>
        <p:spPr>
          <a:xfrm>
            <a:off x="7909089" y="1308459"/>
            <a:ext cx="1197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jackknife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C74BA0-17B1-E443-851D-93D19F17F7DD}"/>
              </a:ext>
            </a:extLst>
          </p:cNvPr>
          <p:cNvSpPr txBox="1"/>
          <p:nvPr/>
        </p:nvSpPr>
        <p:spPr>
          <a:xfrm>
            <a:off x="6838347" y="1693997"/>
            <a:ext cx="876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Tukey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05BBF-A86E-AE44-ABE1-7F22B909C5F8}"/>
              </a:ext>
            </a:extLst>
          </p:cNvPr>
          <p:cNvSpPr txBox="1"/>
          <p:nvPr/>
        </p:nvSpPr>
        <p:spPr>
          <a:xfrm>
            <a:off x="6864522" y="3442833"/>
            <a:ext cx="876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Efron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E9998-5FF3-B548-A590-B8EA3CC7943D}"/>
              </a:ext>
            </a:extLst>
          </p:cNvPr>
          <p:cNvSpPr txBox="1"/>
          <p:nvPr/>
        </p:nvSpPr>
        <p:spPr>
          <a:xfrm>
            <a:off x="9516140" y="3803925"/>
            <a:ext cx="2544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Bootstrapping is very similar to </a:t>
            </a:r>
            <a:r>
              <a:rPr lang="en-US" b="1" dirty="0">
                <a:solidFill>
                  <a:srgbClr val="0070C0"/>
                </a:solidFill>
              </a:rPr>
              <a:t>Baron Munchausen's</a:t>
            </a:r>
            <a:r>
              <a:rPr lang="en-US" dirty="0">
                <a:solidFill>
                  <a:srgbClr val="FF0000"/>
                </a:solidFill>
              </a:rPr>
              <a:t> lifting  himself out of the mud by pulling by his own hair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78301AB-B61C-6142-AFFA-FB6273DDA150}"/>
              </a:ext>
            </a:extLst>
          </p:cNvPr>
          <p:cNvSpPr/>
          <p:nvPr/>
        </p:nvSpPr>
        <p:spPr>
          <a:xfrm rot="11954743">
            <a:off x="8167760" y="3618584"/>
            <a:ext cx="148773" cy="340000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Why the phrase &quot;pull your bootstraps&quot; is nonsense">
            <a:extLst>
              <a:ext uri="{FF2B5EF4-FFF2-40B4-BE49-F238E27FC236}">
                <a16:creationId xmlns:a16="http://schemas.microsoft.com/office/drawing/2014/main" id="{CBAE5846-AA4F-2040-B550-DAE3BA2BA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9284" y="2298034"/>
            <a:ext cx="1141462" cy="141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85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C9F387-FBE5-3D44-9B40-820D573B2B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911" y="1965882"/>
            <a:ext cx="4540567" cy="281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84F9D-C180-1B43-99F1-B243D8C3F929}"/>
              </a:ext>
            </a:extLst>
          </p:cNvPr>
          <p:cNvSpPr txBox="1"/>
          <p:nvPr/>
        </p:nvSpPr>
        <p:spPr>
          <a:xfrm>
            <a:off x="211842" y="655365"/>
            <a:ext cx="606619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standard deviation and standard error and  are NOT the same.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= Standard Mean Error = Standard Deviation</a:t>
            </a:r>
          </a:p>
          <a:p>
            <a:r>
              <a:rPr lang="en-US" b="1" dirty="0">
                <a:solidFill>
                  <a:srgbClr val="0070C0"/>
                </a:solidFill>
              </a:rPr>
              <a:t>SEM</a:t>
            </a:r>
            <a:r>
              <a:rPr lang="en-US" dirty="0"/>
              <a:t> = Standard Error of Mean = </a:t>
            </a:r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/ sqrt(n)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1534-4120-C942-81D5-B0662B9480A4}"/>
              </a:ext>
            </a:extLst>
          </p:cNvPr>
          <p:cNvSpPr txBox="1"/>
          <p:nvPr/>
        </p:nvSpPr>
        <p:spPr>
          <a:xfrm>
            <a:off x="211843" y="5510081"/>
            <a:ext cx="606619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Standard error is the error of the estimate of the mean. </a:t>
            </a:r>
          </a:p>
          <a:p>
            <a:r>
              <a:rPr lang="en-US" dirty="0"/>
              <a:t>So as the sample size grows, we can estimate the mean better and better. The error gets smaller proportionally to the square root of sample size 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4C0CA-87F1-9842-B937-53DB4EF2C78D}"/>
              </a:ext>
            </a:extLst>
          </p:cNvPr>
          <p:cNvSpPr txBox="1"/>
          <p:nvPr/>
        </p:nvSpPr>
        <p:spPr>
          <a:xfrm>
            <a:off x="6528967" y="655365"/>
            <a:ext cx="5451190" cy="5078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Several ways to calculate standard deviation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stats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([1, 2, 3])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 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3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2.0</a:t>
            </a:r>
          </a:p>
          <a:p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f"length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{N}, mean={mean:.4f}")  # 3, 2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 mean)**2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 + 0 + 1 = 2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 - 1             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se1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sqrt(2/2) = 1.0000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se2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stats has different functions for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std_err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std_dev</a:t>
            </a:r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se3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stats.sem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*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se4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stats.tstd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trimmed std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print(f"se1 = {se1:.5f}")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print(f"se2 = {se2:.5f}")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print(f"se3 = {se3:.5f}")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print(f"se4 = {se4:.5f}")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F4945-C0DC-9C9E-17B4-C4BDA3FD521F}"/>
              </a:ext>
            </a:extLst>
          </p:cNvPr>
          <p:cNvSpPr txBox="1"/>
          <p:nvPr/>
        </p:nvSpPr>
        <p:spPr>
          <a:xfrm>
            <a:off x="2" y="1610"/>
            <a:ext cx="2456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SME vs SEM</a:t>
            </a:r>
          </a:p>
        </p:txBody>
      </p:sp>
    </p:spTree>
    <p:extLst>
      <p:ext uri="{BB962C8B-B14F-4D97-AF65-F5344CB8AC3E}">
        <p14:creationId xmlns:p14="http://schemas.microsoft.com/office/powerpoint/2010/main" val="160847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B531CD-91CB-B449-AC6B-B8E8D0567AE3}"/>
              </a:ext>
            </a:extLst>
          </p:cNvPr>
          <p:cNvSpPr txBox="1"/>
          <p:nvPr/>
        </p:nvSpPr>
        <p:spPr>
          <a:xfrm>
            <a:off x="0" y="0"/>
            <a:ext cx="3529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Error of the mean</a:t>
            </a:r>
          </a:p>
        </p:txBody>
      </p:sp>
      <p:pic>
        <p:nvPicPr>
          <p:cNvPr id="1026" name="Picture 2" descr="Standard Error Calculator. you can use this Standard Error… | by Thelma R.  White | Medium">
            <a:extLst>
              <a:ext uri="{FF2B5EF4-FFF2-40B4-BE49-F238E27FC236}">
                <a16:creationId xmlns:a16="http://schemas.microsoft.com/office/drawing/2014/main" id="{9D7D50A9-956F-4845-8823-1033B7CB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9025" y="433176"/>
            <a:ext cx="381000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FE2259-D413-B348-98BD-F5E7DB5E4176}"/>
              </a:ext>
            </a:extLst>
          </p:cNvPr>
          <p:cNvSpPr txBox="1"/>
          <p:nvPr/>
        </p:nvSpPr>
        <p:spPr>
          <a:xfrm>
            <a:off x="115993" y="733281"/>
            <a:ext cx="47435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we have two samples A and B, </a:t>
            </a:r>
          </a:p>
          <a:p>
            <a:r>
              <a:rPr lang="en-US" dirty="0"/>
              <a:t>each with "n" points (n &gt; 100) and "normal" distribution with the same sample standard deviation "s".</a:t>
            </a:r>
          </a:p>
          <a:p>
            <a:endParaRPr lang="en-US" dirty="0"/>
          </a:p>
          <a:p>
            <a:r>
              <a:rPr lang="en-US" dirty="0"/>
              <a:t>The mean values are </a:t>
            </a:r>
            <a:r>
              <a:rPr lang="en-US" b="1" dirty="0">
                <a:solidFill>
                  <a:srgbClr val="00B0F0"/>
                </a:solidFill>
              </a:rPr>
              <a:t>m</a:t>
            </a:r>
            <a:r>
              <a:rPr lang="en-US" b="1" baseline="-25000" dirty="0">
                <a:solidFill>
                  <a:srgbClr val="00B0F0"/>
                </a:solidFill>
              </a:rPr>
              <a:t>A</a:t>
            </a:r>
            <a:r>
              <a:rPr lang="en-US" dirty="0"/>
              <a:t> and </a:t>
            </a:r>
            <a:r>
              <a:rPr lang="en-US" b="1" dirty="0" err="1">
                <a:solidFill>
                  <a:srgbClr val="00B0F0"/>
                </a:solidFill>
              </a:rPr>
              <a:t>m</a:t>
            </a:r>
            <a:r>
              <a:rPr lang="en-US" b="1" baseline="-25000" dirty="0" err="1">
                <a:solidFill>
                  <a:srgbClr val="00B0F0"/>
                </a:solidFill>
              </a:rPr>
              <a:t>B</a:t>
            </a:r>
            <a:endParaRPr lang="en-US" b="1" baseline="-25000" dirty="0">
              <a:solidFill>
                <a:srgbClr val="00B0F0"/>
              </a:solidFill>
            </a:endParaRPr>
          </a:p>
          <a:p>
            <a:endParaRPr lang="en-US" dirty="0"/>
          </a:p>
          <a:p>
            <a:r>
              <a:rPr lang="en-US" dirty="0"/>
              <a:t>The standard error of the mean </a:t>
            </a:r>
          </a:p>
          <a:p>
            <a:endParaRPr lang="en-US" dirty="0"/>
          </a:p>
          <a:p>
            <a:r>
              <a:rPr lang="en-US" dirty="0" err="1"/>
              <a:t>        </a:t>
            </a:r>
            <a:r>
              <a:rPr lang="en-US" b="1" dirty="0" err="1">
                <a:solidFill>
                  <a:srgbClr val="00B0F0"/>
                </a:solidFill>
              </a:rPr>
              <a:t>sem</a:t>
            </a:r>
            <a:r>
              <a:rPr lang="en-US" b="1" dirty="0">
                <a:solidFill>
                  <a:srgbClr val="00B0F0"/>
                </a:solidFill>
              </a:rPr>
              <a:t> = s/sqrt(n)</a:t>
            </a:r>
          </a:p>
          <a:p>
            <a:endParaRPr lang="en-US" dirty="0"/>
          </a:p>
          <a:p>
            <a:r>
              <a:rPr lang="en-US" dirty="0"/>
              <a:t>Question – how big should be number </a:t>
            </a:r>
            <a:r>
              <a:rPr lang="en-US" b="1" dirty="0">
                <a:solidFill>
                  <a:srgbClr val="00B050"/>
                </a:solidFill>
              </a:rPr>
              <a:t>"n"</a:t>
            </a:r>
            <a:r>
              <a:rPr lang="en-US" dirty="0"/>
              <a:t> of points</a:t>
            </a:r>
          </a:p>
          <a:p>
            <a:r>
              <a:rPr lang="en-US" dirty="0"/>
              <a:t>so that we can say that </a:t>
            </a:r>
            <a:r>
              <a:rPr lang="en-US" b="1" dirty="0">
                <a:solidFill>
                  <a:srgbClr val="00B050"/>
                </a:solidFill>
              </a:rPr>
              <a:t>the means differ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We can demand that </a:t>
            </a:r>
            <a:r>
              <a:rPr lang="en-US" b="1" dirty="0">
                <a:solidFill>
                  <a:srgbClr val="00B0F0"/>
                </a:solidFill>
              </a:rPr>
              <a:t>"sem"</a:t>
            </a:r>
            <a:r>
              <a:rPr lang="en-US" dirty="0"/>
              <a:t> should become </a:t>
            </a:r>
            <a:br>
              <a:rPr lang="en-US" dirty="0"/>
            </a:br>
            <a:r>
              <a:rPr lang="en-US" dirty="0"/>
              <a:t>so small that</a:t>
            </a:r>
          </a:p>
          <a:p>
            <a:endParaRPr lang="en-US" b="1" dirty="0"/>
          </a:p>
          <a:p>
            <a:r>
              <a:rPr lang="en-US" dirty="0" err="1"/>
              <a:t>        </a:t>
            </a:r>
            <a:r>
              <a:rPr lang="el-GR" b="1" dirty="0">
                <a:solidFill>
                  <a:srgbClr val="00B0F0"/>
                </a:solidFill>
              </a:rPr>
              <a:t>δ</a:t>
            </a:r>
            <a:r>
              <a:rPr lang="en-US" b="1" dirty="0">
                <a:solidFill>
                  <a:srgbClr val="00B0F0"/>
                </a:solidFill>
              </a:rPr>
              <a:t> = |m</a:t>
            </a:r>
            <a:r>
              <a:rPr lang="en-US" b="1" baseline="-25000" dirty="0">
                <a:solidFill>
                  <a:srgbClr val="00B0F0"/>
                </a:solidFill>
              </a:rPr>
              <a:t>A</a:t>
            </a:r>
            <a:r>
              <a:rPr lang="en-US" b="1" dirty="0">
                <a:solidFill>
                  <a:srgbClr val="00B0F0"/>
                </a:solidFill>
              </a:rPr>
              <a:t> - </a:t>
            </a:r>
            <a:r>
              <a:rPr lang="en-US" b="1" dirty="0" err="1">
                <a:solidFill>
                  <a:srgbClr val="00B0F0"/>
                </a:solidFill>
              </a:rPr>
              <a:t>m</a:t>
            </a:r>
            <a:r>
              <a:rPr lang="en-US" b="1" baseline="-25000" dirty="0" err="1">
                <a:solidFill>
                  <a:srgbClr val="00B0F0"/>
                </a:solidFill>
              </a:rPr>
              <a:t>B</a:t>
            </a:r>
            <a:r>
              <a:rPr lang="en-US" b="1" dirty="0">
                <a:solidFill>
                  <a:srgbClr val="00B0F0"/>
                </a:solidFill>
              </a:rPr>
              <a:t>|   &gt;=   4*</a:t>
            </a:r>
            <a:r>
              <a:rPr lang="en-US" b="1" dirty="0" err="1">
                <a:solidFill>
                  <a:srgbClr val="00B0F0"/>
                </a:solidFill>
              </a:rPr>
              <a:t>sem</a:t>
            </a:r>
            <a:r>
              <a:rPr lang="en-US" b="1" dirty="0">
                <a:solidFill>
                  <a:srgbClr val="00B0F0"/>
                </a:solidFill>
              </a:rPr>
              <a:t>  =  4s/sqrt(n)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r>
              <a:rPr lang="en-US" dirty="0" err="1"/>
              <a:t>        </a:t>
            </a:r>
            <a:r>
              <a:rPr lang="en-US" b="1" dirty="0">
                <a:solidFill>
                  <a:srgbClr val="00B0F0"/>
                </a:solidFill>
              </a:rPr>
              <a:t>n &gt;= 16s</a:t>
            </a:r>
            <a:r>
              <a:rPr lang="en-US" b="1" baseline="30000" dirty="0">
                <a:solidFill>
                  <a:srgbClr val="00B0F0"/>
                </a:solidFill>
              </a:rPr>
              <a:t>2</a:t>
            </a:r>
            <a:r>
              <a:rPr lang="en-US" b="1" dirty="0">
                <a:solidFill>
                  <a:srgbClr val="00B0F0"/>
                </a:solidFill>
              </a:rPr>
              <a:t>/</a:t>
            </a:r>
            <a:r>
              <a:rPr lang="el-GR" b="1" dirty="0">
                <a:solidFill>
                  <a:srgbClr val="00B0F0"/>
                </a:solidFill>
              </a:rPr>
              <a:t>δ</a:t>
            </a:r>
            <a:r>
              <a:rPr lang="en-US" b="1" baseline="30000" dirty="0">
                <a:solidFill>
                  <a:srgbClr val="00B0F0"/>
                </a:solidFill>
              </a:rPr>
              <a:t>2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F2B29D-2214-FE4C-B190-AD3AC3ACA5BC}"/>
              </a:ext>
            </a:extLst>
          </p:cNvPr>
          <p:cNvGrpSpPr/>
          <p:nvPr/>
        </p:nvGrpSpPr>
        <p:grpSpPr>
          <a:xfrm>
            <a:off x="5656605" y="3720377"/>
            <a:ext cx="2448817" cy="1458655"/>
            <a:chOff x="529389" y="4535701"/>
            <a:chExt cx="2448817" cy="145865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9894F7-85E1-FA42-989C-AB3BA9BE1FE8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0B9C3F-F4A9-7D4C-ADB2-9D091BB2DC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1D2DD2-90FA-2143-BA9F-54FC5BE044BE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4078CB-F8B3-D540-9B24-AC87E5FD8361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0CD50A-6481-7B45-ACBD-AA9F1714A205}"/>
              </a:ext>
            </a:extLst>
          </p:cNvPr>
          <p:cNvSpPr txBox="1"/>
          <p:nvPr/>
        </p:nvSpPr>
        <p:spPr>
          <a:xfrm>
            <a:off x="4683143" y="4917263"/>
            <a:ext cx="949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38075-2F24-A543-967A-97BA8A260259}"/>
              </a:ext>
            </a:extLst>
          </p:cNvPr>
          <p:cNvSpPr txBox="1"/>
          <p:nvPr/>
        </p:nvSpPr>
        <p:spPr>
          <a:xfrm>
            <a:off x="6308733" y="5778493"/>
            <a:ext cx="1276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2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21B67D6-B1DA-D04B-801F-0945046F59CE}"/>
              </a:ext>
            </a:extLst>
          </p:cNvPr>
          <p:cNvSpPr/>
          <p:nvPr/>
        </p:nvSpPr>
        <p:spPr>
          <a:xfrm rot="9442603">
            <a:off x="6738452" y="5295767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FB7EE3FC-D668-8A4B-89A3-C3E87EDE8295}"/>
              </a:ext>
            </a:extLst>
          </p:cNvPr>
          <p:cNvSpPr/>
          <p:nvPr/>
        </p:nvSpPr>
        <p:spPr>
          <a:xfrm rot="11812451">
            <a:off x="6985488" y="5287097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44D64-A743-1048-970B-E7F5E970E491}"/>
              </a:ext>
            </a:extLst>
          </p:cNvPr>
          <p:cNvSpPr txBox="1"/>
          <p:nvPr/>
        </p:nvSpPr>
        <p:spPr>
          <a:xfrm>
            <a:off x="6273720" y="3182903"/>
            <a:ext cx="146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A   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D421C6-CFA6-C09D-5CDF-25A09B48C07D}"/>
              </a:ext>
            </a:extLst>
          </p:cNvPr>
          <p:cNvSpPr/>
          <p:nvPr/>
        </p:nvSpPr>
        <p:spPr>
          <a:xfrm>
            <a:off x="4548923" y="2942378"/>
            <a:ext cx="4743546" cy="3625702"/>
          </a:xfrm>
          <a:prstGeom prst="ellipse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1131</Words>
  <Application>Microsoft Macintosh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310</cp:revision>
  <cp:lastPrinted>2020-09-21T17:22:59Z</cp:lastPrinted>
  <dcterms:modified xsi:type="dcterms:W3CDTF">2022-05-19T15:46:02Z</dcterms:modified>
</cp:coreProperties>
</file>