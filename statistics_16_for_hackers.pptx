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6"/>
  </p:notesMasterIdLst>
  <p:sldIdLst>
    <p:sldId id="310" r:id="rId2"/>
    <p:sldId id="311" r:id="rId3"/>
    <p:sldId id="314" r:id="rId4"/>
    <p:sldId id="313" r:id="rId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1618C5A-BF4F-44D7-ADB2-C5301EF81F8A}">
  <a:tblStyle styleId="{B1618C5A-BF4F-44D7-ADB2-C5301EF81F8A}"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453"/>
    <p:restoredTop sz="92227"/>
  </p:normalViewPr>
  <p:slideViewPr>
    <p:cSldViewPr snapToGrid="0" snapToObjects="1">
      <p:cViewPr varScale="1">
        <p:scale>
          <a:sx n="106" d="100"/>
          <a:sy n="106" d="100"/>
        </p:scale>
        <p:origin x="1088"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91425" rIns="91425" bIns="91425"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91425" rIns="91425" bIns="91425"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91425" rIns="91425" bIns="91425"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1</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9747892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3"/>
          <p:cNvSpPr txBox="1">
            <a:spLocks noGrp="1"/>
          </p:cNvSpPr>
          <p:nvPr>
            <p:ph type="title"/>
          </p:nvPr>
        </p:nvSpPr>
        <p:spPr>
          <a:xfrm>
            <a:off x="838200" y="365125"/>
            <a:ext cx="10515600" cy="1325563"/>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3" name="Google Shape;23;p3"/>
          <p:cNvSpPr txBox="1">
            <a:spLocks noGrp="1"/>
          </p:cNvSpPr>
          <p:nvPr>
            <p:ph type="body" idx="1"/>
          </p:nvPr>
        </p:nvSpPr>
        <p:spPr>
          <a:xfrm>
            <a:off x="838200" y="1825625"/>
            <a:ext cx="10515600" cy="4351338"/>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4" name="Google Shape;24;p3"/>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5" name="Google Shape;25;p3"/>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6" name="Google Shape;26;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4"/>
        <p:cNvGrpSpPr/>
        <p:nvPr/>
      </p:nvGrpSpPr>
      <p:grpSpPr>
        <a:xfrm>
          <a:off x="0" y="0"/>
          <a:ext cx="0" cy="0"/>
          <a:chOff x="0" y="0"/>
          <a:chExt cx="0" cy="0"/>
        </a:xfrm>
      </p:grpSpPr>
      <p:sp>
        <p:nvSpPr>
          <p:cNvPr id="35" name="Google Shape;35;p5"/>
          <p:cNvSpPr txBox="1">
            <a:spLocks noGrp="1"/>
          </p:cNvSpPr>
          <p:nvPr>
            <p:ph type="title"/>
          </p:nvPr>
        </p:nvSpPr>
        <p:spPr>
          <a:xfrm>
            <a:off x="831850" y="1709738"/>
            <a:ext cx="10515600" cy="2852737"/>
          </a:xfrm>
          <a:prstGeom prst="rect">
            <a:avLst/>
          </a:prstGeom>
          <a:noFill/>
          <a:ln>
            <a:noFill/>
          </a:ln>
        </p:spPr>
        <p:txBody>
          <a:bodyPr spcFirstLastPara="1" wrap="square" lIns="91425" tIns="91425" rIns="91425" bIns="91425" anchor="b" anchorCtr="0">
            <a:noAutofit/>
          </a:bodyPr>
          <a:lstStyle>
            <a:lvl1pPr marR="0" lvl="0" algn="l" rtl="0">
              <a:lnSpc>
                <a:spcPct val="90000"/>
              </a:lnSpc>
              <a:spcBef>
                <a:spcPts val="0"/>
              </a:spcBef>
              <a:spcAft>
                <a:spcPts val="0"/>
              </a:spcAft>
              <a:buClr>
                <a:schemeClr val="dk1"/>
              </a:buClr>
              <a:buSzPts val="6000"/>
              <a:buFont typeface="Calibri"/>
              <a:buNone/>
              <a:defRPr sz="60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6" name="Google Shape;36;p5"/>
          <p:cNvSpPr txBox="1">
            <a:spLocks noGrp="1"/>
          </p:cNvSpPr>
          <p:nvPr>
            <p:ph type="body" idx="1"/>
          </p:nvPr>
        </p:nvSpPr>
        <p:spPr>
          <a:xfrm>
            <a:off x="831850" y="4589463"/>
            <a:ext cx="10515600" cy="1500187"/>
          </a:xfrm>
          <a:prstGeom prst="rect">
            <a:avLst/>
          </a:prstGeom>
          <a:noFill/>
          <a:ln>
            <a:noFill/>
          </a:ln>
        </p:spPr>
        <p:txBody>
          <a:bodyPr spcFirstLastPara="1" wrap="square" lIns="91425" tIns="91425" rIns="91425" bIns="91425" anchor="t" anchorCtr="0">
            <a:noAutofit/>
          </a:bodyPr>
          <a:lstStyle>
            <a:lvl1pPr marL="457200" marR="0" lvl="0" indent="-228600" algn="l" rtl="0">
              <a:lnSpc>
                <a:spcPct val="90000"/>
              </a:lnSpc>
              <a:spcBef>
                <a:spcPts val="1000"/>
              </a:spcBef>
              <a:spcAft>
                <a:spcPts val="0"/>
              </a:spcAft>
              <a:buClr>
                <a:srgbClr val="888888"/>
              </a:buClr>
              <a:buSzPts val="2400"/>
              <a:buFont typeface="Arial"/>
              <a:buNone/>
              <a:defRPr sz="2400" b="0" i="0" u="none" strike="noStrike" cap="none">
                <a:solidFill>
                  <a:srgbClr val="888888"/>
                </a:solidFill>
                <a:latin typeface="Calibri"/>
                <a:ea typeface="Calibri"/>
                <a:cs typeface="Calibri"/>
                <a:sym typeface="Calibri"/>
              </a:defRPr>
            </a:lvl1pPr>
            <a:lvl2pPr marL="914400" marR="0" lvl="1" indent="-228600" algn="l" rtl="0">
              <a:lnSpc>
                <a:spcPct val="90000"/>
              </a:lnSpc>
              <a:spcBef>
                <a:spcPts val="5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2pPr>
            <a:lvl3pPr marL="1371600" marR="0" lvl="2" indent="-228600" algn="l" rtl="0">
              <a:lnSpc>
                <a:spcPct val="90000"/>
              </a:lnSpc>
              <a:spcBef>
                <a:spcPts val="50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3pPr>
            <a:lvl4pPr marL="1828800" marR="0" lvl="3"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4pPr>
            <a:lvl5pPr marL="2286000" marR="0" lvl="4"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5pPr>
            <a:lvl6pPr marL="2743200" marR="0" lvl="5"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6pPr>
            <a:lvl7pPr marL="3200400" marR="0" lvl="6"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7pPr>
            <a:lvl8pPr marL="3657600" marR="0" lvl="7"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8pPr>
            <a:lvl9pPr marL="4114800" marR="0" lvl="8"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9pPr>
          </a:lstStyle>
          <a:p>
            <a:endParaRPr/>
          </a:p>
        </p:txBody>
      </p:sp>
      <p:sp>
        <p:nvSpPr>
          <p:cNvPr id="37" name="Google Shape;37;p5"/>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8" name="Google Shape;38;p5"/>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9" name="Google Shape;39;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6"/>
          <p:cNvSpPr txBox="1">
            <a:spLocks noGrp="1"/>
          </p:cNvSpPr>
          <p:nvPr>
            <p:ph type="title"/>
          </p:nvPr>
        </p:nvSpPr>
        <p:spPr>
          <a:xfrm>
            <a:off x="839788" y="365125"/>
            <a:ext cx="10515600" cy="1325563"/>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42" name="Google Shape;42;p6"/>
          <p:cNvSpPr txBox="1">
            <a:spLocks noGrp="1"/>
          </p:cNvSpPr>
          <p:nvPr>
            <p:ph type="body" idx="1"/>
          </p:nvPr>
        </p:nvSpPr>
        <p:spPr>
          <a:xfrm>
            <a:off x="839788" y="1681163"/>
            <a:ext cx="5157787" cy="823912"/>
          </a:xfrm>
          <a:prstGeom prst="rect">
            <a:avLst/>
          </a:prstGeom>
          <a:noFill/>
          <a:ln>
            <a:noFill/>
          </a:ln>
        </p:spPr>
        <p:txBody>
          <a:bodyPr spcFirstLastPara="1" wrap="square" lIns="91425" tIns="91425" rIns="91425" bIns="91425" anchor="b" anchorCtr="0">
            <a:noAutofit/>
          </a:bodyPr>
          <a:lstStyle>
            <a:lvl1pPr marL="457200" marR="0" lvl="0" indent="-228600" algn="l" rtl="0">
              <a:lnSpc>
                <a:spcPct val="90000"/>
              </a:lnSpc>
              <a:spcBef>
                <a:spcPts val="100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43" name="Google Shape;43;p6"/>
          <p:cNvSpPr txBox="1">
            <a:spLocks noGrp="1"/>
          </p:cNvSpPr>
          <p:nvPr>
            <p:ph type="body" idx="2"/>
          </p:nvPr>
        </p:nvSpPr>
        <p:spPr>
          <a:xfrm>
            <a:off x="839788" y="2505075"/>
            <a:ext cx="5157787" cy="3684588"/>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4" name="Google Shape;44;p6"/>
          <p:cNvSpPr txBox="1">
            <a:spLocks noGrp="1"/>
          </p:cNvSpPr>
          <p:nvPr>
            <p:ph type="body" idx="3"/>
          </p:nvPr>
        </p:nvSpPr>
        <p:spPr>
          <a:xfrm>
            <a:off x="6172200" y="1681163"/>
            <a:ext cx="5183188" cy="823912"/>
          </a:xfrm>
          <a:prstGeom prst="rect">
            <a:avLst/>
          </a:prstGeom>
          <a:noFill/>
          <a:ln>
            <a:noFill/>
          </a:ln>
        </p:spPr>
        <p:txBody>
          <a:bodyPr spcFirstLastPara="1" wrap="square" lIns="91425" tIns="91425" rIns="91425" bIns="91425" anchor="b" anchorCtr="0">
            <a:noAutofit/>
          </a:bodyPr>
          <a:lstStyle>
            <a:lvl1pPr marL="457200" marR="0" lvl="0" indent="-228600" algn="l" rtl="0">
              <a:lnSpc>
                <a:spcPct val="90000"/>
              </a:lnSpc>
              <a:spcBef>
                <a:spcPts val="100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45" name="Google Shape;45;p6"/>
          <p:cNvSpPr txBox="1">
            <a:spLocks noGrp="1"/>
          </p:cNvSpPr>
          <p:nvPr>
            <p:ph type="body" idx="4"/>
          </p:nvPr>
        </p:nvSpPr>
        <p:spPr>
          <a:xfrm>
            <a:off x="6172200" y="2505075"/>
            <a:ext cx="5183188" cy="3684588"/>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6" name="Google Shape;46;p6"/>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7" name="Google Shape;47;p6"/>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8" name="Google Shape;48;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7"/>
          <p:cNvSpPr txBox="1">
            <a:spLocks noGrp="1"/>
          </p:cNvSpPr>
          <p:nvPr>
            <p:ph type="title"/>
          </p:nvPr>
        </p:nvSpPr>
        <p:spPr>
          <a:xfrm>
            <a:off x="838200" y="365125"/>
            <a:ext cx="10515600" cy="1325563"/>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1" name="Google Shape;51;p7"/>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2" name="Google Shape;52;p7"/>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3" name="Google Shape;53;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8"/>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6" name="Google Shape;56;p8"/>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7" name="Google Shape;57;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839788" y="457200"/>
            <a:ext cx="3932237" cy="1600200"/>
          </a:xfrm>
          <a:prstGeom prst="rect">
            <a:avLst/>
          </a:prstGeom>
          <a:noFill/>
          <a:ln>
            <a:noFill/>
          </a:ln>
        </p:spPr>
        <p:txBody>
          <a:bodyPr spcFirstLastPara="1" wrap="square" lIns="91425" tIns="91425" rIns="91425" bIns="91425" anchor="b" anchorCtr="0">
            <a:noAutofit/>
          </a:bodyPr>
          <a:lstStyle>
            <a:lvl1pPr marR="0" lvl="0" algn="l" rtl="0">
              <a:lnSpc>
                <a:spcPct val="9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0" name="Google Shape;60;p9"/>
          <p:cNvSpPr txBox="1">
            <a:spLocks noGrp="1"/>
          </p:cNvSpPr>
          <p:nvPr>
            <p:ph type="body" idx="1"/>
          </p:nvPr>
        </p:nvSpPr>
        <p:spPr>
          <a:xfrm>
            <a:off x="5183188" y="987425"/>
            <a:ext cx="6172200" cy="4873625"/>
          </a:xfrm>
          <a:prstGeom prst="rect">
            <a:avLst/>
          </a:prstGeom>
          <a:noFill/>
          <a:ln>
            <a:noFill/>
          </a:ln>
        </p:spPr>
        <p:txBody>
          <a:bodyPr spcFirstLastPara="1" wrap="square" lIns="91425" tIns="91425" rIns="91425" bIns="91425" anchor="t" anchorCtr="0">
            <a:noAutofit/>
          </a:bodyPr>
          <a:lstStyle>
            <a:lvl1pPr marL="457200" marR="0" lvl="0" indent="-431800" algn="l" rtl="0">
              <a:lnSpc>
                <a:spcPct val="90000"/>
              </a:lnSpc>
              <a:spcBef>
                <a:spcPts val="10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90000"/>
              </a:lnSpc>
              <a:spcBef>
                <a:spcPts val="5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61" name="Google Shape;61;p9"/>
          <p:cNvSpPr txBox="1">
            <a:spLocks noGrp="1"/>
          </p:cNvSpPr>
          <p:nvPr>
            <p:ph type="body" idx="2"/>
          </p:nvPr>
        </p:nvSpPr>
        <p:spPr>
          <a:xfrm>
            <a:off x="839788" y="2057400"/>
            <a:ext cx="3932237" cy="3811588"/>
          </a:xfrm>
          <a:prstGeom prst="rect">
            <a:avLst/>
          </a:prstGeom>
          <a:noFill/>
          <a:ln>
            <a:noFill/>
          </a:ln>
        </p:spPr>
        <p:txBody>
          <a:bodyPr spcFirstLastPara="1" wrap="square" lIns="91425" tIns="91425" rIns="91425" bIns="91425" anchor="t" anchorCtr="0">
            <a:noAutofit/>
          </a:bodyPr>
          <a:lstStyle>
            <a:lvl1pPr marL="457200" marR="0" lvl="0" indent="-228600" algn="l" rtl="0">
              <a:lnSpc>
                <a:spcPct val="90000"/>
              </a:lnSpc>
              <a:spcBef>
                <a:spcPts val="10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9pPr>
          </a:lstStyle>
          <a:p>
            <a:endParaRPr/>
          </a:p>
        </p:txBody>
      </p:sp>
      <p:sp>
        <p:nvSpPr>
          <p:cNvPr id="62" name="Google Shape;62;p9"/>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3" name="Google Shape;63;p9"/>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4" name="Google Shape;6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839788" y="457200"/>
            <a:ext cx="3932237" cy="1600200"/>
          </a:xfrm>
          <a:prstGeom prst="rect">
            <a:avLst/>
          </a:prstGeom>
          <a:noFill/>
          <a:ln>
            <a:noFill/>
          </a:ln>
        </p:spPr>
        <p:txBody>
          <a:bodyPr spcFirstLastPara="1" wrap="square" lIns="91425" tIns="91425" rIns="91425" bIns="91425" anchor="b" anchorCtr="0">
            <a:noAutofit/>
          </a:bodyPr>
          <a:lstStyle>
            <a:lvl1pPr marR="0" lvl="0" algn="l" rtl="0">
              <a:lnSpc>
                <a:spcPct val="9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7" name="Google Shape;67;p10"/>
          <p:cNvSpPr>
            <a:spLocks noGrp="1"/>
          </p:cNvSpPr>
          <p:nvPr>
            <p:ph type="pic" idx="2"/>
          </p:nvPr>
        </p:nvSpPr>
        <p:spPr>
          <a:xfrm>
            <a:off x="5183188" y="987425"/>
            <a:ext cx="6172200" cy="4873625"/>
          </a:xfrm>
          <a:prstGeom prst="rect">
            <a:avLst/>
          </a:prstGeom>
          <a:noFill/>
          <a:ln>
            <a:noFill/>
          </a:ln>
        </p:spPr>
        <p:txBody>
          <a:bodyPr spcFirstLastPara="1" wrap="square" lIns="91425" tIns="91425" rIns="91425" bIns="91425" anchor="t" anchorCtr="0">
            <a:noAutofit/>
          </a:bodyPr>
          <a:lstStyle>
            <a:lvl1pPr marR="0" lvl="0" algn="l" rtl="0">
              <a:lnSpc>
                <a:spcPct val="90000"/>
              </a:lnSpc>
              <a:spcBef>
                <a:spcPts val="100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800"/>
              <a:buFont typeface="Arial"/>
              <a:buNone/>
              <a:defRPr sz="28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68" name="Google Shape;68;p10"/>
          <p:cNvSpPr txBox="1">
            <a:spLocks noGrp="1"/>
          </p:cNvSpPr>
          <p:nvPr>
            <p:ph type="body" idx="1"/>
          </p:nvPr>
        </p:nvSpPr>
        <p:spPr>
          <a:xfrm>
            <a:off x="839788" y="2057400"/>
            <a:ext cx="3932237" cy="3811588"/>
          </a:xfrm>
          <a:prstGeom prst="rect">
            <a:avLst/>
          </a:prstGeom>
          <a:noFill/>
          <a:ln>
            <a:noFill/>
          </a:ln>
        </p:spPr>
        <p:txBody>
          <a:bodyPr spcFirstLastPara="1" wrap="square" lIns="91425" tIns="91425" rIns="91425" bIns="91425" anchor="t" anchorCtr="0">
            <a:noAutofit/>
          </a:bodyPr>
          <a:lstStyle>
            <a:lvl1pPr marL="457200" marR="0" lvl="0" indent="-228600" algn="l" rtl="0">
              <a:lnSpc>
                <a:spcPct val="90000"/>
              </a:lnSpc>
              <a:spcBef>
                <a:spcPts val="10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9pPr>
          </a:lstStyle>
          <a:p>
            <a:endParaRPr/>
          </a:p>
        </p:txBody>
      </p:sp>
      <p:sp>
        <p:nvSpPr>
          <p:cNvPr id="69" name="Google Shape;69;p10"/>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0" name="Google Shape;70;p10"/>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1" name="Google Shape;7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838200" y="365125"/>
            <a:ext cx="10515600" cy="1325563"/>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4" name="Google Shape;74;p1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75" name="Google Shape;75;p11"/>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6" name="Google Shape;76;p11"/>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7" name="Google Shape;77;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7133431" y="1956594"/>
            <a:ext cx="5811838" cy="2628900"/>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0" name="Google Shape;80;p1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1" name="Google Shape;81;p12"/>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2" name="Google Shape;82;p12"/>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3" name="Google Shape;8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3.jpeg"/><Relationship Id="rId13" Type="http://schemas.openxmlformats.org/officeDocument/2006/relationships/image" Target="../media/image8.jpeg"/><Relationship Id="rId3" Type="http://schemas.openxmlformats.org/officeDocument/2006/relationships/hyperlink" Target="https://www.youtube.com/watch?v=Iq9DzN6mvYA" TargetMode="External"/><Relationship Id="rId7" Type="http://schemas.openxmlformats.org/officeDocument/2006/relationships/image" Target="../media/image2.jpeg"/><Relationship Id="rId12" Type="http://schemas.openxmlformats.org/officeDocument/2006/relationships/image" Target="../media/image7.tiff"/><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1.png"/><Relationship Id="rId11" Type="http://schemas.openxmlformats.org/officeDocument/2006/relationships/image" Target="../media/image6.tiff"/><Relationship Id="rId5" Type="http://schemas.openxmlformats.org/officeDocument/2006/relationships/hyperlink" Target="https://github.com/CamDavidsonPilon/Probabilistic-Programming-and-Bayesian-Methods-for-Hackers" TargetMode="External"/><Relationship Id="rId10" Type="http://schemas.openxmlformats.org/officeDocument/2006/relationships/image" Target="../media/image5.tiff"/><Relationship Id="rId4" Type="http://schemas.openxmlformats.org/officeDocument/2006/relationships/hyperlink" Target="https://www.youtube.com/watch?v=TGGGDpb04Yc" TargetMode="External"/><Relationship Id="rId9" Type="http://schemas.openxmlformats.org/officeDocument/2006/relationships/image" Target="../media/image4.jpeg"/><Relationship Id="rId14" Type="http://schemas.openxmlformats.org/officeDocument/2006/relationships/image" Target="../media/image9.tif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11.tiff"/><Relationship Id="rId2" Type="http://schemas.openxmlformats.org/officeDocument/2006/relationships/image" Target="../media/image10.tiff"/><Relationship Id="rId1" Type="http://schemas.openxmlformats.org/officeDocument/2006/relationships/slideLayout" Target="../slideLayouts/slideLayout5.xml"/><Relationship Id="rId5" Type="http://schemas.openxmlformats.org/officeDocument/2006/relationships/image" Target="../media/image13.tiff"/><Relationship Id="rId4" Type="http://schemas.openxmlformats.org/officeDocument/2006/relationships/image" Target="../media/image12.tiff"/></Relationships>
</file>

<file path=ppt/slides/_rels/slide4.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4522214-AFB0-564D-BD12-807FFF240F75}"/>
              </a:ext>
            </a:extLst>
          </p:cNvPr>
          <p:cNvSpPr txBox="1"/>
          <p:nvPr/>
        </p:nvSpPr>
        <p:spPr>
          <a:xfrm>
            <a:off x="0" y="0"/>
            <a:ext cx="5510784" cy="523220"/>
          </a:xfrm>
          <a:prstGeom prst="rect">
            <a:avLst/>
          </a:prstGeom>
          <a:noFill/>
        </p:spPr>
        <p:txBody>
          <a:bodyPr wrap="square" rtlCol="0">
            <a:spAutoFit/>
          </a:bodyPr>
          <a:lstStyle/>
          <a:p>
            <a:r>
              <a:rPr lang="en-US" sz="2800" b="1" dirty="0"/>
              <a:t>Statistics for Hackers</a:t>
            </a:r>
          </a:p>
        </p:txBody>
      </p:sp>
      <p:sp>
        <p:nvSpPr>
          <p:cNvPr id="5" name="TextBox 4">
            <a:extLst>
              <a:ext uri="{FF2B5EF4-FFF2-40B4-BE49-F238E27FC236}">
                <a16:creationId xmlns:a16="http://schemas.microsoft.com/office/drawing/2014/main" id="{27AD4B69-569A-F246-A34E-1020E0FF5EF7}"/>
              </a:ext>
            </a:extLst>
          </p:cNvPr>
          <p:cNvSpPr txBox="1"/>
          <p:nvPr/>
        </p:nvSpPr>
        <p:spPr>
          <a:xfrm>
            <a:off x="3627042" y="602786"/>
            <a:ext cx="7144512" cy="6186309"/>
          </a:xfrm>
          <a:prstGeom prst="rect">
            <a:avLst/>
          </a:prstGeom>
          <a:noFill/>
        </p:spPr>
        <p:txBody>
          <a:bodyPr wrap="square" rtlCol="0">
            <a:spAutoFit/>
          </a:bodyPr>
          <a:lstStyle/>
          <a:p>
            <a:r>
              <a:rPr lang="en-US" sz="1200" dirty="0"/>
              <a:t>Excellent talk by  Jake </a:t>
            </a:r>
            <a:r>
              <a:rPr lang="en-US" sz="1200" dirty="0" err="1"/>
              <a:t>Vanderplas</a:t>
            </a:r>
            <a:r>
              <a:rPr lang="en-US" sz="1200" dirty="0"/>
              <a:t>, </a:t>
            </a:r>
            <a:r>
              <a:rPr lang="en-US" sz="1200" dirty="0" err="1"/>
              <a:t>PyCon</a:t>
            </a:r>
            <a:r>
              <a:rPr lang="en-US" sz="1200" dirty="0"/>
              <a:t> 2016</a:t>
            </a:r>
          </a:p>
          <a:p>
            <a:r>
              <a:rPr lang="en-US" sz="1200" dirty="0"/>
              <a:t> - </a:t>
            </a:r>
            <a:r>
              <a:rPr lang="en-US" sz="1200" dirty="0">
                <a:hlinkClick r:id="rId3"/>
              </a:rPr>
              <a:t>https://www.youtube.com/watch?v=Iq9DzN6mvYA</a:t>
            </a:r>
            <a:endParaRPr lang="en-US" sz="1200" dirty="0"/>
          </a:p>
          <a:p>
            <a:endParaRPr lang="en-US" sz="1200" dirty="0"/>
          </a:p>
          <a:p>
            <a:r>
              <a:rPr lang="en-US" sz="1800" b="1" dirty="0">
                <a:solidFill>
                  <a:srgbClr val="0070C0"/>
                </a:solidFill>
              </a:rPr>
              <a:t>Four Recipes for Hacking Statistics:</a:t>
            </a:r>
          </a:p>
          <a:p>
            <a:endParaRPr lang="en-US" sz="1200" dirty="0"/>
          </a:p>
          <a:p>
            <a:pPr marL="342900" indent="-342900">
              <a:buFont typeface="+mj-lt"/>
              <a:buAutoNum type="arabicPeriod"/>
            </a:pPr>
            <a:r>
              <a:rPr lang="en-US" sz="1200" b="1" dirty="0">
                <a:solidFill>
                  <a:srgbClr val="FF0000"/>
                </a:solidFill>
              </a:rPr>
              <a:t>Direct Simulation</a:t>
            </a:r>
            <a:r>
              <a:rPr lang="en-US" sz="1200" dirty="0"/>
              <a:t>. What is p-value of getting 22 heads of 30 coin tosses.</a:t>
            </a:r>
            <a:br>
              <a:rPr lang="en-US" sz="1200" dirty="0"/>
            </a:br>
            <a:r>
              <a:rPr lang="en-US" sz="1200" dirty="0"/>
              <a:t>Approach 1 – calculate Binomial distribution for N=30, and P-value for N=22.</a:t>
            </a:r>
            <a:br>
              <a:rPr lang="en-US" sz="1200" dirty="0"/>
            </a:br>
            <a:r>
              <a:rPr lang="en-US" sz="1200" dirty="0"/>
              <a:t>Approach 2 – Monte Carlo. Just write 5 lines of python code to run 1000 30-tosses experiments. Calculate percent of experiments with </a:t>
            </a:r>
            <a:r>
              <a:rPr lang="en-US" sz="1200" dirty="0" err="1"/>
              <a:t>N_heads</a:t>
            </a:r>
            <a:r>
              <a:rPr lang="en-US" sz="1200" dirty="0"/>
              <a:t> &gt;= 22. </a:t>
            </a:r>
          </a:p>
          <a:p>
            <a:pPr marL="342900" indent="-342900">
              <a:buFont typeface="+mj-lt"/>
              <a:buAutoNum type="arabicPeriod"/>
            </a:pPr>
            <a:r>
              <a:rPr lang="en-US" sz="1200" b="1" dirty="0">
                <a:solidFill>
                  <a:srgbClr val="FF0000"/>
                </a:solidFill>
              </a:rPr>
              <a:t>Shuffling</a:t>
            </a:r>
            <a:r>
              <a:rPr lang="en-US" sz="1200" dirty="0"/>
              <a:t>. We comparing two groups and see that their means differ. Is this difference statistically significant? To answer we use random experiments. In each experiment we simply shaffle values between groups, calculate means in both groups, calculate difference. We plot histogram of differences. This will give us distribution and P-values (confidence interval).</a:t>
            </a:r>
          </a:p>
          <a:p>
            <a:pPr marL="342900" indent="-342900">
              <a:buFont typeface="+mj-lt"/>
              <a:buAutoNum type="arabicPeriod"/>
            </a:pPr>
            <a:r>
              <a:rPr lang="en-US" sz="1200" b="1" dirty="0">
                <a:solidFill>
                  <a:srgbClr val="FF0000"/>
                </a:solidFill>
              </a:rPr>
              <a:t>Bootstrapping</a:t>
            </a:r>
            <a:r>
              <a:rPr lang="en-US" sz="1200" dirty="0"/>
              <a:t>. Sampling with replacement. We take a sample consisting of 20 values. Each value is selected independently and randomly. There may be repeats (this is why it is said "with replacement"). We calculate the mean value in the sample. We repeat this sampling experiment 10,000 times – and make a distribution of these means – which will give us a good idea about the mean and error. Another example, we have (</a:t>
            </a:r>
            <a:r>
              <a:rPr lang="en-US" sz="1200" dirty="0" err="1"/>
              <a:t>x,y</a:t>
            </a:r>
            <a:r>
              <a:rPr lang="en-US" sz="1200" dirty="0"/>
              <a:t>) points – and want to estimate the slope and intercept. We take 10,000 random samples of 20 – for each sample calculate slope and intercept – and then plot joint distribution of them.</a:t>
            </a:r>
          </a:p>
          <a:p>
            <a:pPr marL="342900" indent="-342900">
              <a:buFont typeface="+mj-lt"/>
              <a:buAutoNum type="arabicPeriod"/>
            </a:pPr>
            <a:r>
              <a:rPr lang="en-US" sz="1200" b="1" dirty="0">
                <a:solidFill>
                  <a:srgbClr val="FF0000"/>
                </a:solidFill>
              </a:rPr>
              <a:t>Cross Validation</a:t>
            </a:r>
            <a:r>
              <a:rPr lang="en-US" sz="1200" dirty="0"/>
              <a:t>. We fit points with polynomial models – linear, quadratic, etc. The more complex models always give smaller error. But they may overfit. If we split data in two or more folds, we can see which model generalize better between folds.</a:t>
            </a:r>
          </a:p>
          <a:p>
            <a:endParaRPr lang="en-US" sz="1200" dirty="0"/>
          </a:p>
          <a:p>
            <a:r>
              <a:rPr lang="en-US" sz="1200" dirty="0"/>
              <a:t>More info:</a:t>
            </a:r>
          </a:p>
          <a:p>
            <a:pPr marL="285750" indent="-285750">
              <a:buFont typeface="Arial" panose="020B0604020202020204" pitchFamily="34" charset="0"/>
              <a:buChar char="•"/>
            </a:pPr>
            <a:r>
              <a:rPr lang="en-US" sz="1200" dirty="0"/>
              <a:t>Chris </a:t>
            </a:r>
            <a:r>
              <a:rPr lang="en-US" sz="1200" dirty="0" err="1"/>
              <a:t>Fonnesbeck</a:t>
            </a:r>
            <a:r>
              <a:rPr lang="en-US" sz="1200" dirty="0"/>
              <a:t> - SciPy 2015 talk "Statistical Thinking for Data Science"</a:t>
            </a:r>
            <a:br>
              <a:rPr lang="en-US" sz="1200" dirty="0"/>
            </a:br>
            <a:r>
              <a:rPr lang="en-US" sz="1200" dirty="0"/>
              <a:t> - </a:t>
            </a:r>
            <a:r>
              <a:rPr lang="en-US" sz="1200" dirty="0">
                <a:hlinkClick r:id="rId4"/>
              </a:rPr>
              <a:t>https://www.youtube.com/watch?v=TGGGDpb04Yc</a:t>
            </a:r>
            <a:r>
              <a:rPr lang="ru-RU" sz="1200" dirty="0"/>
              <a:t> </a:t>
            </a:r>
            <a:endParaRPr lang="en-US" sz="1200" dirty="0"/>
          </a:p>
          <a:p>
            <a:pPr marL="285750" indent="-285750">
              <a:buFont typeface="Arial" panose="020B0604020202020204" pitchFamily="34" charset="0"/>
              <a:buChar char="•"/>
            </a:pPr>
            <a:r>
              <a:rPr lang="en-US" sz="1200" dirty="0"/>
              <a:t>book "Bayesian Methods for Hackers: Probabilistic Programming and Bayesian Inference" by Cameron Davidson-Pilon - </a:t>
            </a:r>
            <a:r>
              <a:rPr lang="en-US" sz="1200" dirty="0">
                <a:hlinkClick r:id="rId5"/>
              </a:rPr>
              <a:t>https://github.com/CamDavidsonPilon/Probabilistic-Programming-and-Bayesian-Methods-for-Hackers</a:t>
            </a:r>
            <a:r>
              <a:rPr lang="en-US" sz="1200" dirty="0"/>
              <a:t> </a:t>
            </a:r>
          </a:p>
          <a:p>
            <a:pPr marL="285750" indent="-285750">
              <a:buFont typeface="Arial" panose="020B0604020202020204" pitchFamily="34" charset="0"/>
              <a:buChar char="•"/>
            </a:pPr>
            <a:r>
              <a:rPr lang="en-US" sz="1200" dirty="0"/>
              <a:t>book "Statistics is Easy! (Synthesis Lectures on Mathematics and Statistics)" by Dennis </a:t>
            </a:r>
            <a:r>
              <a:rPr lang="en-US" sz="1200" dirty="0" err="1"/>
              <a:t>Shasha</a:t>
            </a:r>
            <a:r>
              <a:rPr lang="en-US" sz="1200" dirty="0"/>
              <a:t> &amp; Manda Wilson</a:t>
            </a:r>
          </a:p>
        </p:txBody>
      </p:sp>
      <p:pic>
        <p:nvPicPr>
          <p:cNvPr id="1026" name="Picture 2" descr="Christopher Fonnesbeck">
            <a:extLst>
              <a:ext uri="{FF2B5EF4-FFF2-40B4-BE49-F238E27FC236}">
                <a16:creationId xmlns:a16="http://schemas.microsoft.com/office/drawing/2014/main" id="{E34A263D-157C-DF47-821F-41485D7F2885}"/>
              </a:ext>
            </a:extLst>
          </p:cNvPr>
          <p:cNvPicPr>
            <a:picLocks noChangeAspect="1" noChangeArrowheads="1"/>
          </p:cNvPicPr>
          <p:nvPr/>
        </p:nvPicPr>
        <p:blipFill>
          <a:blip r:embed="rId6" cstate="email">
            <a:extLst>
              <a:ext uri="{28A0092B-C50C-407E-A947-70E740481C1C}">
                <a14:useLocalDpi xmlns:a14="http://schemas.microsoft.com/office/drawing/2010/main"/>
              </a:ext>
            </a:extLst>
          </a:blip>
          <a:srcRect/>
          <a:stretch>
            <a:fillRect/>
          </a:stretch>
        </p:blipFill>
        <p:spPr bwMode="auto">
          <a:xfrm>
            <a:off x="9305814" y="4960266"/>
            <a:ext cx="553703" cy="553703"/>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Jake Vanderplas - Python Interviews">
            <a:extLst>
              <a:ext uri="{FF2B5EF4-FFF2-40B4-BE49-F238E27FC236}">
                <a16:creationId xmlns:a16="http://schemas.microsoft.com/office/drawing/2014/main" id="{BA8285CE-B34D-CF48-A67F-4A43D1977698}"/>
              </a:ext>
            </a:extLst>
          </p:cNvPr>
          <p:cNvPicPr>
            <a:picLocks noChangeAspect="1" noChangeArrowheads="1"/>
          </p:cNvPicPr>
          <p:nvPr/>
        </p:nvPicPr>
        <p:blipFill rotWithShape="1">
          <a:blip r:embed="rId7" cstate="email">
            <a:extLst>
              <a:ext uri="{28A0092B-C50C-407E-A947-70E740481C1C}">
                <a14:useLocalDpi xmlns:a14="http://schemas.microsoft.com/office/drawing/2010/main"/>
              </a:ext>
            </a:extLst>
          </a:blip>
          <a:srcRect/>
          <a:stretch/>
        </p:blipFill>
        <p:spPr bwMode="auto">
          <a:xfrm>
            <a:off x="10784096" y="48768"/>
            <a:ext cx="1261510" cy="1499616"/>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7E7B0910-69CC-114E-BC15-F26688160E1C}"/>
              </a:ext>
            </a:extLst>
          </p:cNvPr>
          <p:cNvSpPr txBox="1"/>
          <p:nvPr/>
        </p:nvSpPr>
        <p:spPr>
          <a:xfrm>
            <a:off x="10661477" y="1548384"/>
            <a:ext cx="1530523" cy="307777"/>
          </a:xfrm>
          <a:prstGeom prst="rect">
            <a:avLst/>
          </a:prstGeom>
          <a:noFill/>
        </p:spPr>
        <p:txBody>
          <a:bodyPr wrap="square" rtlCol="0">
            <a:spAutoFit/>
          </a:bodyPr>
          <a:lstStyle/>
          <a:p>
            <a:r>
              <a:rPr lang="en-US" dirty="0"/>
              <a:t>Jake </a:t>
            </a:r>
            <a:r>
              <a:rPr lang="en-US" dirty="0" err="1"/>
              <a:t>Vanderplas</a:t>
            </a:r>
            <a:endParaRPr lang="en-US" dirty="0"/>
          </a:p>
        </p:txBody>
      </p:sp>
      <p:pic>
        <p:nvPicPr>
          <p:cNvPr id="1030" name="Picture 6" descr="Bayesian Methods for Hackers: Probabilistic Programming and Bayesian  Inference (Addison-Wesley Data &amp; Analytics): Davidson-Pilon, Cameron:  9780133902839: Amazon.com: Books">
            <a:extLst>
              <a:ext uri="{FF2B5EF4-FFF2-40B4-BE49-F238E27FC236}">
                <a16:creationId xmlns:a16="http://schemas.microsoft.com/office/drawing/2014/main" id="{87209003-E54E-D54B-B900-BBB21B78CC6D}"/>
              </a:ext>
            </a:extLst>
          </p:cNvPr>
          <p:cNvPicPr>
            <a:picLocks noChangeAspect="1" noChangeArrowheads="1"/>
          </p:cNvPicPr>
          <p:nvPr/>
        </p:nvPicPr>
        <p:blipFill>
          <a:blip r:embed="rId8" cstate="email">
            <a:extLst>
              <a:ext uri="{28A0092B-C50C-407E-A947-70E740481C1C}">
                <a14:useLocalDpi xmlns:a14="http://schemas.microsoft.com/office/drawing/2010/main"/>
              </a:ext>
            </a:extLst>
          </a:blip>
          <a:srcRect/>
          <a:stretch>
            <a:fillRect/>
          </a:stretch>
        </p:blipFill>
        <p:spPr bwMode="auto">
          <a:xfrm>
            <a:off x="11109709" y="3854850"/>
            <a:ext cx="1054181" cy="1382268"/>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Statistics is Easy! Second Edition (Synthesis Lectures on Mathematics and  Statistics): Shasha, Dennis, Wilson, Manda, Krantz, Steven G.:  9781608455706: Amazon.com: Books">
            <a:extLst>
              <a:ext uri="{FF2B5EF4-FFF2-40B4-BE49-F238E27FC236}">
                <a16:creationId xmlns:a16="http://schemas.microsoft.com/office/drawing/2014/main" id="{5371D94D-2E73-C84D-8B4A-9DBF095CF284}"/>
              </a:ext>
            </a:extLst>
          </p:cNvPr>
          <p:cNvPicPr>
            <a:picLocks noChangeAspect="1" noChangeArrowheads="1"/>
          </p:cNvPicPr>
          <p:nvPr/>
        </p:nvPicPr>
        <p:blipFill>
          <a:blip r:embed="rId9" cstate="email">
            <a:extLst>
              <a:ext uri="{28A0092B-C50C-407E-A947-70E740481C1C}">
                <a14:useLocalDpi xmlns:a14="http://schemas.microsoft.com/office/drawing/2010/main"/>
              </a:ext>
            </a:extLst>
          </a:blip>
          <a:srcRect/>
          <a:stretch>
            <a:fillRect/>
          </a:stretch>
        </p:blipFill>
        <p:spPr bwMode="auto">
          <a:xfrm>
            <a:off x="11040797" y="5420852"/>
            <a:ext cx="1123093" cy="1382268"/>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9508C2CC-DB56-5744-A08C-FC63084F4362}"/>
              </a:ext>
            </a:extLst>
          </p:cNvPr>
          <p:cNvPicPr>
            <a:picLocks noChangeAspect="1"/>
          </p:cNvPicPr>
          <p:nvPr/>
        </p:nvPicPr>
        <p:blipFill>
          <a:blip r:embed="rId10" cstate="email">
            <a:extLst>
              <a:ext uri="{28A0092B-C50C-407E-A947-70E740481C1C}">
                <a14:useLocalDpi xmlns:a14="http://schemas.microsoft.com/office/drawing/2010/main"/>
              </a:ext>
            </a:extLst>
          </a:blip>
          <a:stretch>
            <a:fillRect/>
          </a:stretch>
        </p:blipFill>
        <p:spPr>
          <a:xfrm>
            <a:off x="138349" y="4705913"/>
            <a:ext cx="3219450" cy="1525683"/>
          </a:xfrm>
          <a:prstGeom prst="rect">
            <a:avLst/>
          </a:prstGeom>
        </p:spPr>
      </p:pic>
      <p:sp>
        <p:nvSpPr>
          <p:cNvPr id="6" name="TextBox 5">
            <a:extLst>
              <a:ext uri="{FF2B5EF4-FFF2-40B4-BE49-F238E27FC236}">
                <a16:creationId xmlns:a16="http://schemas.microsoft.com/office/drawing/2014/main" id="{ACA20E3D-5B6E-5E4C-A609-2502C613F9FC}"/>
              </a:ext>
            </a:extLst>
          </p:cNvPr>
          <p:cNvSpPr txBox="1"/>
          <p:nvPr/>
        </p:nvSpPr>
        <p:spPr>
          <a:xfrm>
            <a:off x="1912061" y="895617"/>
            <a:ext cx="1017618" cy="523220"/>
          </a:xfrm>
          <a:prstGeom prst="rect">
            <a:avLst/>
          </a:prstGeom>
          <a:noFill/>
        </p:spPr>
        <p:txBody>
          <a:bodyPr wrap="square" rtlCol="0">
            <a:spAutoFit/>
          </a:bodyPr>
          <a:lstStyle/>
          <a:p>
            <a:pPr algn="ctr"/>
            <a:r>
              <a:rPr lang="en-US" b="1" dirty="0">
                <a:solidFill>
                  <a:srgbClr val="FF0000"/>
                </a:solidFill>
              </a:rPr>
              <a:t>Shuffling:</a:t>
            </a:r>
          </a:p>
          <a:p>
            <a:pPr algn="ctr"/>
            <a:r>
              <a:rPr lang="en-US" b="1" dirty="0">
                <a:solidFill>
                  <a:srgbClr val="FF0000"/>
                </a:solidFill>
              </a:rPr>
              <a:t>A       B</a:t>
            </a:r>
          </a:p>
        </p:txBody>
      </p:sp>
      <p:pic>
        <p:nvPicPr>
          <p:cNvPr id="9" name="Picture 8">
            <a:extLst>
              <a:ext uri="{FF2B5EF4-FFF2-40B4-BE49-F238E27FC236}">
                <a16:creationId xmlns:a16="http://schemas.microsoft.com/office/drawing/2014/main" id="{FE90A836-48F3-4C45-BA47-2586686D952C}"/>
              </a:ext>
            </a:extLst>
          </p:cNvPr>
          <p:cNvPicPr>
            <a:picLocks noChangeAspect="1"/>
          </p:cNvPicPr>
          <p:nvPr/>
        </p:nvPicPr>
        <p:blipFill>
          <a:blip r:embed="rId11" cstate="email">
            <a:extLst>
              <a:ext uri="{28A0092B-C50C-407E-A947-70E740481C1C}">
                <a14:useLocalDpi xmlns:a14="http://schemas.microsoft.com/office/drawing/2010/main"/>
              </a:ext>
            </a:extLst>
          </a:blip>
          <a:stretch>
            <a:fillRect/>
          </a:stretch>
        </p:blipFill>
        <p:spPr>
          <a:xfrm>
            <a:off x="1848251" y="1399953"/>
            <a:ext cx="1145238" cy="1382730"/>
          </a:xfrm>
          <a:prstGeom prst="rect">
            <a:avLst/>
          </a:prstGeom>
        </p:spPr>
      </p:pic>
      <p:sp>
        <p:nvSpPr>
          <p:cNvPr id="14" name="TextBox 13">
            <a:extLst>
              <a:ext uri="{FF2B5EF4-FFF2-40B4-BE49-F238E27FC236}">
                <a16:creationId xmlns:a16="http://schemas.microsoft.com/office/drawing/2014/main" id="{6EA0B4F3-30F2-8E4F-8D6F-37E7195036FE}"/>
              </a:ext>
            </a:extLst>
          </p:cNvPr>
          <p:cNvSpPr txBox="1"/>
          <p:nvPr/>
        </p:nvSpPr>
        <p:spPr>
          <a:xfrm>
            <a:off x="984504" y="2988005"/>
            <a:ext cx="1608582" cy="307777"/>
          </a:xfrm>
          <a:prstGeom prst="rect">
            <a:avLst/>
          </a:prstGeom>
          <a:noFill/>
        </p:spPr>
        <p:txBody>
          <a:bodyPr wrap="square" rtlCol="0">
            <a:spAutoFit/>
          </a:bodyPr>
          <a:lstStyle/>
          <a:p>
            <a:r>
              <a:rPr lang="en-US" b="1" dirty="0">
                <a:solidFill>
                  <a:srgbClr val="FF0000"/>
                </a:solidFill>
              </a:rPr>
              <a:t>Cross Validation</a:t>
            </a:r>
          </a:p>
        </p:txBody>
      </p:sp>
      <p:pic>
        <p:nvPicPr>
          <p:cNvPr id="10" name="Picture 9">
            <a:extLst>
              <a:ext uri="{FF2B5EF4-FFF2-40B4-BE49-F238E27FC236}">
                <a16:creationId xmlns:a16="http://schemas.microsoft.com/office/drawing/2014/main" id="{8B3E9F60-1A2D-9141-B12D-851942D84974}"/>
              </a:ext>
            </a:extLst>
          </p:cNvPr>
          <p:cNvPicPr>
            <a:picLocks noChangeAspect="1"/>
          </p:cNvPicPr>
          <p:nvPr/>
        </p:nvPicPr>
        <p:blipFill>
          <a:blip r:embed="rId12" cstate="email">
            <a:extLst>
              <a:ext uri="{28A0092B-C50C-407E-A947-70E740481C1C}">
                <a14:useLocalDpi xmlns:a14="http://schemas.microsoft.com/office/drawing/2010/main"/>
              </a:ext>
            </a:extLst>
          </a:blip>
          <a:stretch>
            <a:fillRect/>
          </a:stretch>
        </p:blipFill>
        <p:spPr>
          <a:xfrm>
            <a:off x="400563" y="3333273"/>
            <a:ext cx="2692735" cy="1278310"/>
          </a:xfrm>
          <a:prstGeom prst="rect">
            <a:avLst/>
          </a:prstGeom>
        </p:spPr>
      </p:pic>
      <p:pic>
        <p:nvPicPr>
          <p:cNvPr id="11" name="Picture 10">
            <a:extLst>
              <a:ext uri="{FF2B5EF4-FFF2-40B4-BE49-F238E27FC236}">
                <a16:creationId xmlns:a16="http://schemas.microsoft.com/office/drawing/2014/main" id="{BBEF31FB-E595-D744-B92B-3BFB779CE0F9}"/>
              </a:ext>
            </a:extLst>
          </p:cNvPr>
          <p:cNvPicPr>
            <a:picLocks noChangeAspect="1"/>
          </p:cNvPicPr>
          <p:nvPr/>
        </p:nvPicPr>
        <p:blipFill>
          <a:blip r:embed="rId13" cstate="email">
            <a:extLst>
              <a:ext uri="{28A0092B-C50C-407E-A947-70E740481C1C}">
                <a14:useLocalDpi xmlns:a14="http://schemas.microsoft.com/office/drawing/2010/main"/>
              </a:ext>
            </a:extLst>
          </a:blip>
          <a:stretch>
            <a:fillRect/>
          </a:stretch>
        </p:blipFill>
        <p:spPr>
          <a:xfrm>
            <a:off x="10918782" y="2795556"/>
            <a:ext cx="1231893" cy="875560"/>
          </a:xfrm>
          <a:prstGeom prst="rect">
            <a:avLst/>
          </a:prstGeom>
        </p:spPr>
      </p:pic>
      <p:pic>
        <p:nvPicPr>
          <p:cNvPr id="8" name="Picture 7">
            <a:extLst>
              <a:ext uri="{FF2B5EF4-FFF2-40B4-BE49-F238E27FC236}">
                <a16:creationId xmlns:a16="http://schemas.microsoft.com/office/drawing/2014/main" id="{375B171D-A4E0-AF48-9CC3-578F5FA38694}"/>
              </a:ext>
            </a:extLst>
          </p:cNvPr>
          <p:cNvPicPr>
            <a:picLocks noChangeAspect="1"/>
          </p:cNvPicPr>
          <p:nvPr/>
        </p:nvPicPr>
        <p:blipFill>
          <a:blip r:embed="rId14" cstate="email">
            <a:extLst>
              <a:ext uri="{28A0092B-C50C-407E-A947-70E740481C1C}">
                <a14:useLocalDpi xmlns:a14="http://schemas.microsoft.com/office/drawing/2010/main"/>
              </a:ext>
            </a:extLst>
          </a:blip>
          <a:stretch>
            <a:fillRect/>
          </a:stretch>
        </p:blipFill>
        <p:spPr>
          <a:xfrm>
            <a:off x="386727" y="1398909"/>
            <a:ext cx="1152098" cy="1396647"/>
          </a:xfrm>
          <a:prstGeom prst="rect">
            <a:avLst/>
          </a:prstGeom>
        </p:spPr>
      </p:pic>
      <p:sp>
        <p:nvSpPr>
          <p:cNvPr id="17" name="TextBox 16">
            <a:extLst>
              <a:ext uri="{FF2B5EF4-FFF2-40B4-BE49-F238E27FC236}">
                <a16:creationId xmlns:a16="http://schemas.microsoft.com/office/drawing/2014/main" id="{371FAA65-8718-2146-B750-DD7A6343067C}"/>
              </a:ext>
            </a:extLst>
          </p:cNvPr>
          <p:cNvSpPr txBox="1"/>
          <p:nvPr/>
        </p:nvSpPr>
        <p:spPr>
          <a:xfrm>
            <a:off x="361202" y="904699"/>
            <a:ext cx="1220177" cy="523220"/>
          </a:xfrm>
          <a:prstGeom prst="rect">
            <a:avLst/>
          </a:prstGeom>
          <a:noFill/>
        </p:spPr>
        <p:txBody>
          <a:bodyPr wrap="square" rtlCol="0">
            <a:spAutoFit/>
          </a:bodyPr>
          <a:lstStyle/>
          <a:p>
            <a:pPr algn="ctr"/>
            <a:r>
              <a:rPr lang="en-US" b="1" dirty="0">
                <a:solidFill>
                  <a:srgbClr val="FF0000"/>
                </a:solidFill>
              </a:rPr>
              <a:t>Means:</a:t>
            </a:r>
          </a:p>
          <a:p>
            <a:pPr algn="ctr"/>
            <a:r>
              <a:rPr lang="en-US" b="1" dirty="0">
                <a:solidFill>
                  <a:srgbClr val="FF0000"/>
                </a:solidFill>
              </a:rPr>
              <a:t>73.5   66.9</a:t>
            </a:r>
          </a:p>
        </p:txBody>
      </p:sp>
    </p:spTree>
    <p:extLst>
      <p:ext uri="{BB962C8B-B14F-4D97-AF65-F5344CB8AC3E}">
        <p14:creationId xmlns:p14="http://schemas.microsoft.com/office/powerpoint/2010/main" val="21798081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FF755FE-9EC5-2243-8B9B-E4A9E7CEC3D9}"/>
              </a:ext>
            </a:extLst>
          </p:cNvPr>
          <p:cNvSpPr txBox="1"/>
          <p:nvPr/>
        </p:nvSpPr>
        <p:spPr>
          <a:xfrm>
            <a:off x="0" y="0"/>
            <a:ext cx="7656576" cy="523220"/>
          </a:xfrm>
          <a:prstGeom prst="rect">
            <a:avLst/>
          </a:prstGeom>
          <a:noFill/>
        </p:spPr>
        <p:txBody>
          <a:bodyPr wrap="square" rtlCol="0">
            <a:spAutoFit/>
          </a:bodyPr>
          <a:lstStyle/>
          <a:p>
            <a:r>
              <a:rPr lang="en-US" sz="2800" b="1" dirty="0"/>
              <a:t>Example – direct simulation to find P-value</a:t>
            </a:r>
          </a:p>
        </p:txBody>
      </p:sp>
      <p:sp>
        <p:nvSpPr>
          <p:cNvPr id="3" name="TextBox 2">
            <a:extLst>
              <a:ext uri="{FF2B5EF4-FFF2-40B4-BE49-F238E27FC236}">
                <a16:creationId xmlns:a16="http://schemas.microsoft.com/office/drawing/2014/main" id="{B4214305-FB5A-AA42-89E0-5393ADEB579E}"/>
              </a:ext>
            </a:extLst>
          </p:cNvPr>
          <p:cNvSpPr txBox="1"/>
          <p:nvPr/>
        </p:nvSpPr>
        <p:spPr>
          <a:xfrm>
            <a:off x="1368097" y="2274838"/>
            <a:ext cx="7367530" cy="2585323"/>
          </a:xfrm>
          <a:prstGeom prst="rect">
            <a:avLst/>
          </a:prstGeom>
          <a:noFill/>
        </p:spPr>
        <p:txBody>
          <a:bodyPr wrap="square" rtlCol="0">
            <a:spAutoFit/>
          </a:bodyPr>
          <a:lstStyle/>
          <a:p>
            <a:r>
              <a:rPr lang="en-US" sz="1800" dirty="0">
                <a:solidFill>
                  <a:srgbClr val="0070C0"/>
                </a:solidFill>
                <a:latin typeface="Menlo" panose="020B0609030804020204" pitchFamily="49" charset="0"/>
                <a:ea typeface="Menlo" panose="020B0609030804020204" pitchFamily="49" charset="0"/>
                <a:cs typeface="Menlo" panose="020B0609030804020204" pitchFamily="49" charset="0"/>
              </a:rPr>
              <a:t>counter = 0</a:t>
            </a:r>
          </a:p>
          <a:p>
            <a:r>
              <a:rPr lang="en-US" sz="1800" dirty="0">
                <a:solidFill>
                  <a:srgbClr val="0070C0"/>
                </a:solidFill>
                <a:latin typeface="Menlo" panose="020B0609030804020204" pitchFamily="49" charset="0"/>
                <a:ea typeface="Menlo" panose="020B0609030804020204" pitchFamily="49" charset="0"/>
                <a:cs typeface="Menlo" panose="020B0609030804020204" pitchFamily="49" charset="0"/>
              </a:rPr>
              <a:t>N = 10000</a:t>
            </a:r>
          </a:p>
          <a:p>
            <a:r>
              <a:rPr lang="en-US" sz="1800" dirty="0">
                <a:solidFill>
                  <a:srgbClr val="0070C0"/>
                </a:solidFill>
                <a:latin typeface="Menlo" panose="020B0609030804020204" pitchFamily="49" charset="0"/>
                <a:ea typeface="Menlo" panose="020B0609030804020204" pitchFamily="49" charset="0"/>
                <a:cs typeface="Menlo" panose="020B0609030804020204" pitchFamily="49" charset="0"/>
              </a:rPr>
              <a:t>for ii in range(N):</a:t>
            </a:r>
          </a:p>
          <a:p>
            <a:r>
              <a:rPr lang="en-US" sz="1800" dirty="0">
                <a:solidFill>
                  <a:srgbClr val="0070C0"/>
                </a:solidFill>
                <a:latin typeface="Menlo" panose="020B0609030804020204" pitchFamily="49" charset="0"/>
                <a:ea typeface="Menlo" panose="020B0609030804020204" pitchFamily="49" charset="0"/>
                <a:cs typeface="Menlo" panose="020B0609030804020204" pitchFamily="49" charset="0"/>
              </a:rPr>
              <a:t>    trials = </a:t>
            </a:r>
            <a:r>
              <a:rPr lang="en-US" sz="1800" dirty="0" err="1">
                <a:solidFill>
                  <a:srgbClr val="0070C0"/>
                </a:solidFill>
                <a:latin typeface="Menlo" panose="020B0609030804020204" pitchFamily="49" charset="0"/>
                <a:ea typeface="Menlo" panose="020B0609030804020204" pitchFamily="49" charset="0"/>
                <a:cs typeface="Menlo" panose="020B0609030804020204" pitchFamily="49" charset="0"/>
              </a:rPr>
              <a:t>randint</a:t>
            </a:r>
            <a:r>
              <a:rPr lang="en-US" sz="1800" dirty="0">
                <a:solidFill>
                  <a:srgbClr val="0070C0"/>
                </a:solidFill>
                <a:latin typeface="Menlo" panose="020B0609030804020204" pitchFamily="49" charset="0"/>
                <a:ea typeface="Menlo" panose="020B0609030804020204" pitchFamily="49" charset="0"/>
                <a:cs typeface="Menlo" panose="020B0609030804020204" pitchFamily="49" charset="0"/>
              </a:rPr>
              <a:t>(2, size=30) </a:t>
            </a:r>
            <a:r>
              <a:rPr lang="en-US" sz="1800" dirty="0">
                <a:solidFill>
                  <a:srgbClr val="00B050"/>
                </a:solidFill>
                <a:latin typeface="Menlo" panose="020B0609030804020204" pitchFamily="49" charset="0"/>
                <a:ea typeface="Menlo" panose="020B0609030804020204" pitchFamily="49" charset="0"/>
                <a:cs typeface="Menlo" panose="020B0609030804020204" pitchFamily="49" charset="0"/>
              </a:rPr>
              <a:t># toss 30 times</a:t>
            </a:r>
          </a:p>
          <a:p>
            <a:r>
              <a:rPr lang="en-US" sz="1800" dirty="0">
                <a:solidFill>
                  <a:srgbClr val="0070C0"/>
                </a:solidFill>
                <a:latin typeface="Menlo" panose="020B0609030804020204" pitchFamily="49" charset="0"/>
                <a:ea typeface="Menlo" panose="020B0609030804020204" pitchFamily="49" charset="0"/>
                <a:cs typeface="Menlo" panose="020B0609030804020204" pitchFamily="49" charset="0"/>
              </a:rPr>
              <a:t>    if </a:t>
            </a:r>
            <a:r>
              <a:rPr lang="en-US" sz="1800" dirty="0" err="1">
                <a:solidFill>
                  <a:srgbClr val="0070C0"/>
                </a:solidFill>
                <a:latin typeface="Menlo" panose="020B0609030804020204" pitchFamily="49" charset="0"/>
                <a:ea typeface="Menlo" panose="020B0609030804020204" pitchFamily="49" charset="0"/>
                <a:cs typeface="Menlo" panose="020B0609030804020204" pitchFamily="49" charset="0"/>
              </a:rPr>
              <a:t>trials.sum</a:t>
            </a:r>
            <a:r>
              <a:rPr lang="en-US" sz="1800" dirty="0">
                <a:solidFill>
                  <a:srgbClr val="0070C0"/>
                </a:solidFill>
                <a:latin typeface="Menlo" panose="020B0609030804020204" pitchFamily="49" charset="0"/>
                <a:ea typeface="Menlo" panose="020B0609030804020204" pitchFamily="49" charset="0"/>
                <a:cs typeface="Menlo" panose="020B0609030804020204" pitchFamily="49" charset="0"/>
              </a:rPr>
              <a:t>() &gt;= 22:</a:t>
            </a:r>
          </a:p>
          <a:p>
            <a:r>
              <a:rPr lang="en-US" sz="1800" dirty="0">
                <a:solidFill>
                  <a:srgbClr val="0070C0"/>
                </a:solidFill>
                <a:latin typeface="Menlo" panose="020B0609030804020204" pitchFamily="49" charset="0"/>
                <a:ea typeface="Menlo" panose="020B0609030804020204" pitchFamily="49" charset="0"/>
                <a:cs typeface="Menlo" panose="020B0609030804020204" pitchFamily="49" charset="0"/>
              </a:rPr>
              <a:t>        counter += 1</a:t>
            </a:r>
          </a:p>
          <a:p>
            <a:endParaRPr lang="en-US" sz="1800" dirty="0">
              <a:solidFill>
                <a:srgbClr val="0070C0"/>
              </a:solidFill>
              <a:latin typeface="Menlo" panose="020B0609030804020204" pitchFamily="49" charset="0"/>
              <a:ea typeface="Menlo" panose="020B0609030804020204" pitchFamily="49" charset="0"/>
              <a:cs typeface="Menlo" panose="020B0609030804020204" pitchFamily="49" charset="0"/>
            </a:endParaRPr>
          </a:p>
          <a:p>
            <a:r>
              <a:rPr lang="en-US" sz="1800" dirty="0" err="1">
                <a:solidFill>
                  <a:srgbClr val="0070C0"/>
                </a:solidFill>
                <a:latin typeface="Menlo" panose="020B0609030804020204" pitchFamily="49" charset="0"/>
                <a:ea typeface="Menlo" panose="020B0609030804020204" pitchFamily="49" charset="0"/>
                <a:cs typeface="Menlo" panose="020B0609030804020204" pitchFamily="49" charset="0"/>
              </a:rPr>
              <a:t>P_val</a:t>
            </a:r>
            <a:r>
              <a:rPr lang="en-US" sz="1800" dirty="0">
                <a:solidFill>
                  <a:srgbClr val="0070C0"/>
                </a:solidFill>
                <a:latin typeface="Menlo" panose="020B0609030804020204" pitchFamily="49" charset="0"/>
                <a:ea typeface="Menlo" panose="020B0609030804020204" pitchFamily="49" charset="0"/>
                <a:cs typeface="Menlo" panose="020B0609030804020204" pitchFamily="49" charset="0"/>
              </a:rPr>
              <a:t> = counter / N     </a:t>
            </a:r>
            <a:r>
              <a:rPr lang="en-US" sz="1800" dirty="0">
                <a:solidFill>
                  <a:srgbClr val="00B050"/>
                </a:solidFill>
                <a:latin typeface="Menlo" panose="020B0609030804020204" pitchFamily="49" charset="0"/>
                <a:ea typeface="Menlo" panose="020B0609030804020204" pitchFamily="49" charset="0"/>
                <a:cs typeface="Menlo" panose="020B0609030804020204" pitchFamily="49" charset="0"/>
              </a:rPr>
              <a:t># 0.008</a:t>
            </a:r>
          </a:p>
          <a:p>
            <a:r>
              <a:rPr lang="en-US" sz="1800" dirty="0">
                <a:solidFill>
                  <a:srgbClr val="0070C0"/>
                </a:solidFill>
                <a:latin typeface="Menlo" panose="020B0609030804020204" pitchFamily="49" charset="0"/>
                <a:ea typeface="Menlo" panose="020B0609030804020204" pitchFamily="49" charset="0"/>
                <a:cs typeface="Menlo" panose="020B0609030804020204" pitchFamily="49" charset="0"/>
              </a:rPr>
              <a:t>print(</a:t>
            </a:r>
            <a:r>
              <a:rPr lang="en-US" sz="1800" dirty="0" err="1">
                <a:solidFill>
                  <a:srgbClr val="0070C0"/>
                </a:solidFill>
                <a:latin typeface="Menlo" panose="020B0609030804020204" pitchFamily="49" charset="0"/>
                <a:ea typeface="Menlo" panose="020B0609030804020204" pitchFamily="49" charset="0"/>
                <a:cs typeface="Menlo" panose="020B0609030804020204" pitchFamily="49" charset="0"/>
              </a:rPr>
              <a:t>f"P_val</a:t>
            </a:r>
            <a:r>
              <a:rPr lang="en-US" sz="1800" dirty="0">
                <a:solidFill>
                  <a:srgbClr val="0070C0"/>
                </a:solidFill>
                <a:latin typeface="Menlo" panose="020B0609030804020204" pitchFamily="49" charset="0"/>
                <a:ea typeface="Menlo" panose="020B0609030804020204" pitchFamily="49" charset="0"/>
                <a:cs typeface="Menlo" panose="020B0609030804020204" pitchFamily="49" charset="0"/>
              </a:rPr>
              <a:t> = {P_val:.4f}")</a:t>
            </a:r>
          </a:p>
        </p:txBody>
      </p:sp>
      <p:sp>
        <p:nvSpPr>
          <p:cNvPr id="4" name="TextBox 3">
            <a:extLst>
              <a:ext uri="{FF2B5EF4-FFF2-40B4-BE49-F238E27FC236}">
                <a16:creationId xmlns:a16="http://schemas.microsoft.com/office/drawing/2014/main" id="{5889D379-17A1-EF42-887E-1928F5FBF644}"/>
              </a:ext>
            </a:extLst>
          </p:cNvPr>
          <p:cNvSpPr txBox="1"/>
          <p:nvPr/>
        </p:nvSpPr>
        <p:spPr>
          <a:xfrm>
            <a:off x="1368097" y="937364"/>
            <a:ext cx="4650963" cy="923330"/>
          </a:xfrm>
          <a:prstGeom prst="rect">
            <a:avLst/>
          </a:prstGeom>
          <a:noFill/>
        </p:spPr>
        <p:txBody>
          <a:bodyPr wrap="square" rtlCol="0">
            <a:spAutoFit/>
          </a:bodyPr>
          <a:lstStyle/>
          <a:p>
            <a:r>
              <a:rPr lang="en-US" sz="1800" dirty="0"/>
              <a:t>We're tossing coin 30 times.</a:t>
            </a:r>
          </a:p>
          <a:p>
            <a:r>
              <a:rPr lang="en-US" sz="1800" dirty="0"/>
              <a:t>What is the P value of getting 22 heads?</a:t>
            </a:r>
          </a:p>
          <a:p>
            <a:r>
              <a:rPr lang="en-US" sz="1800" dirty="0"/>
              <a:t>We can simply count it.</a:t>
            </a:r>
          </a:p>
        </p:txBody>
      </p:sp>
    </p:spTree>
    <p:extLst>
      <p:ext uri="{BB962C8B-B14F-4D97-AF65-F5344CB8AC3E}">
        <p14:creationId xmlns:p14="http://schemas.microsoft.com/office/powerpoint/2010/main" val="5345019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FF755FE-9EC5-2243-8B9B-E4A9E7CEC3D9}"/>
              </a:ext>
            </a:extLst>
          </p:cNvPr>
          <p:cNvSpPr txBox="1"/>
          <p:nvPr/>
        </p:nvSpPr>
        <p:spPr>
          <a:xfrm>
            <a:off x="0" y="0"/>
            <a:ext cx="5833241" cy="830997"/>
          </a:xfrm>
          <a:prstGeom prst="rect">
            <a:avLst/>
          </a:prstGeom>
          <a:noFill/>
        </p:spPr>
        <p:txBody>
          <a:bodyPr wrap="square" rtlCol="0">
            <a:spAutoFit/>
          </a:bodyPr>
          <a:lstStyle/>
          <a:p>
            <a:r>
              <a:rPr lang="en-US" sz="2400" b="1" dirty="0">
                <a:latin typeface="Calibri" panose="020F0502020204030204" pitchFamily="34" charset="0"/>
                <a:cs typeface="Calibri" panose="020F0502020204030204" pitchFamily="34" charset="0"/>
              </a:rPr>
              <a:t>If A/B difference statistically significant?</a:t>
            </a:r>
            <a:br>
              <a:rPr lang="en-US" sz="2400" b="1" dirty="0">
                <a:latin typeface="Calibri" panose="020F0502020204030204" pitchFamily="34" charset="0"/>
                <a:cs typeface="Calibri" panose="020F0502020204030204" pitchFamily="34" charset="0"/>
              </a:rPr>
            </a:br>
            <a:r>
              <a:rPr lang="en-US" sz="2400" b="1" dirty="0">
                <a:latin typeface="Calibri" panose="020F0502020204030204" pitchFamily="34" charset="0"/>
                <a:cs typeface="Calibri" panose="020F0502020204030204" pitchFamily="34" charset="0"/>
              </a:rPr>
              <a:t>Answer Using Shuffling (hacking !!)</a:t>
            </a:r>
          </a:p>
        </p:txBody>
      </p:sp>
      <p:sp>
        <p:nvSpPr>
          <p:cNvPr id="3" name="TextBox 2">
            <a:extLst>
              <a:ext uri="{FF2B5EF4-FFF2-40B4-BE49-F238E27FC236}">
                <a16:creationId xmlns:a16="http://schemas.microsoft.com/office/drawing/2014/main" id="{B4214305-FB5A-AA42-89E0-5393ADEB579E}"/>
              </a:ext>
            </a:extLst>
          </p:cNvPr>
          <p:cNvSpPr txBox="1"/>
          <p:nvPr/>
        </p:nvSpPr>
        <p:spPr>
          <a:xfrm>
            <a:off x="6665263" y="130222"/>
            <a:ext cx="5373539" cy="830997"/>
          </a:xfrm>
          <a:prstGeom prst="rect">
            <a:avLst/>
          </a:prstGeom>
          <a:noFill/>
        </p:spPr>
        <p:txBody>
          <a:bodyPr wrap="square" rtlCol="0">
            <a:spAutoFit/>
          </a:bodyPr>
          <a:lstStyle/>
          <a:p>
            <a:pPr marL="285750" indent="-285750">
              <a:buFont typeface="Arial" panose="020B0604020202020204" pitchFamily="34" charset="0"/>
              <a:buChar char="•"/>
            </a:pPr>
            <a:r>
              <a:rPr lang="en-US" sz="1200" dirty="0">
                <a:solidFill>
                  <a:srgbClr val="00B050"/>
                </a:solidFill>
                <a:latin typeface="Menlo" panose="020B0609030804020204" pitchFamily="49" charset="0"/>
                <a:ea typeface="Menlo" panose="020B0609030804020204" pitchFamily="49" charset="0"/>
                <a:cs typeface="Menlo" panose="020B0609030804020204" pitchFamily="49" charset="0"/>
              </a:rPr>
              <a:t>Shuffling works when the Null Hypothesis assumes two groups are equivalent</a:t>
            </a:r>
          </a:p>
          <a:p>
            <a:pPr marL="285750" indent="-285750">
              <a:buFont typeface="Arial" panose="020B0604020202020204" pitchFamily="34" charset="0"/>
              <a:buChar char="•"/>
            </a:pPr>
            <a:r>
              <a:rPr lang="en-US" sz="1200" dirty="0">
                <a:solidFill>
                  <a:srgbClr val="00B050"/>
                </a:solidFill>
                <a:latin typeface="Menlo" panose="020B0609030804020204" pitchFamily="49" charset="0"/>
                <a:ea typeface="Menlo" panose="020B0609030804020204" pitchFamily="49" charset="0"/>
                <a:cs typeface="Menlo" panose="020B0609030804020204" pitchFamily="49" charset="0"/>
              </a:rPr>
              <a:t>Only works when there is no selection biases</a:t>
            </a:r>
          </a:p>
          <a:p>
            <a:pPr marL="285750" indent="-285750">
              <a:buFont typeface="Arial" panose="020B0604020202020204" pitchFamily="34" charset="0"/>
              <a:buChar char="•"/>
            </a:pPr>
            <a:r>
              <a:rPr lang="en-US" sz="1200" dirty="0">
                <a:solidFill>
                  <a:srgbClr val="00B050"/>
                </a:solidFill>
                <a:latin typeface="Menlo" panose="020B0609030804020204" pitchFamily="49" charset="0"/>
                <a:ea typeface="Menlo" panose="020B0609030804020204" pitchFamily="49" charset="0"/>
                <a:cs typeface="Menlo" panose="020B0609030804020204" pitchFamily="49" charset="0"/>
              </a:rPr>
              <a:t>The trials must be independent (!)</a:t>
            </a:r>
          </a:p>
        </p:txBody>
      </p:sp>
      <p:sp>
        <p:nvSpPr>
          <p:cNvPr id="4" name="TextBox 3">
            <a:extLst>
              <a:ext uri="{FF2B5EF4-FFF2-40B4-BE49-F238E27FC236}">
                <a16:creationId xmlns:a16="http://schemas.microsoft.com/office/drawing/2014/main" id="{70E595A3-403F-6749-95B4-96B9355C9FC4}"/>
              </a:ext>
            </a:extLst>
          </p:cNvPr>
          <p:cNvSpPr txBox="1"/>
          <p:nvPr/>
        </p:nvSpPr>
        <p:spPr>
          <a:xfrm>
            <a:off x="1036442" y="1769600"/>
            <a:ext cx="3566009" cy="369332"/>
          </a:xfrm>
          <a:prstGeom prst="rect">
            <a:avLst/>
          </a:prstGeom>
          <a:noFill/>
        </p:spPr>
        <p:txBody>
          <a:bodyPr wrap="square" rtlCol="0">
            <a:spAutoFit/>
          </a:bodyPr>
          <a:lstStyle/>
          <a:p>
            <a:r>
              <a:rPr lang="en-US" sz="1600" dirty="0">
                <a:solidFill>
                  <a:srgbClr val="0070C0"/>
                </a:solidFill>
                <a:latin typeface="Menlo" panose="020B0609030804020204" pitchFamily="49" charset="0"/>
                <a:ea typeface="Menlo" panose="020B0609030804020204" pitchFamily="49" charset="0"/>
                <a:cs typeface="Menlo" panose="020B0609030804020204" pitchFamily="49" charset="0"/>
              </a:rPr>
              <a:t>Example</a:t>
            </a:r>
            <a:r>
              <a:rPr lang="en-US" sz="1800" dirty="0">
                <a:solidFill>
                  <a:srgbClr val="0070C0"/>
                </a:solidFill>
                <a:latin typeface="Menlo" panose="020B0609030804020204" pitchFamily="49" charset="0"/>
                <a:ea typeface="Menlo" panose="020B0609030804020204" pitchFamily="49" charset="0"/>
                <a:cs typeface="Menlo" panose="020B0609030804020204" pitchFamily="49" charset="0"/>
              </a:rPr>
              <a:t>: A/B Split Test</a:t>
            </a:r>
          </a:p>
        </p:txBody>
      </p:sp>
      <p:pic>
        <p:nvPicPr>
          <p:cNvPr id="5" name="Picture 4">
            <a:extLst>
              <a:ext uri="{FF2B5EF4-FFF2-40B4-BE49-F238E27FC236}">
                <a16:creationId xmlns:a16="http://schemas.microsoft.com/office/drawing/2014/main" id="{44670FF3-E80B-EB4A-8B34-22B9059C788F}"/>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468565" y="2166917"/>
            <a:ext cx="2079355" cy="1046718"/>
          </a:xfrm>
          <a:prstGeom prst="rect">
            <a:avLst/>
          </a:prstGeom>
        </p:spPr>
      </p:pic>
      <p:pic>
        <p:nvPicPr>
          <p:cNvPr id="6" name="Picture 5">
            <a:extLst>
              <a:ext uri="{FF2B5EF4-FFF2-40B4-BE49-F238E27FC236}">
                <a16:creationId xmlns:a16="http://schemas.microsoft.com/office/drawing/2014/main" id="{5996D345-1AD7-C44B-A5D5-921040892604}"/>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2648759" y="2166917"/>
            <a:ext cx="2079355" cy="1046718"/>
          </a:xfrm>
          <a:prstGeom prst="rect">
            <a:avLst/>
          </a:prstGeom>
        </p:spPr>
      </p:pic>
      <p:sp>
        <p:nvSpPr>
          <p:cNvPr id="7" name="TextBox 6">
            <a:extLst>
              <a:ext uri="{FF2B5EF4-FFF2-40B4-BE49-F238E27FC236}">
                <a16:creationId xmlns:a16="http://schemas.microsoft.com/office/drawing/2014/main" id="{BA7671ED-AC2B-434A-B53F-6906D1E2DAB3}"/>
              </a:ext>
            </a:extLst>
          </p:cNvPr>
          <p:cNvSpPr txBox="1"/>
          <p:nvPr/>
        </p:nvSpPr>
        <p:spPr>
          <a:xfrm>
            <a:off x="28906" y="2492287"/>
            <a:ext cx="411405" cy="369332"/>
          </a:xfrm>
          <a:prstGeom prst="rect">
            <a:avLst/>
          </a:prstGeom>
          <a:noFill/>
        </p:spPr>
        <p:txBody>
          <a:bodyPr wrap="square" rtlCol="0">
            <a:spAutoFit/>
          </a:bodyPr>
          <a:lstStyle/>
          <a:p>
            <a:r>
              <a:rPr lang="en-US" sz="1800" b="1" dirty="0">
                <a:solidFill>
                  <a:srgbClr val="00B050"/>
                </a:solidFill>
                <a:latin typeface="Menlo" panose="020B0609030804020204" pitchFamily="49" charset="0"/>
                <a:ea typeface="Menlo" panose="020B0609030804020204" pitchFamily="49" charset="0"/>
                <a:cs typeface="Menlo" panose="020B0609030804020204" pitchFamily="49" charset="0"/>
              </a:rPr>
              <a:t>A</a:t>
            </a:r>
          </a:p>
        </p:txBody>
      </p:sp>
      <p:sp>
        <p:nvSpPr>
          <p:cNvPr id="8" name="TextBox 7">
            <a:extLst>
              <a:ext uri="{FF2B5EF4-FFF2-40B4-BE49-F238E27FC236}">
                <a16:creationId xmlns:a16="http://schemas.microsoft.com/office/drawing/2014/main" id="{FEEB07CE-582A-044D-9FC6-EF4B1DC52B88}"/>
              </a:ext>
            </a:extLst>
          </p:cNvPr>
          <p:cNvSpPr txBox="1"/>
          <p:nvPr/>
        </p:nvSpPr>
        <p:spPr>
          <a:xfrm>
            <a:off x="4837842" y="2492287"/>
            <a:ext cx="411405" cy="369332"/>
          </a:xfrm>
          <a:prstGeom prst="rect">
            <a:avLst/>
          </a:prstGeom>
          <a:noFill/>
        </p:spPr>
        <p:txBody>
          <a:bodyPr wrap="square" rtlCol="0">
            <a:spAutoFit/>
          </a:bodyPr>
          <a:lstStyle/>
          <a:p>
            <a:r>
              <a:rPr lang="en-US" sz="1800" b="1" dirty="0">
                <a:solidFill>
                  <a:srgbClr val="00B050"/>
                </a:solidFill>
                <a:latin typeface="Menlo" panose="020B0609030804020204" pitchFamily="49" charset="0"/>
                <a:ea typeface="Menlo" panose="020B0609030804020204" pitchFamily="49" charset="0"/>
                <a:cs typeface="Menlo" panose="020B0609030804020204" pitchFamily="49" charset="0"/>
              </a:rPr>
              <a:t>B</a:t>
            </a:r>
          </a:p>
        </p:txBody>
      </p:sp>
      <p:sp>
        <p:nvSpPr>
          <p:cNvPr id="10" name="Rectangle 9">
            <a:extLst>
              <a:ext uri="{FF2B5EF4-FFF2-40B4-BE49-F238E27FC236}">
                <a16:creationId xmlns:a16="http://schemas.microsoft.com/office/drawing/2014/main" id="{9CD7ACBE-9D26-1F4C-A0EA-9DEA5B58888A}"/>
              </a:ext>
            </a:extLst>
          </p:cNvPr>
          <p:cNvSpPr/>
          <p:nvPr/>
        </p:nvSpPr>
        <p:spPr>
          <a:xfrm>
            <a:off x="6839493" y="1095467"/>
            <a:ext cx="5158912" cy="5786199"/>
          </a:xfrm>
          <a:prstGeom prst="rect">
            <a:avLst/>
          </a:prstGeom>
        </p:spPr>
        <p:txBody>
          <a:bodyPr wrap="square">
            <a:spAutoFit/>
          </a:bodyPr>
          <a:lstStyle/>
          <a:p>
            <a:r>
              <a:rPr lang="en-US" sz="1000" dirty="0">
                <a:solidFill>
                  <a:srgbClr val="0070C0"/>
                </a:solidFill>
                <a:latin typeface="Menlo" panose="020B0609030804020204" pitchFamily="49" charset="0"/>
                <a:ea typeface="Menlo" panose="020B0609030804020204" pitchFamily="49" charset="0"/>
                <a:cs typeface="Menlo" panose="020B0609030804020204" pitchFamily="49" charset="0"/>
              </a:rPr>
              <a:t>N=10000</a:t>
            </a:r>
          </a:p>
          <a:p>
            <a:r>
              <a:rPr lang="en-US" sz="1000" dirty="0" err="1">
                <a:solidFill>
                  <a:srgbClr val="0070C0"/>
                </a:solidFill>
                <a:latin typeface="Menlo" panose="020B0609030804020204" pitchFamily="49" charset="0"/>
                <a:ea typeface="Menlo" panose="020B0609030804020204" pitchFamily="49" charset="0"/>
                <a:cs typeface="Menlo" panose="020B0609030804020204" pitchFamily="49" charset="0"/>
              </a:rPr>
              <a:t>scale_A</a:t>
            </a:r>
            <a:r>
              <a:rPr lang="en-US" sz="1000" dirty="0">
                <a:solidFill>
                  <a:srgbClr val="0070C0"/>
                </a:solidFill>
                <a:latin typeface="Menlo" panose="020B0609030804020204" pitchFamily="49" charset="0"/>
                <a:ea typeface="Menlo" panose="020B0609030804020204" pitchFamily="49" charset="0"/>
                <a:cs typeface="Menlo" panose="020B0609030804020204" pitchFamily="49" charset="0"/>
              </a:rPr>
              <a:t> = 2.0</a:t>
            </a:r>
          </a:p>
          <a:p>
            <a:r>
              <a:rPr lang="en-US" sz="1000" dirty="0" err="1">
                <a:solidFill>
                  <a:srgbClr val="0070C0"/>
                </a:solidFill>
                <a:latin typeface="Menlo" panose="020B0609030804020204" pitchFamily="49" charset="0"/>
                <a:ea typeface="Menlo" panose="020B0609030804020204" pitchFamily="49" charset="0"/>
                <a:cs typeface="Menlo" panose="020B0609030804020204" pitchFamily="49" charset="0"/>
              </a:rPr>
              <a:t>scale_B</a:t>
            </a:r>
            <a:r>
              <a:rPr lang="en-US" sz="1000" dirty="0">
                <a:solidFill>
                  <a:srgbClr val="0070C0"/>
                </a:solidFill>
                <a:latin typeface="Menlo" panose="020B0609030804020204" pitchFamily="49" charset="0"/>
                <a:ea typeface="Menlo" panose="020B0609030804020204" pitchFamily="49" charset="0"/>
                <a:cs typeface="Menlo" panose="020B0609030804020204" pitchFamily="49" charset="0"/>
              </a:rPr>
              <a:t> = 2.08</a:t>
            </a:r>
          </a:p>
          <a:p>
            <a:r>
              <a:rPr lang="en-US" sz="1000" dirty="0">
                <a:solidFill>
                  <a:srgbClr val="0070C0"/>
                </a:solidFill>
                <a:latin typeface="Menlo" panose="020B0609030804020204" pitchFamily="49" charset="0"/>
                <a:ea typeface="Menlo" panose="020B0609030804020204" pitchFamily="49" charset="0"/>
                <a:cs typeface="Menlo" panose="020B0609030804020204" pitchFamily="49" charset="0"/>
              </a:rPr>
              <a:t>A = </a:t>
            </a:r>
            <a:r>
              <a:rPr lang="en-US" sz="1000" dirty="0" err="1">
                <a:solidFill>
                  <a:srgbClr val="0070C0"/>
                </a:solidFill>
                <a:latin typeface="Menlo" panose="020B0609030804020204" pitchFamily="49" charset="0"/>
                <a:ea typeface="Menlo" panose="020B0609030804020204" pitchFamily="49" charset="0"/>
                <a:cs typeface="Menlo" panose="020B0609030804020204" pitchFamily="49" charset="0"/>
              </a:rPr>
              <a:t>np.random.exponential</a:t>
            </a:r>
            <a:r>
              <a:rPr lang="en-US" sz="1000" dirty="0">
                <a:solidFill>
                  <a:srgbClr val="0070C0"/>
                </a:solidFill>
                <a:latin typeface="Menlo" panose="020B0609030804020204" pitchFamily="49" charset="0"/>
                <a:ea typeface="Menlo" panose="020B0609030804020204" pitchFamily="49" charset="0"/>
                <a:cs typeface="Menlo" panose="020B0609030804020204" pitchFamily="49" charset="0"/>
              </a:rPr>
              <a:t>(scale=</a:t>
            </a:r>
            <a:r>
              <a:rPr lang="en-US" sz="1000" dirty="0" err="1">
                <a:solidFill>
                  <a:srgbClr val="0070C0"/>
                </a:solidFill>
                <a:latin typeface="Menlo" panose="020B0609030804020204" pitchFamily="49" charset="0"/>
                <a:ea typeface="Menlo" panose="020B0609030804020204" pitchFamily="49" charset="0"/>
                <a:cs typeface="Menlo" panose="020B0609030804020204" pitchFamily="49" charset="0"/>
              </a:rPr>
              <a:t>scale_A</a:t>
            </a:r>
            <a:r>
              <a:rPr lang="en-US" sz="1000" dirty="0">
                <a:solidFill>
                  <a:srgbClr val="0070C0"/>
                </a:solidFill>
                <a:latin typeface="Menlo" panose="020B0609030804020204" pitchFamily="49" charset="0"/>
                <a:ea typeface="Menlo" panose="020B0609030804020204" pitchFamily="49" charset="0"/>
                <a:cs typeface="Menlo" panose="020B0609030804020204" pitchFamily="49" charset="0"/>
              </a:rPr>
              <a:t>, size=N)</a:t>
            </a:r>
          </a:p>
          <a:p>
            <a:r>
              <a:rPr lang="en-US" sz="1000" dirty="0">
                <a:solidFill>
                  <a:srgbClr val="0070C0"/>
                </a:solidFill>
                <a:latin typeface="Menlo" panose="020B0609030804020204" pitchFamily="49" charset="0"/>
                <a:ea typeface="Menlo" panose="020B0609030804020204" pitchFamily="49" charset="0"/>
                <a:cs typeface="Menlo" panose="020B0609030804020204" pitchFamily="49" charset="0"/>
              </a:rPr>
              <a:t>B = </a:t>
            </a:r>
            <a:r>
              <a:rPr lang="en-US" sz="1000" dirty="0" err="1">
                <a:solidFill>
                  <a:srgbClr val="0070C0"/>
                </a:solidFill>
                <a:latin typeface="Menlo" panose="020B0609030804020204" pitchFamily="49" charset="0"/>
                <a:ea typeface="Menlo" panose="020B0609030804020204" pitchFamily="49" charset="0"/>
                <a:cs typeface="Menlo" panose="020B0609030804020204" pitchFamily="49" charset="0"/>
              </a:rPr>
              <a:t>np.random.exponential</a:t>
            </a:r>
            <a:r>
              <a:rPr lang="en-US" sz="1000" dirty="0">
                <a:solidFill>
                  <a:srgbClr val="0070C0"/>
                </a:solidFill>
                <a:latin typeface="Menlo" panose="020B0609030804020204" pitchFamily="49" charset="0"/>
                <a:ea typeface="Menlo" panose="020B0609030804020204" pitchFamily="49" charset="0"/>
                <a:cs typeface="Menlo" panose="020B0609030804020204" pitchFamily="49" charset="0"/>
              </a:rPr>
              <a:t>(scale=</a:t>
            </a:r>
            <a:r>
              <a:rPr lang="en-US" sz="1000" dirty="0" err="1">
                <a:solidFill>
                  <a:srgbClr val="0070C0"/>
                </a:solidFill>
                <a:latin typeface="Menlo" panose="020B0609030804020204" pitchFamily="49" charset="0"/>
                <a:ea typeface="Menlo" panose="020B0609030804020204" pitchFamily="49" charset="0"/>
                <a:cs typeface="Menlo" panose="020B0609030804020204" pitchFamily="49" charset="0"/>
              </a:rPr>
              <a:t>scale_B</a:t>
            </a:r>
            <a:r>
              <a:rPr lang="en-US" sz="1000" dirty="0">
                <a:solidFill>
                  <a:srgbClr val="0070C0"/>
                </a:solidFill>
                <a:latin typeface="Menlo" panose="020B0609030804020204" pitchFamily="49" charset="0"/>
                <a:ea typeface="Menlo" panose="020B0609030804020204" pitchFamily="49" charset="0"/>
                <a:cs typeface="Menlo" panose="020B0609030804020204" pitchFamily="49" charset="0"/>
              </a:rPr>
              <a:t>, size=N)</a:t>
            </a:r>
          </a:p>
          <a:p>
            <a:endParaRPr lang="en-US" sz="1000" dirty="0">
              <a:solidFill>
                <a:srgbClr val="0070C0"/>
              </a:solidFill>
              <a:latin typeface="Menlo" panose="020B0609030804020204" pitchFamily="49" charset="0"/>
              <a:ea typeface="Menlo" panose="020B0609030804020204" pitchFamily="49" charset="0"/>
              <a:cs typeface="Menlo" panose="020B0609030804020204" pitchFamily="49" charset="0"/>
            </a:endParaRPr>
          </a:p>
          <a:p>
            <a:r>
              <a:rPr lang="en-US" sz="1000" dirty="0">
                <a:solidFill>
                  <a:srgbClr val="00B050"/>
                </a:solidFill>
                <a:latin typeface="Menlo" panose="020B0609030804020204" pitchFamily="49" charset="0"/>
                <a:ea typeface="Menlo" panose="020B0609030804020204" pitchFamily="49" charset="0"/>
                <a:cs typeface="Menlo" panose="020B0609030804020204" pitchFamily="49" charset="0"/>
              </a:rPr>
              <a:t># actual difference</a:t>
            </a:r>
          </a:p>
          <a:p>
            <a:r>
              <a:rPr lang="en-US" sz="1000" dirty="0" err="1">
                <a:solidFill>
                  <a:srgbClr val="0070C0"/>
                </a:solidFill>
                <a:latin typeface="Menlo" panose="020B0609030804020204" pitchFamily="49" charset="0"/>
                <a:ea typeface="Menlo" panose="020B0609030804020204" pitchFamily="49" charset="0"/>
                <a:cs typeface="Menlo" panose="020B0609030804020204" pitchFamily="49" charset="0"/>
              </a:rPr>
              <a:t>diff_AB</a:t>
            </a:r>
            <a:r>
              <a:rPr lang="en-US" sz="1000" dirty="0">
                <a:solidFill>
                  <a:srgbClr val="0070C0"/>
                </a:solidFill>
                <a:latin typeface="Menlo" panose="020B0609030804020204" pitchFamily="49" charset="0"/>
                <a:ea typeface="Menlo" panose="020B0609030804020204" pitchFamily="49" charset="0"/>
                <a:cs typeface="Menlo" panose="020B0609030804020204" pitchFamily="49" charset="0"/>
              </a:rPr>
              <a:t> = </a:t>
            </a:r>
            <a:r>
              <a:rPr lang="en-US" sz="1000" dirty="0" err="1">
                <a:solidFill>
                  <a:srgbClr val="0070C0"/>
                </a:solidFill>
                <a:latin typeface="Menlo" panose="020B0609030804020204" pitchFamily="49" charset="0"/>
                <a:ea typeface="Menlo" panose="020B0609030804020204" pitchFamily="49" charset="0"/>
                <a:cs typeface="Menlo" panose="020B0609030804020204" pitchFamily="49" charset="0"/>
              </a:rPr>
              <a:t>np.abs</a:t>
            </a:r>
            <a:r>
              <a:rPr lang="en-US" sz="1000" dirty="0">
                <a:solidFill>
                  <a:srgbClr val="0070C0"/>
                </a:solidFill>
                <a:latin typeface="Menlo" panose="020B0609030804020204" pitchFamily="49" charset="0"/>
                <a:ea typeface="Menlo" panose="020B0609030804020204" pitchFamily="49" charset="0"/>
                <a:cs typeface="Menlo" panose="020B0609030804020204" pitchFamily="49" charset="0"/>
              </a:rPr>
              <a:t>(</a:t>
            </a:r>
            <a:r>
              <a:rPr lang="en-US" sz="1000" dirty="0" err="1">
                <a:solidFill>
                  <a:srgbClr val="0070C0"/>
                </a:solidFill>
                <a:latin typeface="Menlo" panose="020B0609030804020204" pitchFamily="49" charset="0"/>
                <a:ea typeface="Menlo" panose="020B0609030804020204" pitchFamily="49" charset="0"/>
                <a:cs typeface="Menlo" panose="020B0609030804020204" pitchFamily="49" charset="0"/>
              </a:rPr>
              <a:t>np.mean</a:t>
            </a:r>
            <a:r>
              <a:rPr lang="en-US" sz="1000" dirty="0">
                <a:solidFill>
                  <a:srgbClr val="0070C0"/>
                </a:solidFill>
                <a:latin typeface="Menlo" panose="020B0609030804020204" pitchFamily="49" charset="0"/>
                <a:ea typeface="Menlo" panose="020B0609030804020204" pitchFamily="49" charset="0"/>
                <a:cs typeface="Menlo" panose="020B0609030804020204" pitchFamily="49" charset="0"/>
              </a:rPr>
              <a:t>(A) - </a:t>
            </a:r>
            <a:r>
              <a:rPr lang="en-US" sz="1000" dirty="0" err="1">
                <a:solidFill>
                  <a:srgbClr val="0070C0"/>
                </a:solidFill>
                <a:latin typeface="Menlo" panose="020B0609030804020204" pitchFamily="49" charset="0"/>
                <a:ea typeface="Menlo" panose="020B0609030804020204" pitchFamily="49" charset="0"/>
                <a:cs typeface="Menlo" panose="020B0609030804020204" pitchFamily="49" charset="0"/>
              </a:rPr>
              <a:t>np.mean</a:t>
            </a:r>
            <a:r>
              <a:rPr lang="en-US" sz="1000" dirty="0">
                <a:solidFill>
                  <a:srgbClr val="0070C0"/>
                </a:solidFill>
                <a:latin typeface="Menlo" panose="020B0609030804020204" pitchFamily="49" charset="0"/>
                <a:ea typeface="Menlo" panose="020B0609030804020204" pitchFamily="49" charset="0"/>
                <a:cs typeface="Menlo" panose="020B0609030804020204" pitchFamily="49" charset="0"/>
              </a:rPr>
              <a:t>(B)) </a:t>
            </a:r>
          </a:p>
          <a:p>
            <a:endParaRPr lang="en-US" sz="1000" dirty="0">
              <a:solidFill>
                <a:srgbClr val="0070C0"/>
              </a:solidFill>
              <a:latin typeface="Menlo" panose="020B0609030804020204" pitchFamily="49" charset="0"/>
              <a:ea typeface="Menlo" panose="020B0609030804020204" pitchFamily="49" charset="0"/>
              <a:cs typeface="Menlo" panose="020B0609030804020204" pitchFamily="49" charset="0"/>
            </a:endParaRPr>
          </a:p>
          <a:p>
            <a:r>
              <a:rPr lang="en-US" sz="1000" dirty="0">
                <a:solidFill>
                  <a:srgbClr val="0070C0"/>
                </a:solidFill>
                <a:latin typeface="Menlo" panose="020B0609030804020204" pitchFamily="49" charset="0"/>
                <a:ea typeface="Menlo" panose="020B0609030804020204" pitchFamily="49" charset="0"/>
                <a:cs typeface="Menlo" panose="020B0609030804020204" pitchFamily="49" charset="0"/>
              </a:rPr>
              <a:t>C = </a:t>
            </a:r>
            <a:r>
              <a:rPr lang="en-US" sz="1000" dirty="0" err="1">
                <a:solidFill>
                  <a:srgbClr val="0070C0"/>
                </a:solidFill>
                <a:latin typeface="Menlo" panose="020B0609030804020204" pitchFamily="49" charset="0"/>
                <a:ea typeface="Menlo" panose="020B0609030804020204" pitchFamily="49" charset="0"/>
                <a:cs typeface="Menlo" panose="020B0609030804020204" pitchFamily="49" charset="0"/>
              </a:rPr>
              <a:t>np.concatenate</a:t>
            </a:r>
            <a:r>
              <a:rPr lang="en-US" sz="1000" dirty="0">
                <a:solidFill>
                  <a:srgbClr val="0070C0"/>
                </a:solidFill>
                <a:latin typeface="Menlo" panose="020B0609030804020204" pitchFamily="49" charset="0"/>
                <a:ea typeface="Menlo" panose="020B0609030804020204" pitchFamily="49" charset="0"/>
                <a:cs typeface="Menlo" panose="020B0609030804020204" pitchFamily="49" charset="0"/>
              </a:rPr>
              <a:t>((A,B)) # Combined</a:t>
            </a:r>
          </a:p>
          <a:p>
            <a:endParaRPr lang="en-US" sz="1000" dirty="0">
              <a:solidFill>
                <a:srgbClr val="0070C0"/>
              </a:solidFill>
              <a:latin typeface="Menlo" panose="020B0609030804020204" pitchFamily="49" charset="0"/>
              <a:ea typeface="Menlo" panose="020B0609030804020204" pitchFamily="49" charset="0"/>
              <a:cs typeface="Menlo" panose="020B0609030804020204" pitchFamily="49" charset="0"/>
            </a:endParaRPr>
          </a:p>
          <a:p>
            <a:r>
              <a:rPr lang="en-US" sz="1000" dirty="0" err="1">
                <a:solidFill>
                  <a:srgbClr val="0070C0"/>
                </a:solidFill>
                <a:latin typeface="Menlo" panose="020B0609030804020204" pitchFamily="49" charset="0"/>
                <a:ea typeface="Menlo" panose="020B0609030804020204" pitchFamily="49" charset="0"/>
                <a:cs typeface="Menlo" panose="020B0609030804020204" pitchFamily="49" charset="0"/>
              </a:rPr>
              <a:t>N_shuf</a:t>
            </a:r>
            <a:r>
              <a:rPr lang="en-US" sz="1000" dirty="0">
                <a:solidFill>
                  <a:srgbClr val="0070C0"/>
                </a:solidFill>
                <a:latin typeface="Menlo" panose="020B0609030804020204" pitchFamily="49" charset="0"/>
                <a:ea typeface="Menlo" panose="020B0609030804020204" pitchFamily="49" charset="0"/>
                <a:cs typeface="Menlo" panose="020B0609030804020204" pitchFamily="49" charset="0"/>
              </a:rPr>
              <a:t> = 5000</a:t>
            </a:r>
          </a:p>
          <a:p>
            <a:r>
              <a:rPr lang="en-US" sz="1000" dirty="0">
                <a:solidFill>
                  <a:srgbClr val="0070C0"/>
                </a:solidFill>
                <a:latin typeface="Menlo" panose="020B0609030804020204" pitchFamily="49" charset="0"/>
                <a:ea typeface="Menlo" panose="020B0609030804020204" pitchFamily="49" charset="0"/>
                <a:cs typeface="Menlo" panose="020B0609030804020204" pitchFamily="49" charset="0"/>
              </a:rPr>
              <a:t>counter = 0 # count extreme diffs</a:t>
            </a:r>
          </a:p>
          <a:p>
            <a:r>
              <a:rPr lang="en-US" sz="1000" dirty="0">
                <a:solidFill>
                  <a:srgbClr val="0070C0"/>
                </a:solidFill>
                <a:latin typeface="Menlo" panose="020B0609030804020204" pitchFamily="49" charset="0"/>
                <a:ea typeface="Menlo" panose="020B0609030804020204" pitchFamily="49" charset="0"/>
                <a:cs typeface="Menlo" panose="020B0609030804020204" pitchFamily="49" charset="0"/>
              </a:rPr>
              <a:t>diffs = </a:t>
            </a:r>
            <a:r>
              <a:rPr lang="en-US" sz="1000" dirty="0" err="1">
                <a:solidFill>
                  <a:srgbClr val="0070C0"/>
                </a:solidFill>
                <a:latin typeface="Menlo" panose="020B0609030804020204" pitchFamily="49" charset="0"/>
                <a:ea typeface="Menlo" panose="020B0609030804020204" pitchFamily="49" charset="0"/>
                <a:cs typeface="Menlo" panose="020B0609030804020204" pitchFamily="49" charset="0"/>
              </a:rPr>
              <a:t>np.zeros</a:t>
            </a:r>
            <a:r>
              <a:rPr lang="en-US" sz="1000" dirty="0">
                <a:solidFill>
                  <a:srgbClr val="0070C0"/>
                </a:solidFill>
                <a:latin typeface="Menlo" panose="020B0609030804020204" pitchFamily="49" charset="0"/>
                <a:ea typeface="Menlo" panose="020B0609030804020204" pitchFamily="49" charset="0"/>
                <a:cs typeface="Menlo" panose="020B0609030804020204" pitchFamily="49" charset="0"/>
              </a:rPr>
              <a:t>(</a:t>
            </a:r>
            <a:r>
              <a:rPr lang="en-US" sz="1000" dirty="0" err="1">
                <a:solidFill>
                  <a:srgbClr val="0070C0"/>
                </a:solidFill>
                <a:latin typeface="Menlo" panose="020B0609030804020204" pitchFamily="49" charset="0"/>
                <a:ea typeface="Menlo" panose="020B0609030804020204" pitchFamily="49" charset="0"/>
                <a:cs typeface="Menlo" panose="020B0609030804020204" pitchFamily="49" charset="0"/>
              </a:rPr>
              <a:t>N_shuf</a:t>
            </a:r>
            <a:r>
              <a:rPr lang="en-US" sz="1000" dirty="0">
                <a:solidFill>
                  <a:srgbClr val="0070C0"/>
                </a:solidFill>
                <a:latin typeface="Menlo" panose="020B0609030804020204" pitchFamily="49" charset="0"/>
                <a:ea typeface="Menlo" panose="020B0609030804020204" pitchFamily="49" charset="0"/>
                <a:cs typeface="Menlo" panose="020B0609030804020204" pitchFamily="49" charset="0"/>
              </a:rPr>
              <a:t>, </a:t>
            </a:r>
            <a:r>
              <a:rPr lang="en-US" sz="1000" dirty="0" err="1">
                <a:solidFill>
                  <a:srgbClr val="0070C0"/>
                </a:solidFill>
                <a:latin typeface="Menlo" panose="020B0609030804020204" pitchFamily="49" charset="0"/>
                <a:ea typeface="Menlo" panose="020B0609030804020204" pitchFamily="49" charset="0"/>
                <a:cs typeface="Menlo" panose="020B0609030804020204" pitchFamily="49" charset="0"/>
              </a:rPr>
              <a:t>dtype</a:t>
            </a:r>
            <a:r>
              <a:rPr lang="en-US" sz="1000" dirty="0">
                <a:solidFill>
                  <a:srgbClr val="0070C0"/>
                </a:solidFill>
                <a:latin typeface="Menlo" panose="020B0609030804020204" pitchFamily="49" charset="0"/>
                <a:ea typeface="Menlo" panose="020B0609030804020204" pitchFamily="49" charset="0"/>
                <a:cs typeface="Menlo" panose="020B0609030804020204" pitchFamily="49" charset="0"/>
              </a:rPr>
              <a:t>=float)</a:t>
            </a:r>
          </a:p>
          <a:p>
            <a:r>
              <a:rPr lang="en-US" sz="1000" dirty="0" err="1">
                <a:solidFill>
                  <a:srgbClr val="0070C0"/>
                </a:solidFill>
                <a:latin typeface="Menlo" panose="020B0609030804020204" pitchFamily="49" charset="0"/>
                <a:ea typeface="Menlo" panose="020B0609030804020204" pitchFamily="49" charset="0"/>
                <a:cs typeface="Menlo" panose="020B0609030804020204" pitchFamily="49" charset="0"/>
              </a:rPr>
              <a:t>rng</a:t>
            </a:r>
            <a:r>
              <a:rPr lang="en-US" sz="1000" dirty="0">
                <a:solidFill>
                  <a:srgbClr val="0070C0"/>
                </a:solidFill>
                <a:latin typeface="Menlo" panose="020B0609030804020204" pitchFamily="49" charset="0"/>
                <a:ea typeface="Menlo" panose="020B0609030804020204" pitchFamily="49" charset="0"/>
                <a:cs typeface="Menlo" panose="020B0609030804020204" pitchFamily="49" charset="0"/>
              </a:rPr>
              <a:t> = </a:t>
            </a:r>
            <a:r>
              <a:rPr lang="en-US" sz="1000" dirty="0" err="1">
                <a:solidFill>
                  <a:srgbClr val="0070C0"/>
                </a:solidFill>
                <a:latin typeface="Menlo" panose="020B0609030804020204" pitchFamily="49" charset="0"/>
                <a:ea typeface="Menlo" panose="020B0609030804020204" pitchFamily="49" charset="0"/>
                <a:cs typeface="Menlo" panose="020B0609030804020204" pitchFamily="49" charset="0"/>
              </a:rPr>
              <a:t>np.random.default_rng</a:t>
            </a:r>
            <a:r>
              <a:rPr lang="en-US" sz="1000" dirty="0">
                <a:solidFill>
                  <a:srgbClr val="0070C0"/>
                </a:solidFill>
                <a:latin typeface="Menlo" panose="020B0609030804020204" pitchFamily="49" charset="0"/>
                <a:ea typeface="Menlo" panose="020B0609030804020204" pitchFamily="49" charset="0"/>
                <a:cs typeface="Menlo" panose="020B0609030804020204" pitchFamily="49" charset="0"/>
              </a:rPr>
              <a:t>()</a:t>
            </a:r>
          </a:p>
          <a:p>
            <a:r>
              <a:rPr lang="en-US" sz="1000" dirty="0">
                <a:solidFill>
                  <a:srgbClr val="0070C0"/>
                </a:solidFill>
                <a:latin typeface="Menlo" panose="020B0609030804020204" pitchFamily="49" charset="0"/>
                <a:ea typeface="Menlo" panose="020B0609030804020204" pitchFamily="49" charset="0"/>
                <a:cs typeface="Menlo" panose="020B0609030804020204" pitchFamily="49" charset="0"/>
              </a:rPr>
              <a:t>for ii in range(</a:t>
            </a:r>
            <a:r>
              <a:rPr lang="en-US" sz="1000" dirty="0" err="1">
                <a:solidFill>
                  <a:srgbClr val="0070C0"/>
                </a:solidFill>
                <a:latin typeface="Menlo" panose="020B0609030804020204" pitchFamily="49" charset="0"/>
                <a:ea typeface="Menlo" panose="020B0609030804020204" pitchFamily="49" charset="0"/>
                <a:cs typeface="Menlo" panose="020B0609030804020204" pitchFamily="49" charset="0"/>
              </a:rPr>
              <a:t>N_shuf</a:t>
            </a:r>
            <a:r>
              <a:rPr lang="en-US" sz="1000" dirty="0">
                <a:solidFill>
                  <a:srgbClr val="0070C0"/>
                </a:solidFill>
                <a:latin typeface="Menlo" panose="020B0609030804020204" pitchFamily="49" charset="0"/>
                <a:ea typeface="Menlo" panose="020B0609030804020204" pitchFamily="49" charset="0"/>
                <a:cs typeface="Menlo" panose="020B0609030804020204" pitchFamily="49" charset="0"/>
              </a:rPr>
              <a:t>):</a:t>
            </a:r>
          </a:p>
          <a:p>
            <a:r>
              <a:rPr lang="en-US" sz="1000" dirty="0">
                <a:solidFill>
                  <a:srgbClr val="0070C0"/>
                </a:solidFill>
                <a:latin typeface="Menlo" panose="020B0609030804020204" pitchFamily="49" charset="0"/>
                <a:ea typeface="Menlo" panose="020B0609030804020204" pitchFamily="49" charset="0"/>
                <a:cs typeface="Menlo" panose="020B0609030804020204" pitchFamily="49" charset="0"/>
              </a:rPr>
              <a:t>    </a:t>
            </a:r>
            <a:r>
              <a:rPr lang="en-US" sz="1000" dirty="0" err="1">
                <a:solidFill>
                  <a:srgbClr val="0070C0"/>
                </a:solidFill>
                <a:latin typeface="Menlo" panose="020B0609030804020204" pitchFamily="49" charset="0"/>
                <a:ea typeface="Menlo" panose="020B0609030804020204" pitchFamily="49" charset="0"/>
                <a:cs typeface="Menlo" panose="020B0609030804020204" pitchFamily="49" charset="0"/>
              </a:rPr>
              <a:t>rng.shuffle</a:t>
            </a:r>
            <a:r>
              <a:rPr lang="en-US" sz="1000" dirty="0">
                <a:solidFill>
                  <a:srgbClr val="0070C0"/>
                </a:solidFill>
                <a:latin typeface="Menlo" panose="020B0609030804020204" pitchFamily="49" charset="0"/>
                <a:ea typeface="Menlo" panose="020B0609030804020204" pitchFamily="49" charset="0"/>
                <a:cs typeface="Menlo" panose="020B0609030804020204" pitchFamily="49" charset="0"/>
              </a:rPr>
              <a:t>(C, axis = 0)</a:t>
            </a:r>
          </a:p>
          <a:p>
            <a:r>
              <a:rPr lang="en-US" sz="1000" dirty="0">
                <a:solidFill>
                  <a:srgbClr val="0070C0"/>
                </a:solidFill>
                <a:latin typeface="Menlo" panose="020B0609030804020204" pitchFamily="49" charset="0"/>
                <a:ea typeface="Menlo" panose="020B0609030804020204" pitchFamily="49" charset="0"/>
                <a:cs typeface="Menlo" panose="020B0609030804020204" pitchFamily="49" charset="0"/>
              </a:rPr>
              <a:t>    split1 = C[:N]</a:t>
            </a:r>
          </a:p>
          <a:p>
            <a:r>
              <a:rPr lang="en-US" sz="1000" dirty="0">
                <a:solidFill>
                  <a:srgbClr val="0070C0"/>
                </a:solidFill>
                <a:latin typeface="Menlo" panose="020B0609030804020204" pitchFamily="49" charset="0"/>
                <a:ea typeface="Menlo" panose="020B0609030804020204" pitchFamily="49" charset="0"/>
                <a:cs typeface="Menlo" panose="020B0609030804020204" pitchFamily="49" charset="0"/>
              </a:rPr>
              <a:t>    split2 = C[N:]</a:t>
            </a:r>
          </a:p>
          <a:p>
            <a:r>
              <a:rPr lang="en-US" sz="1000" dirty="0">
                <a:solidFill>
                  <a:srgbClr val="0070C0"/>
                </a:solidFill>
                <a:latin typeface="Menlo" panose="020B0609030804020204" pitchFamily="49" charset="0"/>
                <a:ea typeface="Menlo" panose="020B0609030804020204" pitchFamily="49" charset="0"/>
                <a:cs typeface="Menlo" panose="020B0609030804020204" pitchFamily="49" charset="0"/>
              </a:rPr>
              <a:t>    diffs[ii] = </a:t>
            </a:r>
            <a:r>
              <a:rPr lang="en-US" sz="1000" dirty="0" err="1">
                <a:solidFill>
                  <a:srgbClr val="0070C0"/>
                </a:solidFill>
                <a:latin typeface="Menlo" panose="020B0609030804020204" pitchFamily="49" charset="0"/>
                <a:ea typeface="Menlo" panose="020B0609030804020204" pitchFamily="49" charset="0"/>
                <a:cs typeface="Menlo" panose="020B0609030804020204" pitchFamily="49" charset="0"/>
              </a:rPr>
              <a:t>np.abs</a:t>
            </a:r>
            <a:r>
              <a:rPr lang="en-US" sz="1000" dirty="0">
                <a:solidFill>
                  <a:srgbClr val="0070C0"/>
                </a:solidFill>
                <a:latin typeface="Menlo" panose="020B0609030804020204" pitchFamily="49" charset="0"/>
                <a:ea typeface="Menlo" panose="020B0609030804020204" pitchFamily="49" charset="0"/>
                <a:cs typeface="Menlo" panose="020B0609030804020204" pitchFamily="49" charset="0"/>
              </a:rPr>
              <a:t>(</a:t>
            </a:r>
            <a:r>
              <a:rPr lang="en-US" sz="1000" dirty="0" err="1">
                <a:solidFill>
                  <a:srgbClr val="0070C0"/>
                </a:solidFill>
                <a:latin typeface="Menlo" panose="020B0609030804020204" pitchFamily="49" charset="0"/>
                <a:ea typeface="Menlo" panose="020B0609030804020204" pitchFamily="49" charset="0"/>
                <a:cs typeface="Menlo" panose="020B0609030804020204" pitchFamily="49" charset="0"/>
              </a:rPr>
              <a:t>np.mean</a:t>
            </a:r>
            <a:r>
              <a:rPr lang="en-US" sz="1000" dirty="0">
                <a:solidFill>
                  <a:srgbClr val="0070C0"/>
                </a:solidFill>
                <a:latin typeface="Menlo" panose="020B0609030804020204" pitchFamily="49" charset="0"/>
                <a:ea typeface="Menlo" panose="020B0609030804020204" pitchFamily="49" charset="0"/>
                <a:cs typeface="Menlo" panose="020B0609030804020204" pitchFamily="49" charset="0"/>
              </a:rPr>
              <a:t>(split2) - </a:t>
            </a:r>
            <a:r>
              <a:rPr lang="en-US" sz="1000" dirty="0" err="1">
                <a:solidFill>
                  <a:srgbClr val="0070C0"/>
                </a:solidFill>
                <a:latin typeface="Menlo" panose="020B0609030804020204" pitchFamily="49" charset="0"/>
                <a:ea typeface="Menlo" panose="020B0609030804020204" pitchFamily="49" charset="0"/>
                <a:cs typeface="Menlo" panose="020B0609030804020204" pitchFamily="49" charset="0"/>
              </a:rPr>
              <a:t>np.mean</a:t>
            </a:r>
            <a:r>
              <a:rPr lang="en-US" sz="1000" dirty="0">
                <a:solidFill>
                  <a:srgbClr val="0070C0"/>
                </a:solidFill>
                <a:latin typeface="Menlo" panose="020B0609030804020204" pitchFamily="49" charset="0"/>
                <a:ea typeface="Menlo" panose="020B0609030804020204" pitchFamily="49" charset="0"/>
                <a:cs typeface="Menlo" panose="020B0609030804020204" pitchFamily="49" charset="0"/>
              </a:rPr>
              <a:t>(split1))</a:t>
            </a:r>
          </a:p>
          <a:p>
            <a:r>
              <a:rPr lang="en-US" sz="1000" dirty="0">
                <a:solidFill>
                  <a:srgbClr val="0070C0"/>
                </a:solidFill>
                <a:latin typeface="Menlo" panose="020B0609030804020204" pitchFamily="49" charset="0"/>
                <a:ea typeface="Menlo" panose="020B0609030804020204" pitchFamily="49" charset="0"/>
                <a:cs typeface="Menlo" panose="020B0609030804020204" pitchFamily="49" charset="0"/>
              </a:rPr>
              <a:t>        </a:t>
            </a:r>
          </a:p>
          <a:p>
            <a:r>
              <a:rPr lang="en-US" sz="1000" dirty="0">
                <a:solidFill>
                  <a:srgbClr val="0070C0"/>
                </a:solidFill>
                <a:latin typeface="Menlo" panose="020B0609030804020204" pitchFamily="49" charset="0"/>
                <a:ea typeface="Menlo" panose="020B0609030804020204" pitchFamily="49" charset="0"/>
                <a:cs typeface="Menlo" panose="020B0609030804020204" pitchFamily="49" charset="0"/>
              </a:rPr>
              <a:t>    if diffs[ii] &gt;= </a:t>
            </a:r>
            <a:r>
              <a:rPr lang="en-US" sz="1000" dirty="0" err="1">
                <a:solidFill>
                  <a:srgbClr val="0070C0"/>
                </a:solidFill>
                <a:latin typeface="Menlo" panose="020B0609030804020204" pitchFamily="49" charset="0"/>
                <a:ea typeface="Menlo" panose="020B0609030804020204" pitchFamily="49" charset="0"/>
                <a:cs typeface="Menlo" panose="020B0609030804020204" pitchFamily="49" charset="0"/>
              </a:rPr>
              <a:t>diff_AB</a:t>
            </a:r>
            <a:r>
              <a:rPr lang="en-US" sz="1000" dirty="0">
                <a:solidFill>
                  <a:srgbClr val="0070C0"/>
                </a:solidFill>
                <a:latin typeface="Menlo" panose="020B0609030804020204" pitchFamily="49" charset="0"/>
                <a:ea typeface="Menlo" panose="020B0609030804020204" pitchFamily="49" charset="0"/>
                <a:cs typeface="Menlo" panose="020B0609030804020204" pitchFamily="49" charset="0"/>
              </a:rPr>
              <a:t>:</a:t>
            </a:r>
          </a:p>
          <a:p>
            <a:r>
              <a:rPr lang="en-US" sz="1000" dirty="0">
                <a:solidFill>
                  <a:srgbClr val="0070C0"/>
                </a:solidFill>
                <a:latin typeface="Menlo" panose="020B0609030804020204" pitchFamily="49" charset="0"/>
                <a:ea typeface="Menlo" panose="020B0609030804020204" pitchFamily="49" charset="0"/>
                <a:cs typeface="Menlo" panose="020B0609030804020204" pitchFamily="49" charset="0"/>
              </a:rPr>
              <a:t>        counter += 1</a:t>
            </a:r>
          </a:p>
          <a:p>
            <a:endParaRPr lang="en-US" sz="1000" dirty="0">
              <a:solidFill>
                <a:srgbClr val="0070C0"/>
              </a:solidFill>
              <a:latin typeface="Menlo" panose="020B0609030804020204" pitchFamily="49" charset="0"/>
              <a:ea typeface="Menlo" panose="020B0609030804020204" pitchFamily="49" charset="0"/>
              <a:cs typeface="Menlo" panose="020B0609030804020204" pitchFamily="49" charset="0"/>
            </a:endParaRPr>
          </a:p>
          <a:p>
            <a:r>
              <a:rPr lang="en-US" sz="1000" dirty="0" err="1">
                <a:solidFill>
                  <a:srgbClr val="0070C0"/>
                </a:solidFill>
                <a:latin typeface="Menlo" panose="020B0609030804020204" pitchFamily="49" charset="0"/>
                <a:ea typeface="Menlo" panose="020B0609030804020204" pitchFamily="49" charset="0"/>
                <a:cs typeface="Menlo" panose="020B0609030804020204" pitchFamily="49" charset="0"/>
              </a:rPr>
              <a:t>diffs_mean</a:t>
            </a:r>
            <a:r>
              <a:rPr lang="en-US" sz="1000" dirty="0">
                <a:solidFill>
                  <a:srgbClr val="0070C0"/>
                </a:solidFill>
                <a:latin typeface="Menlo" panose="020B0609030804020204" pitchFamily="49" charset="0"/>
                <a:ea typeface="Menlo" panose="020B0609030804020204" pitchFamily="49" charset="0"/>
                <a:cs typeface="Menlo" panose="020B0609030804020204" pitchFamily="49" charset="0"/>
              </a:rPr>
              <a:t> = </a:t>
            </a:r>
            <a:r>
              <a:rPr lang="en-US" sz="1000" dirty="0" err="1">
                <a:solidFill>
                  <a:srgbClr val="0070C0"/>
                </a:solidFill>
                <a:latin typeface="Menlo" panose="020B0609030804020204" pitchFamily="49" charset="0"/>
                <a:ea typeface="Menlo" panose="020B0609030804020204" pitchFamily="49" charset="0"/>
                <a:cs typeface="Menlo" panose="020B0609030804020204" pitchFamily="49" charset="0"/>
              </a:rPr>
              <a:t>np.mean</a:t>
            </a:r>
            <a:r>
              <a:rPr lang="en-US" sz="1000" dirty="0">
                <a:solidFill>
                  <a:srgbClr val="0070C0"/>
                </a:solidFill>
                <a:latin typeface="Menlo" panose="020B0609030804020204" pitchFamily="49" charset="0"/>
                <a:ea typeface="Menlo" panose="020B0609030804020204" pitchFamily="49" charset="0"/>
                <a:cs typeface="Menlo" panose="020B0609030804020204" pitchFamily="49" charset="0"/>
              </a:rPr>
              <a:t>(diffs)   </a:t>
            </a:r>
          </a:p>
          <a:p>
            <a:r>
              <a:rPr lang="en-US" sz="1000" dirty="0" err="1">
                <a:solidFill>
                  <a:srgbClr val="0070C0"/>
                </a:solidFill>
                <a:latin typeface="Menlo" panose="020B0609030804020204" pitchFamily="49" charset="0"/>
                <a:ea typeface="Menlo" panose="020B0609030804020204" pitchFamily="49" charset="0"/>
                <a:cs typeface="Menlo" panose="020B0609030804020204" pitchFamily="49" charset="0"/>
              </a:rPr>
              <a:t>diffs_std</a:t>
            </a:r>
            <a:r>
              <a:rPr lang="en-US" sz="1000" dirty="0">
                <a:solidFill>
                  <a:srgbClr val="0070C0"/>
                </a:solidFill>
                <a:latin typeface="Menlo" panose="020B0609030804020204" pitchFamily="49" charset="0"/>
                <a:ea typeface="Menlo" panose="020B0609030804020204" pitchFamily="49" charset="0"/>
                <a:cs typeface="Menlo" panose="020B0609030804020204" pitchFamily="49" charset="0"/>
              </a:rPr>
              <a:t>  = </a:t>
            </a:r>
            <a:r>
              <a:rPr lang="en-US" sz="1000" dirty="0" err="1">
                <a:solidFill>
                  <a:srgbClr val="0070C0"/>
                </a:solidFill>
                <a:latin typeface="Menlo" panose="020B0609030804020204" pitchFamily="49" charset="0"/>
                <a:ea typeface="Menlo" panose="020B0609030804020204" pitchFamily="49" charset="0"/>
                <a:cs typeface="Menlo" panose="020B0609030804020204" pitchFamily="49" charset="0"/>
              </a:rPr>
              <a:t>np.std</a:t>
            </a:r>
            <a:r>
              <a:rPr lang="en-US" sz="1000" dirty="0">
                <a:solidFill>
                  <a:srgbClr val="0070C0"/>
                </a:solidFill>
                <a:latin typeface="Menlo" panose="020B0609030804020204" pitchFamily="49" charset="0"/>
                <a:ea typeface="Menlo" panose="020B0609030804020204" pitchFamily="49" charset="0"/>
                <a:cs typeface="Menlo" panose="020B0609030804020204" pitchFamily="49" charset="0"/>
              </a:rPr>
              <a:t>(diffs)</a:t>
            </a:r>
          </a:p>
          <a:p>
            <a:r>
              <a:rPr lang="en-US" sz="1000" dirty="0">
                <a:solidFill>
                  <a:srgbClr val="0070C0"/>
                </a:solidFill>
                <a:latin typeface="Menlo" panose="020B0609030804020204" pitchFamily="49" charset="0"/>
                <a:ea typeface="Menlo" panose="020B0609030804020204" pitchFamily="49" charset="0"/>
                <a:cs typeface="Menlo" panose="020B0609030804020204" pitchFamily="49" charset="0"/>
              </a:rPr>
              <a:t>print(</a:t>
            </a:r>
            <a:r>
              <a:rPr lang="en-US" sz="1000" dirty="0" err="1">
                <a:solidFill>
                  <a:srgbClr val="0070C0"/>
                </a:solidFill>
                <a:latin typeface="Menlo" panose="020B0609030804020204" pitchFamily="49" charset="0"/>
                <a:ea typeface="Menlo" panose="020B0609030804020204" pitchFamily="49" charset="0"/>
                <a:cs typeface="Menlo" panose="020B0609030804020204" pitchFamily="49" charset="0"/>
              </a:rPr>
              <a:t>f"diff_AB</a:t>
            </a:r>
            <a:r>
              <a:rPr lang="en-US" sz="1000" dirty="0">
                <a:solidFill>
                  <a:srgbClr val="0070C0"/>
                </a:solidFill>
                <a:latin typeface="Menlo" panose="020B0609030804020204" pitchFamily="49" charset="0"/>
                <a:ea typeface="Menlo" panose="020B0609030804020204" pitchFamily="49" charset="0"/>
                <a:cs typeface="Menlo" panose="020B0609030804020204" pitchFamily="49" charset="0"/>
              </a:rPr>
              <a:t>    = {diff_AB:.5f}")    </a:t>
            </a:r>
            <a:r>
              <a:rPr lang="en-US" sz="1000" dirty="0">
                <a:solidFill>
                  <a:srgbClr val="00B050"/>
                </a:solidFill>
                <a:latin typeface="Menlo" panose="020B0609030804020204" pitchFamily="49" charset="0"/>
                <a:ea typeface="Menlo" panose="020B0609030804020204" pitchFamily="49" charset="0"/>
                <a:cs typeface="Menlo" panose="020B0609030804020204" pitchFamily="49" charset="0"/>
              </a:rPr>
              <a:t> # 0.08455</a:t>
            </a:r>
          </a:p>
          <a:p>
            <a:r>
              <a:rPr lang="en-US" sz="1000" dirty="0">
                <a:solidFill>
                  <a:srgbClr val="0070C0"/>
                </a:solidFill>
                <a:latin typeface="Menlo" panose="020B0609030804020204" pitchFamily="49" charset="0"/>
                <a:ea typeface="Menlo" panose="020B0609030804020204" pitchFamily="49" charset="0"/>
                <a:cs typeface="Menlo" panose="020B0609030804020204" pitchFamily="49" charset="0"/>
              </a:rPr>
              <a:t>print(</a:t>
            </a:r>
            <a:r>
              <a:rPr lang="en-US" sz="1000" dirty="0" err="1">
                <a:solidFill>
                  <a:srgbClr val="0070C0"/>
                </a:solidFill>
                <a:latin typeface="Menlo" panose="020B0609030804020204" pitchFamily="49" charset="0"/>
                <a:ea typeface="Menlo" panose="020B0609030804020204" pitchFamily="49" charset="0"/>
                <a:cs typeface="Menlo" panose="020B0609030804020204" pitchFamily="49" charset="0"/>
              </a:rPr>
              <a:t>f"diffs</a:t>
            </a:r>
            <a:r>
              <a:rPr lang="en-US" sz="1000" dirty="0">
                <a:solidFill>
                  <a:srgbClr val="0070C0"/>
                </a:solidFill>
                <a:latin typeface="Menlo" panose="020B0609030804020204" pitchFamily="49" charset="0"/>
                <a:ea typeface="Menlo" panose="020B0609030804020204" pitchFamily="49" charset="0"/>
                <a:cs typeface="Menlo" panose="020B0609030804020204" pitchFamily="49" charset="0"/>
              </a:rPr>
              <a:t> mean = {diffs_mean:.5f}") </a:t>
            </a:r>
            <a:r>
              <a:rPr lang="en-US" sz="1000" dirty="0">
                <a:solidFill>
                  <a:srgbClr val="00B050"/>
                </a:solidFill>
                <a:latin typeface="Menlo" panose="020B0609030804020204" pitchFamily="49" charset="0"/>
                <a:ea typeface="Menlo" panose="020B0609030804020204" pitchFamily="49" charset="0"/>
                <a:cs typeface="Menlo" panose="020B0609030804020204" pitchFamily="49" charset="0"/>
              </a:rPr>
              <a:t> # 0.02254</a:t>
            </a:r>
          </a:p>
          <a:p>
            <a:r>
              <a:rPr lang="en-US" sz="1000" dirty="0">
                <a:solidFill>
                  <a:srgbClr val="0070C0"/>
                </a:solidFill>
                <a:latin typeface="Menlo" panose="020B0609030804020204" pitchFamily="49" charset="0"/>
                <a:ea typeface="Menlo" panose="020B0609030804020204" pitchFamily="49" charset="0"/>
                <a:cs typeface="Menlo" panose="020B0609030804020204" pitchFamily="49" charset="0"/>
              </a:rPr>
              <a:t>print(</a:t>
            </a:r>
            <a:r>
              <a:rPr lang="en-US" sz="1000" dirty="0" err="1">
                <a:solidFill>
                  <a:srgbClr val="0070C0"/>
                </a:solidFill>
                <a:latin typeface="Menlo" panose="020B0609030804020204" pitchFamily="49" charset="0"/>
                <a:ea typeface="Menlo" panose="020B0609030804020204" pitchFamily="49" charset="0"/>
                <a:cs typeface="Menlo" panose="020B0609030804020204" pitchFamily="49" charset="0"/>
              </a:rPr>
              <a:t>f"diffs</a:t>
            </a:r>
            <a:r>
              <a:rPr lang="en-US" sz="1000" dirty="0">
                <a:solidFill>
                  <a:srgbClr val="0070C0"/>
                </a:solidFill>
                <a:latin typeface="Menlo" panose="020B0609030804020204" pitchFamily="49" charset="0"/>
                <a:ea typeface="Menlo" panose="020B0609030804020204" pitchFamily="49" charset="0"/>
                <a:cs typeface="Menlo" panose="020B0609030804020204" pitchFamily="49" charset="0"/>
              </a:rPr>
              <a:t> std  = {diffs_std:.5f}")   </a:t>
            </a:r>
            <a:r>
              <a:rPr lang="en-US" sz="1000" dirty="0">
                <a:solidFill>
                  <a:srgbClr val="00B050"/>
                </a:solidFill>
                <a:latin typeface="Menlo" panose="020B0609030804020204" pitchFamily="49" charset="0"/>
                <a:ea typeface="Menlo" panose="020B0609030804020204" pitchFamily="49" charset="0"/>
                <a:cs typeface="Menlo" panose="020B0609030804020204" pitchFamily="49" charset="0"/>
              </a:rPr>
              <a:t># 0.01734</a:t>
            </a:r>
          </a:p>
          <a:p>
            <a:r>
              <a:rPr lang="en-US" sz="1000" dirty="0">
                <a:solidFill>
                  <a:srgbClr val="0070C0"/>
                </a:solidFill>
                <a:latin typeface="Menlo" panose="020B0609030804020204" pitchFamily="49" charset="0"/>
                <a:ea typeface="Menlo" panose="020B0609030804020204" pitchFamily="49" charset="0"/>
                <a:cs typeface="Menlo" panose="020B0609030804020204" pitchFamily="49" charset="0"/>
              </a:rPr>
              <a:t>print(</a:t>
            </a:r>
            <a:r>
              <a:rPr lang="en-US" sz="1000" dirty="0" err="1">
                <a:solidFill>
                  <a:srgbClr val="0070C0"/>
                </a:solidFill>
                <a:latin typeface="Menlo" panose="020B0609030804020204" pitchFamily="49" charset="0"/>
                <a:ea typeface="Menlo" panose="020B0609030804020204" pitchFamily="49" charset="0"/>
                <a:cs typeface="Menlo" panose="020B0609030804020204" pitchFamily="49" charset="0"/>
              </a:rPr>
              <a:t>f"P</a:t>
            </a:r>
            <a:r>
              <a:rPr lang="en-US" sz="1000" dirty="0">
                <a:solidFill>
                  <a:srgbClr val="0070C0"/>
                </a:solidFill>
                <a:latin typeface="Menlo" panose="020B0609030804020204" pitchFamily="49" charset="0"/>
                <a:ea typeface="Menlo" panose="020B0609030804020204" pitchFamily="49" charset="0"/>
                <a:cs typeface="Menlo" panose="020B0609030804020204" pitchFamily="49" charset="0"/>
              </a:rPr>
              <a:t>-value    = {counter/</a:t>
            </a:r>
            <a:r>
              <a:rPr lang="en-US" sz="1000" dirty="0" err="1">
                <a:solidFill>
                  <a:srgbClr val="0070C0"/>
                </a:solidFill>
                <a:latin typeface="Menlo" panose="020B0609030804020204" pitchFamily="49" charset="0"/>
                <a:ea typeface="Menlo" panose="020B0609030804020204" pitchFamily="49" charset="0"/>
                <a:cs typeface="Menlo" panose="020B0609030804020204" pitchFamily="49" charset="0"/>
              </a:rPr>
              <a:t>N_shuf</a:t>
            </a:r>
            <a:r>
              <a:rPr lang="en-US" sz="1000" dirty="0">
                <a:solidFill>
                  <a:srgbClr val="0070C0"/>
                </a:solidFill>
                <a:latin typeface="Menlo" panose="020B0609030804020204" pitchFamily="49" charset="0"/>
                <a:ea typeface="Menlo" panose="020B0609030804020204" pitchFamily="49" charset="0"/>
                <a:cs typeface="Menlo" panose="020B0609030804020204" pitchFamily="49" charset="0"/>
              </a:rPr>
              <a:t>}") </a:t>
            </a:r>
            <a:r>
              <a:rPr lang="en-US" sz="1000" dirty="0">
                <a:solidFill>
                  <a:srgbClr val="00B050"/>
                </a:solidFill>
                <a:latin typeface="Menlo" panose="020B0609030804020204" pitchFamily="49" charset="0"/>
                <a:ea typeface="Menlo" panose="020B0609030804020204" pitchFamily="49" charset="0"/>
                <a:cs typeface="Menlo" panose="020B0609030804020204" pitchFamily="49" charset="0"/>
              </a:rPr>
              <a:t> # 0.0026   &lt; 0.05 !!!</a:t>
            </a:r>
          </a:p>
          <a:p>
            <a:endParaRPr lang="en-US" sz="1000" dirty="0">
              <a:solidFill>
                <a:srgbClr val="0070C0"/>
              </a:solidFill>
              <a:latin typeface="Menlo" panose="020B0609030804020204" pitchFamily="49" charset="0"/>
              <a:ea typeface="Menlo" panose="020B0609030804020204" pitchFamily="49" charset="0"/>
              <a:cs typeface="Menlo" panose="020B0609030804020204" pitchFamily="49" charset="0"/>
            </a:endParaRPr>
          </a:p>
          <a:p>
            <a:r>
              <a:rPr lang="en-US" sz="1000" dirty="0" err="1">
                <a:solidFill>
                  <a:srgbClr val="0070C0"/>
                </a:solidFill>
                <a:latin typeface="Menlo" panose="020B0609030804020204" pitchFamily="49" charset="0"/>
                <a:ea typeface="Menlo" panose="020B0609030804020204" pitchFamily="49" charset="0"/>
                <a:cs typeface="Menlo" panose="020B0609030804020204" pitchFamily="49" charset="0"/>
              </a:rPr>
              <a:t>plt.rcParams</a:t>
            </a:r>
            <a:r>
              <a:rPr lang="en-US" sz="1000" dirty="0">
                <a:solidFill>
                  <a:srgbClr val="0070C0"/>
                </a:solidFill>
                <a:latin typeface="Menlo" panose="020B0609030804020204" pitchFamily="49" charset="0"/>
                <a:ea typeface="Menlo" panose="020B0609030804020204" pitchFamily="49" charset="0"/>
                <a:cs typeface="Menlo" panose="020B0609030804020204" pitchFamily="49" charset="0"/>
              </a:rPr>
              <a:t>["</a:t>
            </a:r>
            <a:r>
              <a:rPr lang="en-US" sz="1000" dirty="0" err="1">
                <a:solidFill>
                  <a:srgbClr val="0070C0"/>
                </a:solidFill>
                <a:latin typeface="Menlo" panose="020B0609030804020204" pitchFamily="49" charset="0"/>
                <a:ea typeface="Menlo" panose="020B0609030804020204" pitchFamily="49" charset="0"/>
                <a:cs typeface="Menlo" panose="020B0609030804020204" pitchFamily="49" charset="0"/>
              </a:rPr>
              <a:t>figure.figsize</a:t>
            </a:r>
            <a:r>
              <a:rPr lang="en-US" sz="1000" dirty="0">
                <a:solidFill>
                  <a:srgbClr val="0070C0"/>
                </a:solidFill>
                <a:latin typeface="Menlo" panose="020B0609030804020204" pitchFamily="49" charset="0"/>
                <a:ea typeface="Menlo" panose="020B0609030804020204" pitchFamily="49" charset="0"/>
                <a:cs typeface="Menlo" panose="020B0609030804020204" pitchFamily="49" charset="0"/>
              </a:rPr>
              <a:t>"] = (8, 4) # (width, height)</a:t>
            </a:r>
          </a:p>
          <a:p>
            <a:r>
              <a:rPr lang="en-US" sz="1000" dirty="0">
                <a:solidFill>
                  <a:srgbClr val="0070C0"/>
                </a:solidFill>
                <a:latin typeface="Menlo" panose="020B0609030804020204" pitchFamily="49" charset="0"/>
                <a:ea typeface="Menlo" panose="020B0609030804020204" pitchFamily="49" charset="0"/>
                <a:cs typeface="Menlo" panose="020B0609030804020204" pitchFamily="49" charset="0"/>
              </a:rPr>
              <a:t>fig, ax = </a:t>
            </a:r>
            <a:r>
              <a:rPr lang="en-US" sz="1000" dirty="0" err="1">
                <a:solidFill>
                  <a:srgbClr val="0070C0"/>
                </a:solidFill>
                <a:latin typeface="Menlo" panose="020B0609030804020204" pitchFamily="49" charset="0"/>
                <a:ea typeface="Menlo" panose="020B0609030804020204" pitchFamily="49" charset="0"/>
                <a:cs typeface="Menlo" panose="020B0609030804020204" pitchFamily="49" charset="0"/>
              </a:rPr>
              <a:t>plt.subplots</a:t>
            </a:r>
            <a:r>
              <a:rPr lang="en-US" sz="1000" dirty="0">
                <a:solidFill>
                  <a:srgbClr val="0070C0"/>
                </a:solidFill>
                <a:latin typeface="Menlo" panose="020B0609030804020204" pitchFamily="49" charset="0"/>
                <a:ea typeface="Menlo" panose="020B0609030804020204" pitchFamily="49" charset="0"/>
                <a:cs typeface="Menlo" panose="020B0609030804020204" pitchFamily="49" charset="0"/>
              </a:rPr>
              <a:t>(</a:t>
            </a:r>
            <a:r>
              <a:rPr lang="en-US" sz="1000" dirty="0" err="1">
                <a:solidFill>
                  <a:srgbClr val="0070C0"/>
                </a:solidFill>
                <a:latin typeface="Menlo" panose="020B0609030804020204" pitchFamily="49" charset="0"/>
                <a:ea typeface="Menlo" panose="020B0609030804020204" pitchFamily="49" charset="0"/>
                <a:cs typeface="Menlo" panose="020B0609030804020204" pitchFamily="49" charset="0"/>
              </a:rPr>
              <a:t>nrows</a:t>
            </a:r>
            <a:r>
              <a:rPr lang="en-US" sz="1000" dirty="0">
                <a:solidFill>
                  <a:srgbClr val="0070C0"/>
                </a:solidFill>
                <a:latin typeface="Menlo" panose="020B0609030804020204" pitchFamily="49" charset="0"/>
                <a:ea typeface="Menlo" panose="020B0609030804020204" pitchFamily="49" charset="0"/>
                <a:cs typeface="Menlo" panose="020B0609030804020204" pitchFamily="49" charset="0"/>
              </a:rPr>
              <a:t>=1, </a:t>
            </a:r>
            <a:r>
              <a:rPr lang="en-US" sz="1000" dirty="0" err="1">
                <a:solidFill>
                  <a:srgbClr val="0070C0"/>
                </a:solidFill>
                <a:latin typeface="Menlo" panose="020B0609030804020204" pitchFamily="49" charset="0"/>
                <a:ea typeface="Menlo" panose="020B0609030804020204" pitchFamily="49" charset="0"/>
                <a:cs typeface="Menlo" panose="020B0609030804020204" pitchFamily="49" charset="0"/>
              </a:rPr>
              <a:t>ncols</a:t>
            </a:r>
            <a:r>
              <a:rPr lang="en-US" sz="1000" dirty="0">
                <a:solidFill>
                  <a:srgbClr val="0070C0"/>
                </a:solidFill>
                <a:latin typeface="Menlo" panose="020B0609030804020204" pitchFamily="49" charset="0"/>
                <a:ea typeface="Menlo" panose="020B0609030804020204" pitchFamily="49" charset="0"/>
                <a:cs typeface="Menlo" panose="020B0609030804020204" pitchFamily="49" charset="0"/>
              </a:rPr>
              <a:t>=1)</a:t>
            </a:r>
          </a:p>
          <a:p>
            <a:r>
              <a:rPr lang="en-US" sz="1000" dirty="0" err="1">
                <a:solidFill>
                  <a:srgbClr val="0070C0"/>
                </a:solidFill>
                <a:latin typeface="Menlo" panose="020B0609030804020204" pitchFamily="49" charset="0"/>
                <a:ea typeface="Menlo" panose="020B0609030804020204" pitchFamily="49" charset="0"/>
                <a:cs typeface="Menlo" panose="020B0609030804020204" pitchFamily="49" charset="0"/>
              </a:rPr>
              <a:t>ax.hist</a:t>
            </a:r>
            <a:r>
              <a:rPr lang="en-US" sz="1000" dirty="0">
                <a:solidFill>
                  <a:srgbClr val="0070C0"/>
                </a:solidFill>
                <a:latin typeface="Menlo" panose="020B0609030804020204" pitchFamily="49" charset="0"/>
                <a:ea typeface="Menlo" panose="020B0609030804020204" pitchFamily="49" charset="0"/>
                <a:cs typeface="Menlo" panose="020B0609030804020204" pitchFamily="49" charset="0"/>
              </a:rPr>
              <a:t>(</a:t>
            </a:r>
            <a:r>
              <a:rPr lang="en-US" sz="1000" dirty="0" err="1">
                <a:solidFill>
                  <a:srgbClr val="0070C0"/>
                </a:solidFill>
                <a:latin typeface="Menlo" panose="020B0609030804020204" pitchFamily="49" charset="0"/>
                <a:ea typeface="Menlo" panose="020B0609030804020204" pitchFamily="49" charset="0"/>
                <a:cs typeface="Menlo" panose="020B0609030804020204" pitchFamily="49" charset="0"/>
              </a:rPr>
              <a:t>diffs,bins</a:t>
            </a:r>
            <a:r>
              <a:rPr lang="en-US" sz="1000" dirty="0">
                <a:solidFill>
                  <a:srgbClr val="0070C0"/>
                </a:solidFill>
                <a:latin typeface="Menlo" panose="020B0609030804020204" pitchFamily="49" charset="0"/>
                <a:ea typeface="Menlo" panose="020B0609030804020204" pitchFamily="49" charset="0"/>
                <a:cs typeface="Menlo" panose="020B0609030804020204" pitchFamily="49" charset="0"/>
              </a:rPr>
              <a:t>=100)</a:t>
            </a:r>
          </a:p>
          <a:p>
            <a:r>
              <a:rPr lang="en-US" sz="1000" dirty="0" err="1">
                <a:solidFill>
                  <a:srgbClr val="0070C0"/>
                </a:solidFill>
                <a:latin typeface="Menlo" panose="020B0609030804020204" pitchFamily="49" charset="0"/>
                <a:ea typeface="Menlo" panose="020B0609030804020204" pitchFamily="49" charset="0"/>
                <a:cs typeface="Menlo" panose="020B0609030804020204" pitchFamily="49" charset="0"/>
              </a:rPr>
              <a:t>ax.set_xlim</a:t>
            </a:r>
            <a:r>
              <a:rPr lang="en-US" sz="1000" dirty="0">
                <a:solidFill>
                  <a:srgbClr val="0070C0"/>
                </a:solidFill>
                <a:latin typeface="Menlo" panose="020B0609030804020204" pitchFamily="49" charset="0"/>
                <a:ea typeface="Menlo" panose="020B0609030804020204" pitchFamily="49" charset="0"/>
                <a:cs typeface="Menlo" panose="020B0609030804020204" pitchFamily="49" charset="0"/>
              </a:rPr>
              <a:t>(left=0,right=0.2)</a:t>
            </a:r>
          </a:p>
          <a:p>
            <a:r>
              <a:rPr lang="en-US" sz="1000" dirty="0" err="1">
                <a:solidFill>
                  <a:srgbClr val="0070C0"/>
                </a:solidFill>
                <a:latin typeface="Menlo" panose="020B0609030804020204" pitchFamily="49" charset="0"/>
                <a:ea typeface="Menlo" panose="020B0609030804020204" pitchFamily="49" charset="0"/>
                <a:cs typeface="Menlo" panose="020B0609030804020204" pitchFamily="49" charset="0"/>
              </a:rPr>
              <a:t>plt.show</a:t>
            </a:r>
            <a:r>
              <a:rPr lang="en-US" sz="1000" dirty="0">
                <a:solidFill>
                  <a:srgbClr val="0070C0"/>
                </a:solidFill>
                <a:latin typeface="Menlo" panose="020B0609030804020204" pitchFamily="49" charset="0"/>
                <a:ea typeface="Menlo" panose="020B0609030804020204" pitchFamily="49" charset="0"/>
                <a:cs typeface="Menlo" panose="020B0609030804020204" pitchFamily="49" charset="0"/>
              </a:rPr>
              <a:t>();</a:t>
            </a:r>
          </a:p>
        </p:txBody>
      </p:sp>
      <p:pic>
        <p:nvPicPr>
          <p:cNvPr id="11" name="Picture 10">
            <a:extLst>
              <a:ext uri="{FF2B5EF4-FFF2-40B4-BE49-F238E27FC236}">
                <a16:creationId xmlns:a16="http://schemas.microsoft.com/office/drawing/2014/main" id="{819CECB9-FA40-2B4A-8E80-911C091D3BD6}"/>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583407" y="3579188"/>
            <a:ext cx="2130703" cy="1072566"/>
          </a:xfrm>
          <a:prstGeom prst="rect">
            <a:avLst/>
          </a:prstGeom>
        </p:spPr>
      </p:pic>
      <p:sp>
        <p:nvSpPr>
          <p:cNvPr id="12" name="TextBox 11">
            <a:extLst>
              <a:ext uri="{FF2B5EF4-FFF2-40B4-BE49-F238E27FC236}">
                <a16:creationId xmlns:a16="http://schemas.microsoft.com/office/drawing/2014/main" id="{99770D08-03F1-D24C-A73C-37974E179C5F}"/>
              </a:ext>
            </a:extLst>
          </p:cNvPr>
          <p:cNvSpPr txBox="1"/>
          <p:nvPr/>
        </p:nvSpPr>
        <p:spPr>
          <a:xfrm>
            <a:off x="853562" y="3242523"/>
            <a:ext cx="3566009" cy="307777"/>
          </a:xfrm>
          <a:prstGeom prst="rect">
            <a:avLst/>
          </a:prstGeom>
          <a:noFill/>
        </p:spPr>
        <p:txBody>
          <a:bodyPr wrap="square" rtlCol="0">
            <a:spAutoFit/>
          </a:bodyPr>
          <a:lstStyle/>
          <a:p>
            <a:pPr algn="ctr"/>
            <a:r>
              <a:rPr lang="en-US" dirty="0">
                <a:solidFill>
                  <a:srgbClr val="0070C0"/>
                </a:solidFill>
                <a:latin typeface="+mj-lt"/>
                <a:ea typeface="Menlo" panose="020B0609030804020204" pitchFamily="49" charset="0"/>
                <a:cs typeface="Menlo" panose="020B0609030804020204" pitchFamily="49" charset="0"/>
              </a:rPr>
              <a:t>Distribution of diffs of shuffled parts</a:t>
            </a:r>
          </a:p>
        </p:txBody>
      </p:sp>
      <p:sp>
        <p:nvSpPr>
          <p:cNvPr id="13" name="TextBox 12">
            <a:extLst>
              <a:ext uri="{FF2B5EF4-FFF2-40B4-BE49-F238E27FC236}">
                <a16:creationId xmlns:a16="http://schemas.microsoft.com/office/drawing/2014/main" id="{86023C08-35C4-CF4E-B4AF-CFB2312D7594}"/>
              </a:ext>
            </a:extLst>
          </p:cNvPr>
          <p:cNvSpPr txBox="1"/>
          <p:nvPr/>
        </p:nvSpPr>
        <p:spPr>
          <a:xfrm>
            <a:off x="5316398" y="4322989"/>
            <a:ext cx="1478290" cy="461665"/>
          </a:xfrm>
          <a:prstGeom prst="rect">
            <a:avLst/>
          </a:prstGeom>
          <a:noFill/>
        </p:spPr>
        <p:txBody>
          <a:bodyPr wrap="none" rtlCol="0">
            <a:spAutoFit/>
          </a:bodyPr>
          <a:lstStyle/>
          <a:p>
            <a:r>
              <a:rPr lang="en-US" sz="1200" dirty="0">
                <a:solidFill>
                  <a:srgbClr val="00B050"/>
                </a:solidFill>
                <a:latin typeface="Calibri" panose="020F0502020204030204" pitchFamily="34" charset="0"/>
                <a:cs typeface="Calibri" panose="020F0502020204030204" pitchFamily="34" charset="0"/>
              </a:rPr>
              <a:t>P-value is estimated </a:t>
            </a:r>
          </a:p>
          <a:p>
            <a:r>
              <a:rPr lang="en-US" sz="1200" dirty="0">
                <a:solidFill>
                  <a:srgbClr val="00B050"/>
                </a:solidFill>
                <a:latin typeface="Calibri" panose="020F0502020204030204" pitchFamily="34" charset="0"/>
                <a:cs typeface="Calibri" panose="020F0502020204030204" pitchFamily="34" charset="0"/>
              </a:rPr>
              <a:t>by counting</a:t>
            </a:r>
          </a:p>
        </p:txBody>
      </p:sp>
      <p:sp>
        <p:nvSpPr>
          <p:cNvPr id="14" name="Right Arrow 13">
            <a:extLst>
              <a:ext uri="{FF2B5EF4-FFF2-40B4-BE49-F238E27FC236}">
                <a16:creationId xmlns:a16="http://schemas.microsoft.com/office/drawing/2014/main" id="{36A8D943-90BE-FB4B-B711-182B969661B6}"/>
              </a:ext>
            </a:extLst>
          </p:cNvPr>
          <p:cNvSpPr/>
          <p:nvPr/>
        </p:nvSpPr>
        <p:spPr>
          <a:xfrm>
            <a:off x="6742130" y="4443055"/>
            <a:ext cx="457532" cy="178375"/>
          </a:xfrm>
          <a:prstGeom prst="rightArrow">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5A62F9F1-3396-C540-ACEF-C2F3ECF4FAA2}"/>
              </a:ext>
            </a:extLst>
          </p:cNvPr>
          <p:cNvSpPr txBox="1"/>
          <p:nvPr/>
        </p:nvSpPr>
        <p:spPr>
          <a:xfrm>
            <a:off x="85344" y="4734342"/>
            <a:ext cx="4904156" cy="2123658"/>
          </a:xfrm>
          <a:prstGeom prst="rect">
            <a:avLst/>
          </a:prstGeom>
          <a:noFill/>
        </p:spPr>
        <p:txBody>
          <a:bodyPr wrap="square" rtlCol="0">
            <a:spAutoFit/>
          </a:bodyPr>
          <a:lstStyle/>
          <a:p>
            <a:r>
              <a:rPr lang="en-US" sz="1100" dirty="0">
                <a:solidFill>
                  <a:srgbClr val="0070C0"/>
                </a:solidFill>
                <a:latin typeface="Menlo" panose="020B0609030804020204" pitchFamily="49" charset="0"/>
                <a:ea typeface="Menlo" panose="020B0609030804020204" pitchFamily="49" charset="0"/>
                <a:cs typeface="Menlo" panose="020B0609030804020204" pitchFamily="49" charset="0"/>
              </a:rPr>
              <a:t>import </a:t>
            </a:r>
            <a:r>
              <a:rPr lang="en-US" sz="1100" dirty="0" err="1">
                <a:solidFill>
                  <a:srgbClr val="0070C0"/>
                </a:solidFill>
                <a:latin typeface="Menlo" panose="020B0609030804020204" pitchFamily="49" charset="0"/>
                <a:ea typeface="Menlo" panose="020B0609030804020204" pitchFamily="49" charset="0"/>
                <a:cs typeface="Menlo" panose="020B0609030804020204" pitchFamily="49" charset="0"/>
              </a:rPr>
              <a:t>numpy</a:t>
            </a:r>
            <a:r>
              <a:rPr lang="en-US" sz="1100" dirty="0">
                <a:solidFill>
                  <a:srgbClr val="0070C0"/>
                </a:solidFill>
                <a:latin typeface="Menlo" panose="020B0609030804020204" pitchFamily="49" charset="0"/>
                <a:ea typeface="Menlo" panose="020B0609030804020204" pitchFamily="49" charset="0"/>
                <a:cs typeface="Menlo" panose="020B0609030804020204" pitchFamily="49" charset="0"/>
              </a:rPr>
              <a:t> as np </a:t>
            </a:r>
          </a:p>
          <a:p>
            <a:r>
              <a:rPr lang="en-US" sz="1100" dirty="0">
                <a:solidFill>
                  <a:srgbClr val="0070C0"/>
                </a:solidFill>
                <a:latin typeface="Menlo" panose="020B0609030804020204" pitchFamily="49" charset="0"/>
                <a:ea typeface="Menlo" panose="020B0609030804020204" pitchFamily="49" charset="0"/>
                <a:cs typeface="Menlo" panose="020B0609030804020204" pitchFamily="49" charset="0"/>
              </a:rPr>
              <a:t>from </a:t>
            </a:r>
            <a:r>
              <a:rPr lang="en-US" sz="1100" dirty="0" err="1">
                <a:solidFill>
                  <a:srgbClr val="0070C0"/>
                </a:solidFill>
                <a:latin typeface="Menlo" panose="020B0609030804020204" pitchFamily="49" charset="0"/>
                <a:ea typeface="Menlo" panose="020B0609030804020204" pitchFamily="49" charset="0"/>
                <a:cs typeface="Menlo" panose="020B0609030804020204" pitchFamily="49" charset="0"/>
              </a:rPr>
              <a:t>sklearn.model_selection</a:t>
            </a:r>
            <a:r>
              <a:rPr lang="en-US" sz="1100" dirty="0">
                <a:solidFill>
                  <a:srgbClr val="0070C0"/>
                </a:solidFill>
                <a:latin typeface="Menlo" panose="020B0609030804020204" pitchFamily="49" charset="0"/>
                <a:ea typeface="Menlo" panose="020B0609030804020204" pitchFamily="49" charset="0"/>
                <a:cs typeface="Menlo" panose="020B0609030804020204" pitchFamily="49" charset="0"/>
              </a:rPr>
              <a:t> import </a:t>
            </a:r>
            <a:r>
              <a:rPr lang="en-US" sz="1100" dirty="0" err="1">
                <a:solidFill>
                  <a:srgbClr val="0070C0"/>
                </a:solidFill>
                <a:latin typeface="Menlo" panose="020B0609030804020204" pitchFamily="49" charset="0"/>
                <a:ea typeface="Menlo" panose="020B0609030804020204" pitchFamily="49" charset="0"/>
                <a:cs typeface="Menlo" panose="020B0609030804020204" pitchFamily="49" charset="0"/>
              </a:rPr>
              <a:t>train_test_split</a:t>
            </a:r>
            <a:r>
              <a:rPr lang="en-US" sz="1100" dirty="0">
                <a:solidFill>
                  <a:srgbClr val="0070C0"/>
                </a:solidFill>
                <a:latin typeface="Menlo" panose="020B0609030804020204" pitchFamily="49" charset="0"/>
                <a:ea typeface="Menlo" panose="020B0609030804020204" pitchFamily="49" charset="0"/>
                <a:cs typeface="Menlo" panose="020B0609030804020204" pitchFamily="49" charset="0"/>
              </a:rPr>
              <a:t> </a:t>
            </a:r>
          </a:p>
          <a:p>
            <a:r>
              <a:rPr lang="en-US" sz="1100" dirty="0">
                <a:solidFill>
                  <a:srgbClr val="0070C0"/>
                </a:solidFill>
                <a:latin typeface="Menlo" panose="020B0609030804020204" pitchFamily="49" charset="0"/>
                <a:ea typeface="Menlo" panose="020B0609030804020204" pitchFamily="49" charset="0"/>
                <a:cs typeface="Menlo" panose="020B0609030804020204" pitchFamily="49" charset="0"/>
              </a:rPr>
              <a:t>data = </a:t>
            </a:r>
            <a:r>
              <a:rPr lang="en-US" sz="1100" dirty="0" err="1">
                <a:solidFill>
                  <a:srgbClr val="0070C0"/>
                </a:solidFill>
                <a:latin typeface="Menlo" panose="020B0609030804020204" pitchFamily="49" charset="0"/>
                <a:ea typeface="Menlo" panose="020B0609030804020204" pitchFamily="49" charset="0"/>
                <a:cs typeface="Menlo" panose="020B0609030804020204" pitchFamily="49" charset="0"/>
              </a:rPr>
              <a:t>np.random.random</a:t>
            </a:r>
            <a:r>
              <a:rPr lang="en-US" sz="1100" dirty="0">
                <a:solidFill>
                  <a:srgbClr val="0070C0"/>
                </a:solidFill>
                <a:latin typeface="Menlo" panose="020B0609030804020204" pitchFamily="49" charset="0"/>
                <a:ea typeface="Menlo" panose="020B0609030804020204" pitchFamily="49" charset="0"/>
                <a:cs typeface="Menlo" panose="020B0609030804020204" pitchFamily="49" charset="0"/>
              </a:rPr>
              <a:t>(2*N)</a:t>
            </a:r>
          </a:p>
          <a:p>
            <a:endParaRPr lang="en-US" sz="1100" dirty="0">
              <a:solidFill>
                <a:srgbClr val="0070C0"/>
              </a:solidFill>
              <a:latin typeface="Menlo" panose="020B0609030804020204" pitchFamily="49" charset="0"/>
              <a:ea typeface="Menlo" panose="020B0609030804020204" pitchFamily="49" charset="0"/>
              <a:cs typeface="Menlo" panose="020B0609030804020204" pitchFamily="49" charset="0"/>
            </a:endParaRPr>
          </a:p>
          <a:p>
            <a:r>
              <a:rPr lang="en-US" sz="1100" dirty="0">
                <a:solidFill>
                  <a:srgbClr val="00B050"/>
                </a:solidFill>
                <a:latin typeface="Menlo" panose="020B0609030804020204" pitchFamily="49" charset="0"/>
                <a:ea typeface="Menlo" panose="020B0609030804020204" pitchFamily="49" charset="0"/>
                <a:cs typeface="Menlo" panose="020B0609030804020204" pitchFamily="49" charset="0"/>
              </a:rPr>
              <a:t># how to shuffle using </a:t>
            </a:r>
            <a:r>
              <a:rPr lang="en-US" sz="1100" dirty="0" err="1">
                <a:solidFill>
                  <a:srgbClr val="00B050"/>
                </a:solidFill>
                <a:latin typeface="Menlo" panose="020B0609030804020204" pitchFamily="49" charset="0"/>
                <a:ea typeface="Menlo" panose="020B0609030804020204" pitchFamily="49" charset="0"/>
                <a:cs typeface="Menlo" panose="020B0609030804020204" pitchFamily="49" charset="0"/>
              </a:rPr>
              <a:t>sklearn</a:t>
            </a:r>
            <a:r>
              <a:rPr lang="en-US" sz="1100" dirty="0">
                <a:solidFill>
                  <a:srgbClr val="00B050"/>
                </a:solidFill>
                <a:latin typeface="Menlo" panose="020B0609030804020204" pitchFamily="49" charset="0"/>
                <a:ea typeface="Menlo" panose="020B0609030804020204" pitchFamily="49" charset="0"/>
                <a:cs typeface="Menlo" panose="020B0609030804020204" pitchFamily="49" charset="0"/>
              </a:rPr>
              <a:t> </a:t>
            </a:r>
            <a:r>
              <a:rPr lang="en-US" sz="1100" dirty="0" err="1">
                <a:solidFill>
                  <a:srgbClr val="00B050"/>
                </a:solidFill>
                <a:latin typeface="Menlo" panose="020B0609030804020204" pitchFamily="49" charset="0"/>
                <a:ea typeface="Menlo" panose="020B0609030804020204" pitchFamily="49" charset="0"/>
                <a:cs typeface="Menlo" panose="020B0609030804020204" pitchFamily="49" charset="0"/>
              </a:rPr>
              <a:t>train_test_split</a:t>
            </a:r>
            <a:r>
              <a:rPr lang="en-US" sz="1100" dirty="0">
                <a:solidFill>
                  <a:srgbClr val="00B050"/>
                </a:solidFill>
                <a:latin typeface="Menlo" panose="020B0609030804020204" pitchFamily="49" charset="0"/>
                <a:ea typeface="Menlo" panose="020B0609030804020204" pitchFamily="49" charset="0"/>
                <a:cs typeface="Menlo" panose="020B0609030804020204" pitchFamily="49" charset="0"/>
              </a:rPr>
              <a:t>()</a:t>
            </a:r>
          </a:p>
          <a:p>
            <a:r>
              <a:rPr lang="en-US" sz="1100" dirty="0">
                <a:solidFill>
                  <a:srgbClr val="0070C0"/>
                </a:solidFill>
                <a:latin typeface="Menlo" panose="020B0609030804020204" pitchFamily="49" charset="0"/>
                <a:ea typeface="Menlo" panose="020B0609030804020204" pitchFamily="49" charset="0"/>
                <a:cs typeface="Menlo" panose="020B0609030804020204" pitchFamily="49" charset="0"/>
              </a:rPr>
              <a:t>X1, X2 = </a:t>
            </a:r>
            <a:r>
              <a:rPr lang="en-US" sz="1100" dirty="0" err="1">
                <a:solidFill>
                  <a:srgbClr val="0070C0"/>
                </a:solidFill>
                <a:latin typeface="Menlo" panose="020B0609030804020204" pitchFamily="49" charset="0"/>
                <a:ea typeface="Menlo" panose="020B0609030804020204" pitchFamily="49" charset="0"/>
                <a:cs typeface="Menlo" panose="020B0609030804020204" pitchFamily="49" charset="0"/>
              </a:rPr>
              <a:t>train_test_split</a:t>
            </a:r>
            <a:r>
              <a:rPr lang="en-US" sz="1100" dirty="0">
                <a:solidFill>
                  <a:srgbClr val="0070C0"/>
                </a:solidFill>
                <a:latin typeface="Menlo" panose="020B0609030804020204" pitchFamily="49" charset="0"/>
                <a:ea typeface="Menlo" panose="020B0609030804020204" pitchFamily="49" charset="0"/>
                <a:cs typeface="Menlo" panose="020B0609030804020204" pitchFamily="49" charset="0"/>
              </a:rPr>
              <a:t>(data, </a:t>
            </a:r>
            <a:r>
              <a:rPr lang="en-US" sz="1100" dirty="0" err="1">
                <a:solidFill>
                  <a:srgbClr val="0070C0"/>
                </a:solidFill>
                <a:latin typeface="Menlo" panose="020B0609030804020204" pitchFamily="49" charset="0"/>
                <a:ea typeface="Menlo" panose="020B0609030804020204" pitchFamily="49" charset="0"/>
                <a:cs typeface="Menlo" panose="020B0609030804020204" pitchFamily="49" charset="0"/>
              </a:rPr>
              <a:t>test_size</a:t>
            </a:r>
            <a:r>
              <a:rPr lang="en-US" sz="1100" dirty="0">
                <a:solidFill>
                  <a:srgbClr val="0070C0"/>
                </a:solidFill>
                <a:latin typeface="Menlo" panose="020B0609030804020204" pitchFamily="49" charset="0"/>
                <a:ea typeface="Menlo" panose="020B0609030804020204" pitchFamily="49" charset="0"/>
                <a:cs typeface="Menlo" panose="020B0609030804020204" pitchFamily="49" charset="0"/>
              </a:rPr>
              <a:t>=N)</a:t>
            </a:r>
          </a:p>
          <a:p>
            <a:endParaRPr lang="en-US" sz="1100" dirty="0">
              <a:solidFill>
                <a:srgbClr val="0070C0"/>
              </a:solidFill>
              <a:latin typeface="Menlo" panose="020B0609030804020204" pitchFamily="49" charset="0"/>
              <a:ea typeface="Menlo" panose="020B0609030804020204" pitchFamily="49" charset="0"/>
              <a:cs typeface="Menlo" panose="020B0609030804020204" pitchFamily="49" charset="0"/>
            </a:endParaRPr>
          </a:p>
          <a:p>
            <a:r>
              <a:rPr lang="en-US" sz="1100" dirty="0">
                <a:solidFill>
                  <a:srgbClr val="00B050"/>
                </a:solidFill>
                <a:latin typeface="Menlo" panose="020B0609030804020204" pitchFamily="49" charset="0"/>
                <a:ea typeface="Menlo" panose="020B0609030804020204" pitchFamily="49" charset="0"/>
                <a:cs typeface="Menlo" panose="020B0609030804020204" pitchFamily="49" charset="0"/>
              </a:rPr>
              <a:t># how to shuffle using only </a:t>
            </a:r>
            <a:r>
              <a:rPr lang="en-US" sz="1100" dirty="0" err="1">
                <a:solidFill>
                  <a:srgbClr val="00B050"/>
                </a:solidFill>
                <a:latin typeface="Menlo" panose="020B0609030804020204" pitchFamily="49" charset="0"/>
                <a:ea typeface="Menlo" panose="020B0609030804020204" pitchFamily="49" charset="0"/>
                <a:cs typeface="Menlo" panose="020B0609030804020204" pitchFamily="49" charset="0"/>
              </a:rPr>
              <a:t>Numpy</a:t>
            </a:r>
            <a:r>
              <a:rPr lang="en-US" sz="1100" dirty="0">
                <a:solidFill>
                  <a:srgbClr val="00B050"/>
                </a:solidFill>
                <a:latin typeface="Menlo" panose="020B0609030804020204" pitchFamily="49" charset="0"/>
                <a:ea typeface="Menlo" panose="020B0609030804020204" pitchFamily="49" charset="0"/>
                <a:cs typeface="Menlo" panose="020B0609030804020204" pitchFamily="49" charset="0"/>
              </a:rPr>
              <a:t>:</a:t>
            </a:r>
          </a:p>
          <a:p>
            <a:r>
              <a:rPr lang="en-US" sz="1100" dirty="0">
                <a:solidFill>
                  <a:srgbClr val="0070C0"/>
                </a:solidFill>
                <a:latin typeface="Menlo" panose="020B0609030804020204" pitchFamily="49" charset="0"/>
                <a:ea typeface="Menlo" panose="020B0609030804020204" pitchFamily="49" charset="0"/>
                <a:cs typeface="Menlo" panose="020B0609030804020204" pitchFamily="49" charset="0"/>
              </a:rPr>
              <a:t>s1 = </a:t>
            </a:r>
            <a:r>
              <a:rPr lang="en-US" sz="1100" dirty="0" err="1">
                <a:solidFill>
                  <a:srgbClr val="0070C0"/>
                </a:solidFill>
                <a:latin typeface="Menlo" panose="020B0609030804020204" pitchFamily="49" charset="0"/>
                <a:ea typeface="Menlo" panose="020B0609030804020204" pitchFamily="49" charset="0"/>
                <a:cs typeface="Menlo" panose="020B0609030804020204" pitchFamily="49" charset="0"/>
              </a:rPr>
              <a:t>np.random.choice</a:t>
            </a:r>
            <a:r>
              <a:rPr lang="en-US" sz="1100" dirty="0">
                <a:solidFill>
                  <a:srgbClr val="0070C0"/>
                </a:solidFill>
                <a:latin typeface="Menlo" panose="020B0609030804020204" pitchFamily="49" charset="0"/>
                <a:ea typeface="Menlo" panose="020B0609030804020204" pitchFamily="49" charset="0"/>
                <a:cs typeface="Menlo" panose="020B0609030804020204" pitchFamily="49" charset="0"/>
              </a:rPr>
              <a:t>(2*N, N, replace=False)</a:t>
            </a:r>
          </a:p>
          <a:p>
            <a:r>
              <a:rPr lang="en-US" sz="1100" dirty="0">
                <a:solidFill>
                  <a:srgbClr val="0070C0"/>
                </a:solidFill>
                <a:latin typeface="Menlo" panose="020B0609030804020204" pitchFamily="49" charset="0"/>
                <a:ea typeface="Menlo" panose="020B0609030804020204" pitchFamily="49" charset="0"/>
                <a:cs typeface="Menlo" panose="020B0609030804020204" pitchFamily="49" charset="0"/>
              </a:rPr>
              <a:t>s2 = list( set(range(2*N)) - set(s1) )</a:t>
            </a:r>
          </a:p>
          <a:p>
            <a:r>
              <a:rPr lang="en-US" sz="1100" dirty="0">
                <a:solidFill>
                  <a:srgbClr val="0070C0"/>
                </a:solidFill>
                <a:latin typeface="Menlo" panose="020B0609030804020204" pitchFamily="49" charset="0"/>
                <a:ea typeface="Menlo" panose="020B0609030804020204" pitchFamily="49" charset="0"/>
                <a:cs typeface="Menlo" panose="020B0609030804020204" pitchFamily="49" charset="0"/>
              </a:rPr>
              <a:t>split1 = data[s1]</a:t>
            </a:r>
          </a:p>
          <a:p>
            <a:r>
              <a:rPr lang="en-US" sz="1100" dirty="0">
                <a:solidFill>
                  <a:srgbClr val="0070C0"/>
                </a:solidFill>
                <a:latin typeface="Menlo" panose="020B0609030804020204" pitchFamily="49" charset="0"/>
                <a:ea typeface="Menlo" panose="020B0609030804020204" pitchFamily="49" charset="0"/>
                <a:cs typeface="Menlo" panose="020B0609030804020204" pitchFamily="49" charset="0"/>
              </a:rPr>
              <a:t>split2 = data[s2]</a:t>
            </a:r>
          </a:p>
        </p:txBody>
      </p:sp>
      <p:pic>
        <p:nvPicPr>
          <p:cNvPr id="16" name="Picture 15">
            <a:extLst>
              <a:ext uri="{FF2B5EF4-FFF2-40B4-BE49-F238E27FC236}">
                <a16:creationId xmlns:a16="http://schemas.microsoft.com/office/drawing/2014/main" id="{CDF2A838-1186-FA47-A0D9-76686CFF27DE}"/>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4647255" y="906000"/>
            <a:ext cx="2192237" cy="1221903"/>
          </a:xfrm>
          <a:prstGeom prst="rect">
            <a:avLst/>
          </a:prstGeom>
        </p:spPr>
      </p:pic>
    </p:spTree>
    <p:extLst>
      <p:ext uri="{BB962C8B-B14F-4D97-AF65-F5344CB8AC3E}">
        <p14:creationId xmlns:p14="http://schemas.microsoft.com/office/powerpoint/2010/main" val="25054858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FF755FE-9EC5-2243-8B9B-E4A9E7CEC3D9}"/>
              </a:ext>
            </a:extLst>
          </p:cNvPr>
          <p:cNvSpPr txBox="1"/>
          <p:nvPr/>
        </p:nvSpPr>
        <p:spPr>
          <a:xfrm>
            <a:off x="0" y="0"/>
            <a:ext cx="7656576" cy="523220"/>
          </a:xfrm>
          <a:prstGeom prst="rect">
            <a:avLst/>
          </a:prstGeom>
          <a:noFill/>
        </p:spPr>
        <p:txBody>
          <a:bodyPr wrap="square" rtlCol="0">
            <a:spAutoFit/>
          </a:bodyPr>
          <a:lstStyle/>
          <a:p>
            <a:r>
              <a:rPr lang="en-US" sz="2800" b="1" dirty="0"/>
              <a:t>Example – Bootstrapping</a:t>
            </a:r>
          </a:p>
        </p:txBody>
      </p:sp>
      <p:sp>
        <p:nvSpPr>
          <p:cNvPr id="3" name="TextBox 2">
            <a:extLst>
              <a:ext uri="{FF2B5EF4-FFF2-40B4-BE49-F238E27FC236}">
                <a16:creationId xmlns:a16="http://schemas.microsoft.com/office/drawing/2014/main" id="{B4214305-FB5A-AA42-89E0-5393ADEB579E}"/>
              </a:ext>
            </a:extLst>
          </p:cNvPr>
          <p:cNvSpPr txBox="1"/>
          <p:nvPr/>
        </p:nvSpPr>
        <p:spPr>
          <a:xfrm>
            <a:off x="6504422" y="3347760"/>
            <a:ext cx="5394809" cy="2862322"/>
          </a:xfrm>
          <a:prstGeom prst="rect">
            <a:avLst/>
          </a:prstGeom>
          <a:noFill/>
        </p:spPr>
        <p:txBody>
          <a:bodyPr wrap="square" rtlCol="0">
            <a:spAutoFit/>
          </a:bodyPr>
          <a:lstStyle/>
          <a:p>
            <a:r>
              <a:rPr lang="en-US" sz="1200" dirty="0">
                <a:solidFill>
                  <a:srgbClr val="00B050"/>
                </a:solidFill>
                <a:latin typeface="Menlo" panose="020B0609030804020204" pitchFamily="49" charset="0"/>
                <a:ea typeface="Menlo" panose="020B0609030804020204" pitchFamily="49" charset="0"/>
                <a:cs typeface="Menlo" panose="020B0609030804020204" pitchFamily="49" charset="0"/>
              </a:rPr>
              <a:t># Heights of turtle towers</a:t>
            </a:r>
          </a:p>
          <a:p>
            <a:endParaRPr lang="en-US" sz="1200" dirty="0">
              <a:solidFill>
                <a:srgbClr val="0070C0"/>
              </a:solidFill>
              <a:latin typeface="Menlo" panose="020B0609030804020204" pitchFamily="49" charset="0"/>
              <a:ea typeface="Menlo" panose="020B0609030804020204" pitchFamily="49" charset="0"/>
              <a:cs typeface="Menlo" panose="020B0609030804020204" pitchFamily="49" charset="0"/>
            </a:endParaRPr>
          </a:p>
          <a:p>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import </a:t>
            </a:r>
            <a:r>
              <a:rPr lang="en-US" sz="1200" dirty="0" err="1">
                <a:solidFill>
                  <a:srgbClr val="0070C0"/>
                </a:solidFill>
                <a:latin typeface="Menlo" panose="020B0609030804020204" pitchFamily="49" charset="0"/>
                <a:ea typeface="Menlo" panose="020B0609030804020204" pitchFamily="49" charset="0"/>
                <a:cs typeface="Menlo" panose="020B0609030804020204" pitchFamily="49" charset="0"/>
              </a:rPr>
              <a:t>numpy</a:t>
            </a:r>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 as np</a:t>
            </a:r>
          </a:p>
          <a:p>
            <a:endParaRPr lang="en-US" sz="1200" dirty="0">
              <a:solidFill>
                <a:srgbClr val="0070C0"/>
              </a:solidFill>
              <a:latin typeface="Menlo" panose="020B0609030804020204" pitchFamily="49" charset="0"/>
              <a:ea typeface="Menlo" panose="020B0609030804020204" pitchFamily="49" charset="0"/>
              <a:cs typeface="Menlo" panose="020B0609030804020204" pitchFamily="49" charset="0"/>
            </a:endParaRPr>
          </a:p>
          <a:p>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N=10000</a:t>
            </a:r>
          </a:p>
          <a:p>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heights = </a:t>
            </a:r>
            <a:r>
              <a:rPr lang="en-US" sz="1200" dirty="0" err="1">
                <a:solidFill>
                  <a:srgbClr val="0070C0"/>
                </a:solidFill>
                <a:latin typeface="Menlo" panose="020B0609030804020204" pitchFamily="49" charset="0"/>
                <a:ea typeface="Menlo" panose="020B0609030804020204" pitchFamily="49" charset="0"/>
                <a:cs typeface="Menlo" panose="020B0609030804020204" pitchFamily="49" charset="0"/>
              </a:rPr>
              <a:t>np.zeros</a:t>
            </a:r>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(N, </a:t>
            </a:r>
            <a:r>
              <a:rPr lang="en-US" sz="1200" dirty="0" err="1">
                <a:solidFill>
                  <a:srgbClr val="0070C0"/>
                </a:solidFill>
                <a:latin typeface="Menlo" panose="020B0609030804020204" pitchFamily="49" charset="0"/>
                <a:ea typeface="Menlo" panose="020B0609030804020204" pitchFamily="49" charset="0"/>
                <a:cs typeface="Menlo" panose="020B0609030804020204" pitchFamily="49" charset="0"/>
              </a:rPr>
              <a:t>dtype</a:t>
            </a:r>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=float)</a:t>
            </a:r>
          </a:p>
          <a:p>
            <a:endParaRPr lang="en-US" sz="1200" dirty="0">
              <a:solidFill>
                <a:srgbClr val="0070C0"/>
              </a:solidFill>
              <a:latin typeface="Menlo" panose="020B0609030804020204" pitchFamily="49" charset="0"/>
              <a:ea typeface="Menlo" panose="020B0609030804020204" pitchFamily="49" charset="0"/>
              <a:cs typeface="Menlo" panose="020B0609030804020204" pitchFamily="49" charset="0"/>
            </a:endParaRPr>
          </a:p>
          <a:p>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for ii in range(N):</a:t>
            </a:r>
          </a:p>
          <a:p>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    sample = </a:t>
            </a:r>
            <a:r>
              <a:rPr lang="en-US" sz="1200" dirty="0" err="1">
                <a:solidFill>
                  <a:srgbClr val="0070C0"/>
                </a:solidFill>
                <a:latin typeface="Menlo" panose="020B0609030804020204" pitchFamily="49" charset="0"/>
                <a:ea typeface="Menlo" panose="020B0609030804020204" pitchFamily="49" charset="0"/>
                <a:cs typeface="Menlo" panose="020B0609030804020204" pitchFamily="49" charset="0"/>
              </a:rPr>
              <a:t>randint</a:t>
            </a:r>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(20,size=20)</a:t>
            </a:r>
            <a:r>
              <a:rPr lang="en-US" sz="1200" dirty="0">
                <a:solidFill>
                  <a:srgbClr val="00B050"/>
                </a:solidFill>
                <a:latin typeface="Menlo" panose="020B0609030804020204" pitchFamily="49" charset="0"/>
                <a:ea typeface="Menlo" panose="020B0609030804020204" pitchFamily="49" charset="0"/>
                <a:cs typeface="Menlo" panose="020B0609030804020204" pitchFamily="49" charset="0"/>
              </a:rPr>
              <a:t> # bootstrap 20 numbers</a:t>
            </a:r>
          </a:p>
          <a:p>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    heights[ii] = </a:t>
            </a:r>
            <a:r>
              <a:rPr lang="en-US" sz="1200" dirty="0" err="1">
                <a:solidFill>
                  <a:srgbClr val="0070C0"/>
                </a:solidFill>
                <a:latin typeface="Menlo" panose="020B0609030804020204" pitchFamily="49" charset="0"/>
                <a:ea typeface="Menlo" panose="020B0609030804020204" pitchFamily="49" charset="0"/>
                <a:cs typeface="Menlo" panose="020B0609030804020204" pitchFamily="49" charset="0"/>
              </a:rPr>
              <a:t>np.mean</a:t>
            </a:r>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(sample)</a:t>
            </a:r>
          </a:p>
          <a:p>
            <a:endParaRPr lang="en-US" sz="1200" dirty="0">
              <a:solidFill>
                <a:srgbClr val="0070C0"/>
              </a:solidFill>
              <a:latin typeface="Menlo" panose="020B0609030804020204" pitchFamily="49" charset="0"/>
              <a:ea typeface="Menlo" panose="020B0609030804020204" pitchFamily="49" charset="0"/>
              <a:cs typeface="Menlo" panose="020B0609030804020204" pitchFamily="49" charset="0"/>
            </a:endParaRPr>
          </a:p>
          <a:p>
            <a:r>
              <a:rPr lang="en-US" sz="1200" dirty="0" err="1">
                <a:solidFill>
                  <a:srgbClr val="0070C0"/>
                </a:solidFill>
                <a:latin typeface="Menlo" panose="020B0609030804020204" pitchFamily="49" charset="0"/>
                <a:ea typeface="Menlo" panose="020B0609030804020204" pitchFamily="49" charset="0"/>
                <a:cs typeface="Menlo" panose="020B0609030804020204" pitchFamily="49" charset="0"/>
              </a:rPr>
              <a:t>heights_mean</a:t>
            </a:r>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 = </a:t>
            </a:r>
            <a:r>
              <a:rPr lang="en-US" sz="1200" dirty="0" err="1">
                <a:solidFill>
                  <a:srgbClr val="0070C0"/>
                </a:solidFill>
                <a:latin typeface="Menlo" panose="020B0609030804020204" pitchFamily="49" charset="0"/>
                <a:ea typeface="Menlo" panose="020B0609030804020204" pitchFamily="49" charset="0"/>
                <a:cs typeface="Menlo" panose="020B0609030804020204" pitchFamily="49" charset="0"/>
              </a:rPr>
              <a:t>np.mean</a:t>
            </a:r>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(heights)   </a:t>
            </a:r>
          </a:p>
          <a:p>
            <a:r>
              <a:rPr lang="en-US" sz="1200" dirty="0" err="1">
                <a:solidFill>
                  <a:srgbClr val="0070C0"/>
                </a:solidFill>
                <a:latin typeface="Menlo" panose="020B0609030804020204" pitchFamily="49" charset="0"/>
                <a:ea typeface="Menlo" panose="020B0609030804020204" pitchFamily="49" charset="0"/>
                <a:cs typeface="Menlo" panose="020B0609030804020204" pitchFamily="49" charset="0"/>
              </a:rPr>
              <a:t>heights_std</a:t>
            </a:r>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  = </a:t>
            </a:r>
            <a:r>
              <a:rPr lang="en-US" sz="1200" dirty="0" err="1">
                <a:solidFill>
                  <a:srgbClr val="0070C0"/>
                </a:solidFill>
                <a:latin typeface="Menlo" panose="020B0609030804020204" pitchFamily="49" charset="0"/>
                <a:ea typeface="Menlo" panose="020B0609030804020204" pitchFamily="49" charset="0"/>
                <a:cs typeface="Menlo" panose="020B0609030804020204" pitchFamily="49" charset="0"/>
              </a:rPr>
              <a:t>np.std</a:t>
            </a:r>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(heights)</a:t>
            </a:r>
          </a:p>
          <a:p>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print(</a:t>
            </a:r>
            <a:r>
              <a:rPr lang="en-US" sz="1200" dirty="0" err="1">
                <a:solidFill>
                  <a:srgbClr val="0070C0"/>
                </a:solidFill>
                <a:latin typeface="Menlo" panose="020B0609030804020204" pitchFamily="49" charset="0"/>
                <a:ea typeface="Menlo" panose="020B0609030804020204" pitchFamily="49" charset="0"/>
                <a:cs typeface="Menlo" panose="020B0609030804020204" pitchFamily="49" charset="0"/>
              </a:rPr>
              <a:t>f"heights</a:t>
            </a:r>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 mean = {heights_mean:.3f}")</a:t>
            </a:r>
            <a:r>
              <a:rPr lang="en-US" sz="1200" dirty="0">
                <a:solidFill>
                  <a:srgbClr val="00B050"/>
                </a:solidFill>
                <a:latin typeface="Menlo" panose="020B0609030804020204" pitchFamily="49" charset="0"/>
                <a:ea typeface="Menlo" panose="020B0609030804020204" pitchFamily="49" charset="0"/>
                <a:cs typeface="Menlo" panose="020B0609030804020204" pitchFamily="49" charset="0"/>
              </a:rPr>
              <a:t>  # 9.52</a:t>
            </a:r>
          </a:p>
          <a:p>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print(</a:t>
            </a:r>
            <a:r>
              <a:rPr lang="en-US" sz="1200" dirty="0" err="1">
                <a:solidFill>
                  <a:srgbClr val="0070C0"/>
                </a:solidFill>
                <a:latin typeface="Menlo" panose="020B0609030804020204" pitchFamily="49" charset="0"/>
                <a:ea typeface="Menlo" panose="020B0609030804020204" pitchFamily="49" charset="0"/>
                <a:cs typeface="Menlo" panose="020B0609030804020204" pitchFamily="49" charset="0"/>
              </a:rPr>
              <a:t>f"heights</a:t>
            </a:r>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 std  = {heights_std:.3f}")</a:t>
            </a:r>
            <a:r>
              <a:rPr lang="en-US" sz="1200" dirty="0">
                <a:solidFill>
                  <a:srgbClr val="00B050"/>
                </a:solidFill>
                <a:latin typeface="Menlo" panose="020B0609030804020204" pitchFamily="49" charset="0"/>
                <a:ea typeface="Menlo" panose="020B0609030804020204" pitchFamily="49" charset="0"/>
                <a:cs typeface="Menlo" panose="020B0609030804020204" pitchFamily="49" charset="0"/>
              </a:rPr>
              <a:t>   # 1.27</a:t>
            </a:r>
          </a:p>
        </p:txBody>
      </p:sp>
      <p:sp>
        <p:nvSpPr>
          <p:cNvPr id="5" name="TextBox 4">
            <a:extLst>
              <a:ext uri="{FF2B5EF4-FFF2-40B4-BE49-F238E27FC236}">
                <a16:creationId xmlns:a16="http://schemas.microsoft.com/office/drawing/2014/main" id="{BCBEE07D-A5DF-F74F-8D7F-9F8677072775}"/>
              </a:ext>
            </a:extLst>
          </p:cNvPr>
          <p:cNvSpPr txBox="1"/>
          <p:nvPr/>
        </p:nvSpPr>
        <p:spPr>
          <a:xfrm>
            <a:off x="115673" y="885547"/>
            <a:ext cx="4974336" cy="2462213"/>
          </a:xfrm>
          <a:prstGeom prst="rect">
            <a:avLst/>
          </a:prstGeom>
          <a:noFill/>
        </p:spPr>
        <p:txBody>
          <a:bodyPr wrap="square" rtlCol="0">
            <a:spAutoFit/>
          </a:bodyPr>
          <a:lstStyle/>
          <a:p>
            <a:r>
              <a:rPr lang="en-US" b="1" dirty="0">
                <a:solidFill>
                  <a:srgbClr val="FF0000"/>
                </a:solidFill>
              </a:rPr>
              <a:t>Bootstrapping</a:t>
            </a:r>
            <a:r>
              <a:rPr lang="en-US" dirty="0"/>
              <a:t> (</a:t>
            </a:r>
            <a:r>
              <a:rPr lang="en-US" b="1" dirty="0">
                <a:solidFill>
                  <a:srgbClr val="00B050"/>
                </a:solidFill>
              </a:rPr>
              <a:t>Bootstrap Sampling</a:t>
            </a:r>
            <a:r>
              <a:rPr lang="en-US" dirty="0"/>
              <a:t>) </a:t>
            </a:r>
          </a:p>
          <a:p>
            <a:r>
              <a:rPr lang="en-US" dirty="0"/>
              <a:t>is any test or metric </a:t>
            </a:r>
          </a:p>
          <a:p>
            <a:r>
              <a:rPr lang="en-US" dirty="0"/>
              <a:t>that uses </a:t>
            </a:r>
            <a:r>
              <a:rPr lang="en-US" b="1" dirty="0">
                <a:solidFill>
                  <a:srgbClr val="00B050"/>
                </a:solidFill>
              </a:rPr>
              <a:t>random sampling with replacement </a:t>
            </a:r>
          </a:p>
          <a:p>
            <a:r>
              <a:rPr lang="en-US" dirty="0"/>
              <a:t>(e.g. mimicking the sampling process), </a:t>
            </a:r>
          </a:p>
          <a:p>
            <a:endParaRPr lang="en-US" dirty="0"/>
          </a:p>
          <a:p>
            <a:r>
              <a:rPr lang="en-US" dirty="0"/>
              <a:t>Advantages of bootstrapping: </a:t>
            </a:r>
            <a:r>
              <a:rPr lang="en-US" b="1" dirty="0">
                <a:solidFill>
                  <a:srgbClr val="FF0000"/>
                </a:solidFill>
              </a:rPr>
              <a:t>simplicity</a:t>
            </a:r>
            <a:r>
              <a:rPr lang="en-US" dirty="0"/>
              <a:t>.</a:t>
            </a:r>
          </a:p>
          <a:p>
            <a:r>
              <a:rPr lang="en-US" dirty="0"/>
              <a:t>It is a simple way to estimate means, standard errors and confidence intervals for complex (non-linear) estimators.</a:t>
            </a:r>
          </a:p>
          <a:p>
            <a:endParaRPr lang="en-US" dirty="0"/>
          </a:p>
          <a:p>
            <a:r>
              <a:rPr lang="en-US" dirty="0"/>
              <a:t>For example, for estimators like percentile points, proportions, odds ratio, and correlation coefficients.</a:t>
            </a:r>
          </a:p>
        </p:txBody>
      </p:sp>
      <p:pic>
        <p:nvPicPr>
          <p:cNvPr id="1026" name="Picture 2" descr="Yertle the Turtle and Other Stories By Dr. Seuss | Used | 9780007173143 |  World of Books">
            <a:extLst>
              <a:ext uri="{FF2B5EF4-FFF2-40B4-BE49-F238E27FC236}">
                <a16:creationId xmlns:a16="http://schemas.microsoft.com/office/drawing/2014/main" id="{056A484B-6B4B-CC46-81E3-8E9E0CA07831}"/>
              </a:ext>
            </a:extLst>
          </p:cNvPr>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10204189" y="109728"/>
            <a:ext cx="1872138" cy="26294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09940923"/>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3188</TotalTime>
  <Words>1218</Words>
  <Application>Microsoft Macintosh PowerPoint</Application>
  <PresentationFormat>Widescreen</PresentationFormat>
  <Paragraphs>118</Paragraphs>
  <Slides>4</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Arial</vt:lpstr>
      <vt:lpstr>Calibri</vt:lpstr>
      <vt:lpstr>Menlo</vt:lpstr>
      <vt:lpstr>Office Theme</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Lev Selector</cp:lastModifiedBy>
  <cp:revision>306</cp:revision>
  <cp:lastPrinted>2020-09-21T17:22:59Z</cp:lastPrinted>
  <dcterms:modified xsi:type="dcterms:W3CDTF">2021-11-29T16:55:39Z</dcterms:modified>
</cp:coreProperties>
</file>