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60" r:id="rId2"/>
    <p:sldId id="276" r:id="rId3"/>
    <p:sldId id="287" r:id="rId4"/>
    <p:sldId id="261" r:id="rId5"/>
    <p:sldId id="277" r:id="rId6"/>
    <p:sldId id="288" r:id="rId7"/>
    <p:sldId id="286"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8"/>
    <p:restoredTop sz="92152"/>
  </p:normalViewPr>
  <p:slideViewPr>
    <p:cSldViewPr snapToGrid="0" snapToObjects="1">
      <p:cViewPr varScale="1">
        <p:scale>
          <a:sx n="106" d="100"/>
          <a:sy n="106"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08400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60bda0dc20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60bda0dc20_0_2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60bda0dc20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600175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2109992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jpe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2.xml"/><Relationship Id="rId7" Type="http://schemas.openxmlformats.org/officeDocument/2006/relationships/image" Target="../media/image6.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8.png"/><Relationship Id="rId10" Type="http://schemas.openxmlformats.org/officeDocument/2006/relationships/image" Target="../media/image9.tiff"/><Relationship Id="rId4" Type="http://schemas.openxmlformats.org/officeDocument/2006/relationships/hyperlink" Target="https://stattrek.com/chi-square-test/goodness-of-fit.aspx" TargetMode="External"/><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hyperlink" Target="https://arxiv.org/pdf/1808.09171.pdf" TargetMode="External"/><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4.xml.rels><?xml version="1.0" encoding="UTF-8" standalone="yes"?>
<Relationships xmlns="http://schemas.openxmlformats.org/package/2006/relationships"><Relationship Id="rId3" Type="http://schemas.openxmlformats.org/officeDocument/2006/relationships/hyperlink" Target="https://stattrek.com/chi-square-test/goodness-of-fit.asp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courses.lumenlearning.com/wmopen-concepts-statistics/chapter/test-of-homogeneit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1"/>
            <a:ext cx="5655795" cy="277012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Distribution</a:t>
            </a:r>
          </a:p>
          <a:p>
            <a:pPr marL="0" lvl="0" indent="0" algn="l" rtl="0">
              <a:spcBef>
                <a:spcPts val="0"/>
              </a:spcBef>
              <a:spcAft>
                <a:spcPts val="0"/>
              </a:spcAft>
              <a:buNone/>
            </a:pPr>
            <a:endParaRPr lang="en-US" dirty="0">
              <a:latin typeface="Calibri"/>
              <a:ea typeface="Calibri"/>
              <a:cs typeface="Calibri"/>
              <a:sym typeface="Calibri"/>
            </a:endParaRPr>
          </a:p>
          <a:p>
            <a:pPr lvl="0"/>
            <a:r>
              <a:rPr lang="en-US" dirty="0">
                <a:latin typeface="Calibri"/>
                <a:ea typeface="Calibri"/>
                <a:cs typeface="Calibri"/>
                <a:sym typeface="Calibri"/>
              </a:rPr>
              <a:t>If Z</a:t>
            </a:r>
            <a:r>
              <a:rPr lang="en-US" baseline="-25000" dirty="0">
                <a:latin typeface="Calibri"/>
                <a:ea typeface="Calibri"/>
                <a:cs typeface="Calibri"/>
                <a:sym typeface="Calibri"/>
              </a:rPr>
              <a:t>1</a:t>
            </a:r>
            <a:r>
              <a:rPr lang="en-US" dirty="0">
                <a:latin typeface="Calibri"/>
                <a:ea typeface="Calibri"/>
                <a:cs typeface="Calibri"/>
                <a:sym typeface="Calibri"/>
              </a:rPr>
              <a:t>, ..., </a:t>
            </a:r>
            <a:r>
              <a:rPr lang="en-US" dirty="0" err="1">
                <a:latin typeface="Calibri"/>
                <a:ea typeface="Calibri"/>
                <a:cs typeface="Calibri"/>
                <a:sym typeface="Calibri"/>
              </a:rPr>
              <a:t>Z</a:t>
            </a:r>
            <a:r>
              <a:rPr lang="en-US" baseline="-25000" dirty="0" err="1">
                <a:latin typeface="Calibri"/>
                <a:ea typeface="Calibri"/>
                <a:cs typeface="Calibri"/>
                <a:sym typeface="Calibri"/>
              </a:rPr>
              <a:t>k</a:t>
            </a:r>
            <a:r>
              <a:rPr lang="en-US" dirty="0">
                <a:latin typeface="Calibri"/>
                <a:ea typeface="Calibri"/>
                <a:cs typeface="Calibri"/>
                <a:sym typeface="Calibri"/>
              </a:rPr>
              <a:t> are independent, standard normal (Gaussian)  random variables, then the sum of their squares:</a:t>
            </a:r>
          </a:p>
          <a:p>
            <a:pPr lvl="0"/>
            <a:endParaRPr lang="en-US" dirty="0">
              <a:latin typeface="Calibri"/>
              <a:ea typeface="Calibri"/>
              <a:cs typeface="Calibri"/>
              <a:sym typeface="Calibri"/>
            </a:endParaRPr>
          </a:p>
          <a:p>
            <a:pPr lvl="0"/>
            <a:r>
              <a:rPr lang="en-US" dirty="0">
                <a:latin typeface="Calibri"/>
                <a:ea typeface="Calibri"/>
                <a:cs typeface="Calibri"/>
                <a:sym typeface="Calibri"/>
              </a:rPr>
              <a:t>                  </a:t>
            </a:r>
            <a:r>
              <a:rPr lang="en-US" dirty="0" err="1">
                <a:latin typeface="Calibri"/>
                <a:ea typeface="Calibri"/>
                <a:cs typeface="Calibri"/>
                <a:sym typeface="Calibri"/>
              </a:rPr>
              <a:t>sum</a:t>
            </a:r>
            <a:r>
              <a:rPr lang="en-US" baseline="-25000" dirty="0" err="1">
                <a:latin typeface="Calibri"/>
                <a:ea typeface="Calibri"/>
                <a:cs typeface="Calibri"/>
                <a:sym typeface="Calibri"/>
              </a:rPr>
              <a:t>k</a:t>
            </a:r>
            <a:r>
              <a:rPr lang="en-US" dirty="0">
                <a:latin typeface="Calibri"/>
                <a:ea typeface="Calibri"/>
                <a:cs typeface="Calibri"/>
                <a:sym typeface="Calibri"/>
              </a:rPr>
              <a:t>(Z</a:t>
            </a:r>
            <a:r>
              <a:rPr lang="en-US" baseline="-25000" dirty="0">
                <a:latin typeface="Calibri"/>
                <a:ea typeface="Calibri"/>
                <a:cs typeface="Calibri"/>
                <a:sym typeface="Calibri"/>
              </a:rPr>
              <a:t>i</a:t>
            </a:r>
            <a:r>
              <a:rPr lang="en-US" baseline="30000" dirty="0">
                <a:latin typeface="Calibri"/>
                <a:ea typeface="Calibri"/>
                <a:cs typeface="Calibri"/>
                <a:sym typeface="Calibri"/>
              </a:rPr>
              <a:t>2</a:t>
            </a:r>
            <a:r>
              <a:rPr lang="en-US" dirty="0">
                <a:latin typeface="Calibri"/>
                <a:ea typeface="Calibri"/>
                <a:cs typeface="Calibri"/>
                <a:sym typeface="Calibri"/>
              </a:rPr>
              <a:t>) </a:t>
            </a:r>
          </a:p>
          <a:p>
            <a:pPr lvl="0"/>
            <a:endParaRPr lang="en-US" dirty="0">
              <a:latin typeface="Calibri"/>
              <a:ea typeface="Calibri"/>
              <a:cs typeface="Calibri"/>
              <a:sym typeface="Calibri"/>
            </a:endParaRPr>
          </a:p>
          <a:p>
            <a:pPr lvl="0"/>
            <a:r>
              <a:rPr lang="en-US" dirty="0">
                <a:latin typeface="Calibri"/>
                <a:ea typeface="Calibri"/>
                <a:cs typeface="Calibri"/>
                <a:sym typeface="Calibri"/>
              </a:rPr>
              <a:t>is distributed as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 </a:t>
            </a:r>
            <a:r>
              <a:rPr lang="en-US" dirty="0">
                <a:latin typeface="Calibri"/>
                <a:ea typeface="Calibri"/>
                <a:cs typeface="Calibri"/>
                <a:sym typeface="Calibri"/>
              </a:rPr>
              <a:t>,   with "k" degrees of freedom   </a:t>
            </a:r>
          </a:p>
          <a:p>
            <a:pPr lvl="0"/>
            <a:endParaRPr lang="en-US" dirty="0">
              <a:latin typeface="Calibri"/>
              <a:ea typeface="Calibri"/>
              <a:cs typeface="Calibri"/>
              <a:sym typeface="Calibri"/>
            </a:endParaRPr>
          </a:p>
          <a:p>
            <a:pPr lvl="0"/>
            <a:r>
              <a:rPr lang="en-US" dirty="0">
                <a:latin typeface="Calibri"/>
                <a:ea typeface="Calibri"/>
                <a:cs typeface="Calibri"/>
                <a:sym typeface="Calibri"/>
              </a:rPr>
              <a:t>Mean = K</a:t>
            </a:r>
          </a:p>
          <a:p>
            <a:pPr lvl="0"/>
            <a:r>
              <a:rPr lang="en-US" dirty="0">
                <a:latin typeface="Calibri"/>
                <a:ea typeface="Calibri"/>
                <a:cs typeface="Calibri"/>
                <a:sym typeface="Calibri"/>
              </a:rPr>
              <a:t>variance = 2K</a:t>
            </a:r>
          </a:p>
        </p:txBody>
      </p:sp>
      <p:pic>
        <p:nvPicPr>
          <p:cNvPr id="2" name="Picture 1">
            <a:extLst>
              <a:ext uri="{FF2B5EF4-FFF2-40B4-BE49-F238E27FC236}">
                <a16:creationId xmlns:a16="http://schemas.microsoft.com/office/drawing/2014/main" id="{2F43259A-84B7-A947-B03A-FA281D7DCF9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97089" y="0"/>
            <a:ext cx="4918815" cy="3279210"/>
          </a:xfrm>
          <a:prstGeom prst="rect">
            <a:avLst/>
          </a:prstGeom>
        </p:spPr>
      </p:pic>
      <p:pic>
        <p:nvPicPr>
          <p:cNvPr id="4" name="Picture 3">
            <a:extLst>
              <a:ext uri="{FF2B5EF4-FFF2-40B4-BE49-F238E27FC236}">
                <a16:creationId xmlns:a16="http://schemas.microsoft.com/office/drawing/2014/main" id="{21187E63-B4D5-0F43-9AE3-9EC2B686E8C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669530" y="3279210"/>
            <a:ext cx="4229100" cy="1524000"/>
          </a:xfrm>
          <a:prstGeom prst="rect">
            <a:avLst/>
          </a:prstGeom>
        </p:spPr>
      </p:pic>
      <p:pic>
        <p:nvPicPr>
          <p:cNvPr id="5" name="Picture 4">
            <a:extLst>
              <a:ext uri="{FF2B5EF4-FFF2-40B4-BE49-F238E27FC236}">
                <a16:creationId xmlns:a16="http://schemas.microsoft.com/office/drawing/2014/main" id="{71F2274A-BB8F-1545-9ABD-918EB81DE13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94704" y="5676900"/>
            <a:ext cx="1905000" cy="406400"/>
          </a:xfrm>
          <a:prstGeom prst="rect">
            <a:avLst/>
          </a:prstGeom>
        </p:spPr>
      </p:pic>
      <p:pic>
        <p:nvPicPr>
          <p:cNvPr id="6" name="Picture 5">
            <a:extLst>
              <a:ext uri="{FF2B5EF4-FFF2-40B4-BE49-F238E27FC236}">
                <a16:creationId xmlns:a16="http://schemas.microsoft.com/office/drawing/2014/main" id="{15F91468-EDEB-7347-8DA1-1E8304ECCBD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594704" y="6083300"/>
            <a:ext cx="4521200" cy="774700"/>
          </a:xfrm>
          <a:prstGeom prst="rect">
            <a:avLst/>
          </a:prstGeom>
        </p:spPr>
      </p:pic>
      <p:sp>
        <p:nvSpPr>
          <p:cNvPr id="7" name="TextBox 6">
            <a:extLst>
              <a:ext uri="{FF2B5EF4-FFF2-40B4-BE49-F238E27FC236}">
                <a16:creationId xmlns:a16="http://schemas.microsoft.com/office/drawing/2014/main" id="{9E5E384D-49FA-A04A-B728-CFF37C292B58}"/>
              </a:ext>
            </a:extLst>
          </p:cNvPr>
          <p:cNvSpPr txBox="1"/>
          <p:nvPr/>
        </p:nvSpPr>
        <p:spPr>
          <a:xfrm>
            <a:off x="7518504" y="5289366"/>
            <a:ext cx="2661815" cy="307777"/>
          </a:xfrm>
          <a:prstGeom prst="rect">
            <a:avLst/>
          </a:prstGeom>
          <a:noFill/>
        </p:spPr>
        <p:txBody>
          <a:bodyPr wrap="square" rtlCol="0">
            <a:spAutoFit/>
          </a:bodyPr>
          <a:lstStyle/>
          <a:p>
            <a:r>
              <a:rPr lang="en-US" b="1" dirty="0">
                <a:solidFill>
                  <a:srgbClr val="0070C0"/>
                </a:solidFill>
              </a:rPr>
              <a:t>Where Gamma Function:</a:t>
            </a:r>
          </a:p>
        </p:txBody>
      </p:sp>
      <p:sp>
        <p:nvSpPr>
          <p:cNvPr id="8" name="Google Shape;121;p17">
            <a:extLst>
              <a:ext uri="{FF2B5EF4-FFF2-40B4-BE49-F238E27FC236}">
                <a16:creationId xmlns:a16="http://schemas.microsoft.com/office/drawing/2014/main" id="{331C0FCF-128D-0A4B-AF05-73724EE6701E}"/>
              </a:ext>
            </a:extLst>
          </p:cNvPr>
          <p:cNvSpPr txBox="1"/>
          <p:nvPr/>
        </p:nvSpPr>
        <p:spPr>
          <a:xfrm>
            <a:off x="0" y="3408785"/>
            <a:ext cx="4268292" cy="2188358"/>
          </a:xfrm>
          <a:prstGeom prst="rect">
            <a:avLst/>
          </a:prstGeom>
          <a:noFill/>
          <a:ln>
            <a:noFill/>
          </a:ln>
        </p:spPr>
        <p:txBody>
          <a:bodyPr spcFirstLastPara="1" wrap="square" lIns="91425" tIns="91425" rIns="91425" bIns="91425" anchor="t" anchorCtr="0">
            <a:noAutofit/>
          </a:bodyPr>
          <a:lstStyle/>
          <a:p>
            <a:pPr lvl="0"/>
            <a:r>
              <a:rPr lang="en-US" sz="1800" b="1" dirty="0">
                <a:solidFill>
                  <a:srgbClr val="0070C0"/>
                </a:solidFill>
              </a:rPr>
              <a:t>Why is it called </a:t>
            </a:r>
            <a:r>
              <a:rPr lang="en-US" sz="1800" b="1" i="1" dirty="0">
                <a:solidFill>
                  <a:srgbClr val="0070C0"/>
                </a:solidFill>
                <a:highlight>
                  <a:srgbClr val="FFFFFF"/>
                </a:highlight>
                <a:latin typeface="Times New Roman"/>
                <a:ea typeface="Times New Roman"/>
                <a:cs typeface="Times New Roman"/>
                <a:sym typeface="Times New Roman"/>
              </a:rPr>
              <a:t>χ</a:t>
            </a:r>
            <a:r>
              <a:rPr lang="en-US" sz="1800" b="1" dirty="0">
                <a:solidFill>
                  <a:srgbClr val="0070C0"/>
                </a:solidFill>
                <a:sym typeface="Times New Roman"/>
              </a:rPr>
              <a:t>2</a:t>
            </a:r>
            <a:r>
              <a:rPr lang="en-US" sz="1800" b="1" dirty="0">
                <a:solidFill>
                  <a:srgbClr val="0070C0"/>
                </a:solidFill>
                <a:sym typeface="Calibri"/>
              </a:rPr>
              <a:t>  ?</a:t>
            </a:r>
          </a:p>
          <a:p>
            <a:pPr lvl="0"/>
            <a:endParaRPr lang="en-US" dirty="0">
              <a:sym typeface="Calibri"/>
            </a:endParaRPr>
          </a:p>
          <a:p>
            <a:pPr lvl="0"/>
            <a:r>
              <a:rPr lang="en-US" dirty="0"/>
              <a:t>Greek character Chi ( </a:t>
            </a:r>
            <a:r>
              <a:rPr lang="en-US" b="1" i="1" dirty="0" err="1">
                <a:solidFill>
                  <a:srgbClr val="222222"/>
                </a:solidFill>
                <a:highlight>
                  <a:srgbClr val="FFFFFF"/>
                </a:highlight>
                <a:latin typeface="Times New Roman"/>
                <a:ea typeface="Times New Roman"/>
                <a:cs typeface="Times New Roman"/>
                <a:sym typeface="Times New Roman"/>
              </a:rPr>
              <a:t>χ</a:t>
            </a:r>
            <a:r>
              <a:rPr lang="en-US" b="1" i="1" dirty="0">
                <a:solidFill>
                  <a:srgbClr val="222222"/>
                </a:solidFill>
                <a:highlight>
                  <a:srgbClr val="FFFFFF"/>
                </a:highlight>
                <a:latin typeface="Times New Roman"/>
                <a:ea typeface="Times New Roman"/>
                <a:cs typeface="Times New Roman"/>
                <a:sym typeface="Times New Roman"/>
              </a:rPr>
              <a:t> </a:t>
            </a:r>
            <a:r>
              <a:rPr lang="en-US" dirty="0"/>
              <a:t>) appears to be the notation </a:t>
            </a:r>
          </a:p>
          <a:p>
            <a:pPr lvl="0"/>
            <a:r>
              <a:rPr lang="en-US" dirty="0"/>
              <a:t>used by Karl Pearson in 1900:</a:t>
            </a:r>
          </a:p>
          <a:p>
            <a:pPr lvl="0"/>
            <a:endParaRPr lang="en-US" dirty="0">
              <a:sym typeface="Calibri"/>
            </a:endParaRPr>
          </a:p>
          <a:p>
            <a:pPr lvl="0"/>
            <a:r>
              <a:rPr lang="en-US" sz="1200" dirty="0">
                <a:solidFill>
                  <a:srgbClr val="0070C0"/>
                </a:solidFill>
                <a:sym typeface="Calibri"/>
              </a:rPr>
              <a:t>“On the Criterion that a Given System of Deviations from the Probable in the Case of a Correlated System of Variables is such that it can be Reasonably Supposed to have Arisen from Random Sampling,” Philosophical Magazine, 50, (1900), 157-175. </a:t>
            </a:r>
          </a:p>
        </p:txBody>
      </p:sp>
      <p:sp>
        <p:nvSpPr>
          <p:cNvPr id="9" name="TextBox 8">
            <a:extLst>
              <a:ext uri="{FF2B5EF4-FFF2-40B4-BE49-F238E27FC236}">
                <a16:creationId xmlns:a16="http://schemas.microsoft.com/office/drawing/2014/main" id="{4990C014-BE18-4A4F-8461-E27FF75CF98F}"/>
              </a:ext>
            </a:extLst>
          </p:cNvPr>
          <p:cNvSpPr txBox="1"/>
          <p:nvPr/>
        </p:nvSpPr>
        <p:spPr>
          <a:xfrm>
            <a:off x="4776053" y="3869760"/>
            <a:ext cx="2160104" cy="954107"/>
          </a:xfrm>
          <a:prstGeom prst="rect">
            <a:avLst/>
          </a:prstGeom>
          <a:noFill/>
        </p:spPr>
        <p:txBody>
          <a:bodyPr wrap="square" rtlCol="0">
            <a:spAutoFit/>
          </a:bodyPr>
          <a:lstStyle/>
          <a:p>
            <a:pPr algn="ctr"/>
            <a:r>
              <a:rPr lang="en-US" dirty="0"/>
              <a:t>Karl Pearson</a:t>
            </a:r>
          </a:p>
          <a:p>
            <a:pPr algn="ctr"/>
            <a:r>
              <a:rPr lang="en-US" dirty="0"/>
              <a:t>1857 – 1936</a:t>
            </a:r>
          </a:p>
          <a:p>
            <a:pPr algn="ctr"/>
            <a:r>
              <a:rPr lang="en-US" dirty="0"/>
              <a:t>English mathematician and biostatistician</a:t>
            </a:r>
          </a:p>
        </p:txBody>
      </p:sp>
      <p:pic>
        <p:nvPicPr>
          <p:cNvPr id="10" name="Picture 9">
            <a:extLst>
              <a:ext uri="{FF2B5EF4-FFF2-40B4-BE49-F238E27FC236}">
                <a16:creationId xmlns:a16="http://schemas.microsoft.com/office/drawing/2014/main" id="{63B0CFAA-60E2-7940-A536-D2EEEBDD99C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210841" y="2560262"/>
            <a:ext cx="1270000" cy="12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91" y="-416"/>
            <a:ext cx="6020184" cy="456338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Goodness of Fit Test</a:t>
            </a:r>
            <a:endParaRPr sz="3000" b="1"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a:p>
            <a:pPr marL="0" lvl="0" indent="0" algn="l" rtl="0">
              <a:spcBef>
                <a:spcPts val="0"/>
              </a:spcBef>
              <a:spcAft>
                <a:spcPts val="0"/>
              </a:spcAft>
              <a:buNone/>
            </a:pPr>
            <a:r>
              <a:rPr lang="en-US" sz="1100" u="sng" dirty="0">
                <a:solidFill>
                  <a:schemeClr val="hlink"/>
                </a:solidFill>
                <a:hlinkClick r:id="rId4"/>
              </a:rPr>
              <a:t>https://stattrek.com/chi-square-test/goodness-of-fit.aspx</a:t>
            </a:r>
            <a:r>
              <a:rPr lang="en-US" sz="1100" dirty="0">
                <a:latin typeface="Calibri"/>
                <a:ea typeface="Calibri"/>
                <a:cs typeface="Calibri"/>
                <a:sym typeface="Calibri"/>
              </a:rPr>
              <a:t> </a:t>
            </a:r>
            <a:endParaRPr sz="1100"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Pearson, 1900.</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Suppose we have k mutually-exclusive classes</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N - total number of all observations,</a:t>
            </a: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p</a:t>
            </a:r>
            <a:r>
              <a:rPr lang="en-US" baseline="-25000" dirty="0">
                <a:latin typeface="Calibri"/>
                <a:ea typeface="Calibri"/>
                <a:cs typeface="Calibri"/>
                <a:sym typeface="Calibri"/>
              </a:rPr>
              <a:t>i</a:t>
            </a:r>
            <a:r>
              <a:rPr lang="en-US" dirty="0">
                <a:latin typeface="Calibri"/>
                <a:ea typeface="Calibri"/>
                <a:cs typeface="Calibri"/>
                <a:sym typeface="Calibri"/>
              </a:rPr>
              <a:t> - hypothetical probability of each class (null hypothesis). </a:t>
            </a:r>
          </a:p>
          <a:p>
            <a:pPr lvl="0">
              <a:buClr>
                <a:schemeClr val="dk1"/>
              </a:buClr>
              <a:buSzPts val="1100"/>
            </a:pPr>
            <a:r>
              <a:rPr lang="en-US" dirty="0">
                <a:latin typeface="Calibri"/>
                <a:ea typeface="Calibri"/>
                <a:cs typeface="Calibri"/>
                <a:sym typeface="Calibri"/>
              </a:rPr>
              <a:t>         sum(p</a:t>
            </a:r>
            <a:r>
              <a:rPr lang="en-US" baseline="-25000" dirty="0">
                <a:latin typeface="Calibri"/>
                <a:ea typeface="Calibri"/>
                <a:cs typeface="Calibri"/>
                <a:sym typeface="Calibri"/>
              </a:rPr>
              <a:t>i</a:t>
            </a:r>
            <a:r>
              <a:rPr lang="en-US" dirty="0">
                <a:latin typeface="Calibri"/>
                <a:ea typeface="Calibri"/>
                <a:cs typeface="Calibri"/>
                <a:sym typeface="Calibri"/>
              </a:rPr>
              <a:t>) = 1</a:t>
            </a:r>
          </a:p>
          <a:p>
            <a:pPr lvl="0">
              <a:buClr>
                <a:schemeClr val="dk1"/>
              </a:buClr>
              <a:buSzPts val="1100"/>
            </a:pP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 - number of observations for each class (</a:t>
            </a:r>
            <a:r>
              <a:rPr lang="en-US" dirty="0" err="1">
                <a:latin typeface="Calibri"/>
                <a:ea typeface="Calibri"/>
                <a:cs typeface="Calibri"/>
                <a:sym typeface="Calibri"/>
              </a:rPr>
              <a:t>i</a:t>
            </a:r>
            <a:r>
              <a:rPr lang="en-US" dirty="0">
                <a:latin typeface="Calibri"/>
                <a:ea typeface="Calibri"/>
                <a:cs typeface="Calibri"/>
                <a:sym typeface="Calibri"/>
              </a:rPr>
              <a:t>=1,2,...k) </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m</a:t>
            </a:r>
            <a:r>
              <a:rPr lang="en-US" baseline="-25000" dirty="0">
                <a:latin typeface="Calibri"/>
                <a:ea typeface="Calibri"/>
                <a:cs typeface="Calibri"/>
                <a:sym typeface="Calibri"/>
              </a:rPr>
              <a:t>i </a:t>
            </a:r>
            <a:r>
              <a:rPr lang="en-US" dirty="0">
                <a:latin typeface="Calibri"/>
                <a:ea typeface="Calibri"/>
                <a:cs typeface="Calibri"/>
                <a:sym typeface="Calibri"/>
              </a:rPr>
              <a:t>- expected value of observations  m</a:t>
            </a:r>
            <a:r>
              <a:rPr lang="en-US" baseline="-25000" dirty="0">
                <a:latin typeface="Calibri"/>
                <a:ea typeface="Calibri"/>
                <a:cs typeface="Calibri"/>
                <a:sym typeface="Calibri"/>
              </a:rPr>
              <a:t>i</a:t>
            </a:r>
            <a:r>
              <a:rPr lang="en-US" dirty="0">
                <a:latin typeface="Calibri"/>
                <a:ea typeface="Calibri"/>
                <a:cs typeface="Calibri"/>
                <a:sym typeface="Calibri"/>
              </a:rPr>
              <a:t>=N*p</a:t>
            </a:r>
            <a:r>
              <a:rPr lang="en-US" baseline="-25000" dirty="0">
                <a:latin typeface="Calibri"/>
                <a:ea typeface="Calibri"/>
                <a:cs typeface="Calibri"/>
                <a:sym typeface="Calibri"/>
              </a:rPr>
              <a:t>i</a:t>
            </a:r>
            <a:endParaRPr baseline="-25000"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         sum(m</a:t>
            </a:r>
            <a:r>
              <a:rPr lang="en-US" baseline="-25000" dirty="0">
                <a:latin typeface="Calibri"/>
                <a:ea typeface="Calibri"/>
                <a:cs typeface="Calibri"/>
                <a:sym typeface="Calibri"/>
              </a:rPr>
              <a:t>i</a:t>
            </a:r>
            <a:r>
              <a:rPr lang="en-US" dirty="0">
                <a:latin typeface="Calibri"/>
                <a:ea typeface="Calibri"/>
                <a:cs typeface="Calibri"/>
                <a:sym typeface="Calibri"/>
              </a:rPr>
              <a:t>) = N*sum(p</a:t>
            </a:r>
            <a:r>
              <a:rPr lang="en-US" baseline="-25000" dirty="0">
                <a:latin typeface="Calibri"/>
                <a:ea typeface="Calibri"/>
                <a:cs typeface="Calibri"/>
                <a:sym typeface="Calibri"/>
              </a:rPr>
              <a:t>i</a:t>
            </a:r>
            <a:r>
              <a:rPr lang="en-US" dirty="0">
                <a:latin typeface="Calibri"/>
                <a:ea typeface="Calibri"/>
                <a:cs typeface="Calibri"/>
                <a:sym typeface="Calibri"/>
              </a:rPr>
              <a:t>) = N = sum(</a:t>
            </a: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Karl Pearson has proposed that as N gets bigger, the sum below converges to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dirty="0">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 = sum((</a:t>
            </a:r>
            <a:r>
              <a:rPr lang="en-US" b="1" dirty="0" err="1">
                <a:solidFill>
                  <a:srgbClr val="FF0000"/>
                </a:solidFill>
                <a:latin typeface="Calibri"/>
                <a:ea typeface="Calibri"/>
                <a:cs typeface="Calibri"/>
                <a:sym typeface="Calibri"/>
              </a:rPr>
              <a:t>n</a:t>
            </a:r>
            <a:r>
              <a:rPr lang="en-US" b="1" baseline="-25000" dirty="0" err="1">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     </a:t>
            </a:r>
            <a:r>
              <a:rPr lang="en-US" dirty="0">
                <a:latin typeface="Calibri"/>
                <a:ea typeface="Calibri"/>
                <a:cs typeface="Calibri"/>
                <a:sym typeface="Calibri"/>
              </a:rPr>
              <a:t>--&gt;       </a:t>
            </a:r>
            <a:r>
              <a:rPr lang="en-US" b="1" i="1" dirty="0">
                <a:solidFill>
                  <a:srgbClr val="0070C0"/>
                </a:solidFill>
                <a:highlight>
                  <a:srgbClr val="FFFFFF"/>
                </a:highlight>
                <a:latin typeface="Times New Roman"/>
                <a:ea typeface="Times New Roman"/>
                <a:cs typeface="Times New Roman"/>
                <a:sym typeface="Times New Roman"/>
              </a:rPr>
              <a:t>χ</a:t>
            </a:r>
            <a:r>
              <a:rPr lang="en-US" b="1" baseline="30000" dirty="0">
                <a:solidFill>
                  <a:srgbClr val="0070C0"/>
                </a:solidFill>
                <a:highlight>
                  <a:srgbClr val="FFFFFF"/>
                </a:highlight>
                <a:latin typeface="Times New Roman"/>
                <a:ea typeface="Times New Roman"/>
                <a:cs typeface="Times New Roman"/>
                <a:sym typeface="Times New Roman"/>
              </a:rPr>
              <a:t>2</a:t>
            </a:r>
            <a:r>
              <a:rPr lang="en-US" b="1" dirty="0">
                <a:solidFill>
                  <a:srgbClr val="0070C0"/>
                </a:solidFill>
                <a:latin typeface="Calibri"/>
                <a:ea typeface="Calibri"/>
                <a:cs typeface="Calibri"/>
                <a:sym typeface="Calibri"/>
              </a:rPr>
              <a:t> distribution with (k − 1) degrees of freedom </a:t>
            </a:r>
            <a:endParaRPr sz="1800" dirty="0">
              <a:latin typeface="Calibri"/>
              <a:ea typeface="Calibri"/>
              <a:cs typeface="Calibri"/>
              <a:sym typeface="Calibri"/>
            </a:endParaRPr>
          </a:p>
          <a:p>
            <a:pPr marL="0" lvl="0" indent="0" algn="l" rtl="0">
              <a:spcBef>
                <a:spcPts val="0"/>
              </a:spcBef>
              <a:spcAft>
                <a:spcPts val="0"/>
              </a:spcAft>
              <a:buNone/>
            </a:pPr>
            <a:r>
              <a:rPr lang="en-US" dirty="0">
                <a:solidFill>
                  <a:srgbClr val="00B050"/>
                </a:solidFill>
                <a:latin typeface="Calibri"/>
                <a:ea typeface="Calibri"/>
                <a:cs typeface="Calibri"/>
                <a:sym typeface="Calibri"/>
              </a:rPr>
              <a:t>sum( (observed – model)</a:t>
            </a:r>
            <a:r>
              <a:rPr lang="en-US" baseline="30000" dirty="0">
                <a:solidFill>
                  <a:srgbClr val="00B050"/>
                </a:solidFill>
                <a:latin typeface="Calibri"/>
                <a:ea typeface="Calibri"/>
                <a:cs typeface="Calibri"/>
                <a:sym typeface="Calibri"/>
              </a:rPr>
              <a:t>2</a:t>
            </a:r>
            <a:r>
              <a:rPr lang="en-US" dirty="0">
                <a:solidFill>
                  <a:srgbClr val="00B050"/>
                </a:solidFill>
                <a:latin typeface="Calibri"/>
                <a:ea typeface="Calibri"/>
                <a:cs typeface="Calibri"/>
                <a:sym typeface="Calibri"/>
              </a:rPr>
              <a:t>/model )</a:t>
            </a:r>
          </a:p>
          <a:p>
            <a:r>
              <a:rPr lang="en-US" dirty="0">
                <a:solidFill>
                  <a:srgbClr val="00B050"/>
                </a:solidFill>
                <a:latin typeface="Calibri"/>
                <a:ea typeface="Calibri"/>
                <a:cs typeface="Calibri"/>
                <a:sym typeface="Calibri"/>
              </a:rPr>
              <a:t>sum( (observed – expected)</a:t>
            </a:r>
            <a:r>
              <a:rPr lang="en-US" baseline="30000" dirty="0">
                <a:solidFill>
                  <a:srgbClr val="00B050"/>
                </a:solidFill>
                <a:latin typeface="Calibri"/>
                <a:ea typeface="Calibri"/>
                <a:cs typeface="Calibri"/>
                <a:sym typeface="Calibri"/>
              </a:rPr>
              <a:t>2</a:t>
            </a:r>
            <a:r>
              <a:rPr lang="en-US" dirty="0">
                <a:solidFill>
                  <a:srgbClr val="00B050"/>
                </a:solidFill>
                <a:latin typeface="Calibri"/>
                <a:ea typeface="Calibri"/>
                <a:cs typeface="Calibri"/>
                <a:sym typeface="Calibri"/>
              </a:rPr>
              <a:t>/expected)</a:t>
            </a:r>
          </a:p>
          <a:p>
            <a:pPr marL="0" lvl="0" indent="0" algn="l" rtl="0">
              <a:spcBef>
                <a:spcPts val="0"/>
              </a:spcBef>
              <a:spcAft>
                <a:spcPts val="0"/>
              </a:spcAft>
              <a:buNone/>
            </a:pPr>
            <a:endParaRPr lang="en-US" dirty="0">
              <a:solidFill>
                <a:srgbClr val="00B050"/>
              </a:solidFill>
              <a:latin typeface="Calibri"/>
              <a:ea typeface="Calibri"/>
              <a:cs typeface="Calibri"/>
              <a:sym typeface="Calibri"/>
            </a:endParaRPr>
          </a:p>
          <a:p>
            <a:pPr marL="0" lvl="0" indent="0" algn="l" rtl="0">
              <a:spcBef>
                <a:spcPts val="0"/>
              </a:spcBef>
              <a:spcAft>
                <a:spcPts val="0"/>
              </a:spcAft>
              <a:buNone/>
            </a:pPr>
            <a:endParaRPr dirty="0">
              <a:solidFill>
                <a:srgbClr val="00B050"/>
              </a:solidFill>
              <a:latin typeface="Calibri"/>
              <a:ea typeface="Calibri"/>
              <a:cs typeface="Calibri"/>
              <a:sym typeface="Calibri"/>
            </a:endParaRPr>
          </a:p>
        </p:txBody>
      </p:sp>
      <p:pic>
        <p:nvPicPr>
          <p:cNvPr id="122" name="Google Shape;122;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025638" y="882850"/>
            <a:ext cx="5135778" cy="3928092"/>
          </a:xfrm>
          <a:prstGeom prst="rect">
            <a:avLst/>
          </a:prstGeom>
          <a:noFill/>
          <a:ln>
            <a:noFill/>
          </a:ln>
        </p:spPr>
      </p:pic>
      <p:sp>
        <p:nvSpPr>
          <p:cNvPr id="123" name="Google Shape;123;p17"/>
          <p:cNvSpPr txBox="1"/>
          <p:nvPr/>
        </p:nvSpPr>
        <p:spPr>
          <a:xfrm>
            <a:off x="6926625" y="0"/>
            <a:ext cx="5257800" cy="97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Calibri"/>
                <a:ea typeface="Calibri"/>
                <a:cs typeface="Calibri"/>
                <a:sym typeface="Calibri"/>
              </a:rPr>
              <a:t>Chi-squared test, showing χ2 on the x-axis and p-value on the y-axis.</a:t>
            </a:r>
            <a:endParaRPr sz="2400" dirty="0">
              <a:latin typeface="Calibri"/>
              <a:ea typeface="Calibri"/>
              <a:cs typeface="Calibri"/>
              <a:sym typeface="Calibri"/>
            </a:endParaRPr>
          </a:p>
        </p:txBody>
      </p:sp>
      <p:sp>
        <p:nvSpPr>
          <p:cNvPr id="124" name="Google Shape;124;p17"/>
          <p:cNvSpPr txBox="1"/>
          <p:nvPr/>
        </p:nvSpPr>
        <p:spPr>
          <a:xfrm>
            <a:off x="6797050" y="4961575"/>
            <a:ext cx="5394900" cy="92106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Calibri"/>
                <a:ea typeface="Calibri"/>
                <a:cs typeface="Calibri"/>
                <a:sym typeface="Calibri"/>
              </a:rPr>
              <a:t>In practice we calculate value </a:t>
            </a:r>
            <a:r>
              <a:rPr lang="en-US" sz="1600" dirty="0">
                <a:solidFill>
                  <a:schemeClr val="dk1"/>
                </a:solidFill>
                <a:latin typeface="Calibri"/>
                <a:ea typeface="Calibri"/>
                <a:cs typeface="Calibri"/>
                <a:sym typeface="Calibri"/>
              </a:rPr>
              <a:t>X</a:t>
            </a:r>
            <a:r>
              <a:rPr lang="en-US" sz="1600" baseline="30000" dirty="0">
                <a:solidFill>
                  <a:schemeClr val="dk1"/>
                </a:solidFill>
                <a:latin typeface="Calibri"/>
                <a:ea typeface="Calibri"/>
                <a:cs typeface="Calibri"/>
                <a:sym typeface="Calibri"/>
              </a:rPr>
              <a:t>2</a:t>
            </a:r>
            <a:r>
              <a:rPr lang="en-US" sz="1600" dirty="0">
                <a:solidFill>
                  <a:schemeClr val="dk1"/>
                </a:solidFill>
                <a:latin typeface="Calibri"/>
                <a:ea typeface="Calibri"/>
                <a:cs typeface="Calibri"/>
                <a:sym typeface="Calibri"/>
              </a:rPr>
              <a:t> from our data, then use </a:t>
            </a:r>
            <a:r>
              <a:rPr lang="en-US" sz="1600" i="1" dirty="0">
                <a:solidFill>
                  <a:srgbClr val="222222"/>
                </a:solidFill>
                <a:highlight>
                  <a:schemeClr val="lt1"/>
                </a:highlight>
                <a:latin typeface="Times New Roman"/>
                <a:ea typeface="Times New Roman"/>
                <a:cs typeface="Times New Roman"/>
                <a:sym typeface="Times New Roman"/>
              </a:rPr>
              <a:t>χ</a:t>
            </a:r>
            <a:r>
              <a:rPr lang="en-US" sz="1600" baseline="30000" dirty="0">
                <a:solidFill>
                  <a:srgbClr val="222222"/>
                </a:solidFill>
                <a:highlight>
                  <a:schemeClr val="lt1"/>
                </a:highlight>
                <a:latin typeface="Times New Roman"/>
                <a:ea typeface="Times New Roman"/>
                <a:cs typeface="Times New Roman"/>
                <a:sym typeface="Times New Roman"/>
              </a:rPr>
              <a:t>2</a:t>
            </a:r>
            <a:r>
              <a:rPr lang="en-US" sz="1600" dirty="0">
                <a:solidFill>
                  <a:schemeClr val="dk1"/>
                </a:solidFill>
                <a:latin typeface="Calibri"/>
                <a:ea typeface="Calibri"/>
                <a:cs typeface="Calibri"/>
                <a:sym typeface="Calibri"/>
              </a:rPr>
              <a:t> distribution to estimate the P-value (the </a:t>
            </a:r>
            <a:r>
              <a:rPr lang="en-US" sz="1600" dirty="0">
                <a:latin typeface="Calibri"/>
                <a:ea typeface="Calibri"/>
                <a:cs typeface="Calibri"/>
                <a:sym typeface="Calibri"/>
              </a:rPr>
              <a:t>probability that a chi-square statistic is more extreme than </a:t>
            </a:r>
            <a:r>
              <a:rPr lang="en-US" sz="1600" dirty="0">
                <a:solidFill>
                  <a:schemeClr val="dk1"/>
                </a:solidFill>
                <a:latin typeface="Calibri"/>
                <a:ea typeface="Calibri"/>
                <a:cs typeface="Calibri"/>
                <a:sym typeface="Calibri"/>
              </a:rPr>
              <a:t>X</a:t>
            </a:r>
            <a:r>
              <a:rPr lang="en-US" sz="1600" baseline="30000" dirty="0">
                <a:solidFill>
                  <a:schemeClr val="dk1"/>
                </a:solidFill>
                <a:latin typeface="Calibri"/>
                <a:ea typeface="Calibri"/>
                <a:cs typeface="Calibri"/>
                <a:sym typeface="Calibri"/>
              </a:rPr>
              <a:t>2</a:t>
            </a:r>
            <a:r>
              <a:rPr lang="en-US" sz="1600" dirty="0">
                <a:solidFill>
                  <a:schemeClr val="dk1"/>
                </a:solidFill>
                <a:latin typeface="Calibri"/>
                <a:ea typeface="Calibri"/>
                <a:cs typeface="Calibri"/>
                <a:sym typeface="Calibri"/>
              </a:rPr>
              <a:t> value that we have.</a:t>
            </a:r>
            <a:endParaRPr sz="1600" dirty="0">
              <a:latin typeface="Calibri"/>
              <a:ea typeface="Calibri"/>
              <a:cs typeface="Calibri"/>
              <a:sym typeface="Calibri"/>
            </a:endParaRPr>
          </a:p>
        </p:txBody>
      </p:sp>
      <p:graphicFrame>
        <p:nvGraphicFramePr>
          <p:cNvPr id="6" name="Object 3" descr="An equation reads, chi square equals summation of open parenthesis f subscript o minus f subscript e close parenthesis whole square divided by f subscript e.">
            <a:extLst>
              <a:ext uri="{FF2B5EF4-FFF2-40B4-BE49-F238E27FC236}">
                <a16:creationId xmlns:a16="http://schemas.microsoft.com/office/drawing/2014/main" id="{B9B48759-0086-7746-85F6-5DCACC2761DE}"/>
              </a:ext>
            </a:extLst>
          </p:cNvPr>
          <p:cNvGraphicFramePr>
            <a:graphicFrameLocks noChangeAspect="1"/>
          </p:cNvGraphicFramePr>
          <p:nvPr>
            <p:extLst>
              <p:ext uri="{D42A27DB-BD31-4B8C-83A1-F6EECF244321}">
                <p14:modId xmlns:p14="http://schemas.microsoft.com/office/powerpoint/2010/main" val="4251061290"/>
              </p:ext>
            </p:extLst>
          </p:nvPr>
        </p:nvGraphicFramePr>
        <p:xfrm>
          <a:off x="333841" y="6097780"/>
          <a:ext cx="1807389" cy="706335"/>
        </p:xfrm>
        <a:graphic>
          <a:graphicData uri="http://schemas.openxmlformats.org/presentationml/2006/ole">
            <mc:AlternateContent xmlns:mc="http://schemas.openxmlformats.org/markup-compatibility/2006">
              <mc:Choice xmlns:v="urn:schemas-microsoft-com:vml" Requires="v">
                <p:oleObj spid="_x0000_s5495" name="Equation" r:id="rId6" imgW="26517600" imgH="10363200" progId="Equation.3">
                  <p:embed/>
                </p:oleObj>
              </mc:Choice>
              <mc:Fallback>
                <p:oleObj name="Equation" r:id="rId6" imgW="26517600" imgH="10363200" progId="Equation.3">
                  <p:embed/>
                  <p:pic>
                    <p:nvPicPr>
                      <p:cNvPr id="6" name="Object 3" descr="An equation reads, chi square equals summation of open parenthesis f subscript o minus f subscript e close parenthesis whole square divided by f subscript 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841" y="6097780"/>
                        <a:ext cx="1807389" cy="706335"/>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FF1998B0-BC0F-7C43-A052-ACBE11FFC8B5}"/>
              </a:ext>
            </a:extLst>
          </p:cNvPr>
          <p:cNvSpPr txBox="1"/>
          <p:nvPr/>
        </p:nvSpPr>
        <p:spPr>
          <a:xfrm>
            <a:off x="104925" y="4767626"/>
            <a:ext cx="3394048" cy="984885"/>
          </a:xfrm>
          <a:prstGeom prst="rect">
            <a:avLst/>
          </a:prstGeom>
          <a:noFill/>
        </p:spPr>
        <p:txBody>
          <a:bodyPr wrap="square" rtlCol="0">
            <a:spAutoFit/>
          </a:bodyPr>
          <a:lstStyle/>
          <a:p>
            <a:r>
              <a:rPr lang="en-US" sz="1600" b="1" dirty="0">
                <a:solidFill>
                  <a:srgbClr val="0070C0"/>
                </a:solidFill>
              </a:rPr>
              <a:t>Notation</a:t>
            </a:r>
          </a:p>
          <a:p>
            <a:r>
              <a:rPr lang="en-US" dirty="0"/>
              <a:t>      </a:t>
            </a:r>
            <a:r>
              <a:rPr lang="el-GR" dirty="0"/>
              <a:t>χ2 </a:t>
            </a:r>
            <a:r>
              <a:rPr lang="en-US" dirty="0"/>
              <a:t>is the lower-case Greek letter Chi</a:t>
            </a:r>
          </a:p>
          <a:p>
            <a:r>
              <a:rPr lang="en-US" dirty="0"/>
              <a:t>      </a:t>
            </a:r>
            <a:r>
              <a:rPr lang="en-US" dirty="0" err="1"/>
              <a:t>f</a:t>
            </a:r>
            <a:r>
              <a:rPr lang="en-US" baseline="-25000" dirty="0" err="1"/>
              <a:t>o</a:t>
            </a:r>
            <a:r>
              <a:rPr lang="en-US" dirty="0"/>
              <a:t>  is the Observed Frequency</a:t>
            </a:r>
          </a:p>
          <a:p>
            <a:r>
              <a:rPr lang="en-US" dirty="0"/>
              <a:t>      </a:t>
            </a:r>
            <a:r>
              <a:rPr lang="en-US" dirty="0" err="1"/>
              <a:t>f</a:t>
            </a:r>
            <a:r>
              <a:rPr lang="en-US" baseline="-25000" dirty="0" err="1"/>
              <a:t>e</a:t>
            </a:r>
            <a:r>
              <a:rPr lang="en-US" dirty="0"/>
              <a:t>  is the Expected Frequency</a:t>
            </a:r>
          </a:p>
        </p:txBody>
      </p:sp>
      <p:sp>
        <p:nvSpPr>
          <p:cNvPr id="8" name="TextBox 7">
            <a:extLst>
              <a:ext uri="{FF2B5EF4-FFF2-40B4-BE49-F238E27FC236}">
                <a16:creationId xmlns:a16="http://schemas.microsoft.com/office/drawing/2014/main" id="{3E30C421-392B-1749-80A3-D11522326D23}"/>
              </a:ext>
            </a:extLst>
          </p:cNvPr>
          <p:cNvSpPr txBox="1"/>
          <p:nvPr/>
        </p:nvSpPr>
        <p:spPr>
          <a:xfrm>
            <a:off x="104925" y="5749248"/>
            <a:ext cx="2486892" cy="369332"/>
          </a:xfrm>
          <a:prstGeom prst="rect">
            <a:avLst/>
          </a:prstGeom>
          <a:noFill/>
        </p:spPr>
        <p:txBody>
          <a:bodyPr wrap="square" rtlCol="0">
            <a:spAutoFit/>
          </a:bodyPr>
          <a:lstStyle/>
          <a:p>
            <a:r>
              <a:rPr lang="en-US" sz="1800" b="1" dirty="0">
                <a:solidFill>
                  <a:srgbClr val="0070C0"/>
                </a:solidFill>
              </a:rPr>
              <a:t>Chi-Square Statistic</a:t>
            </a:r>
          </a:p>
        </p:txBody>
      </p:sp>
      <p:graphicFrame>
        <p:nvGraphicFramePr>
          <p:cNvPr id="9" name="Object 3" descr="An equation reads, f subscript e equals the product of f subscript c and f subscript r divided by n.">
            <a:extLst>
              <a:ext uri="{FF2B5EF4-FFF2-40B4-BE49-F238E27FC236}">
                <a16:creationId xmlns:a16="http://schemas.microsoft.com/office/drawing/2014/main" id="{FA9B782C-7DD3-804F-BCA2-27EA4BDF4F35}"/>
              </a:ext>
            </a:extLst>
          </p:cNvPr>
          <p:cNvGraphicFramePr>
            <a:graphicFrameLocks noChangeAspect="1"/>
          </p:cNvGraphicFramePr>
          <p:nvPr>
            <p:extLst>
              <p:ext uri="{D42A27DB-BD31-4B8C-83A1-F6EECF244321}">
                <p14:modId xmlns:p14="http://schemas.microsoft.com/office/powerpoint/2010/main" val="1863603216"/>
              </p:ext>
            </p:extLst>
          </p:nvPr>
        </p:nvGraphicFramePr>
        <p:xfrm>
          <a:off x="4211360" y="6097780"/>
          <a:ext cx="966146" cy="596133"/>
        </p:xfrm>
        <a:graphic>
          <a:graphicData uri="http://schemas.openxmlformats.org/presentationml/2006/ole">
            <mc:AlternateContent xmlns:mc="http://schemas.openxmlformats.org/markup-compatibility/2006">
              <mc:Choice xmlns:v="urn:schemas-microsoft-com:vml" Requires="v">
                <p:oleObj spid="_x0000_s5496" name="Equation" r:id="rId8" imgW="14325600" imgH="8839200" progId="Equation.3">
                  <p:embed/>
                </p:oleObj>
              </mc:Choice>
              <mc:Fallback>
                <p:oleObj name="Equation" r:id="rId8" imgW="14325600" imgH="8839200" progId="Equation.3">
                  <p:embed/>
                  <p:pic>
                    <p:nvPicPr>
                      <p:cNvPr id="8" name="Object 3" descr="An equation reads, f subscript e equals the product of f subscript c and f subscript r divided by 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360" y="6097780"/>
                        <a:ext cx="966146" cy="596133"/>
                      </a:xfrm>
                      <a:prstGeom prst="rect">
                        <a:avLst/>
                      </a:prstGeom>
                      <a:noFill/>
                      <a:ln>
                        <a:noFill/>
                      </a:ln>
                    </p:spPr>
                  </p:pic>
                </p:oleObj>
              </mc:Fallback>
            </mc:AlternateContent>
          </a:graphicData>
        </a:graphic>
      </p:graphicFrame>
      <p:sp>
        <p:nvSpPr>
          <p:cNvPr id="3" name="TextBox 2">
            <a:extLst>
              <a:ext uri="{FF2B5EF4-FFF2-40B4-BE49-F238E27FC236}">
                <a16:creationId xmlns:a16="http://schemas.microsoft.com/office/drawing/2014/main" id="{31C7BAF5-0BE6-204E-8B1D-ECC10C276C69}"/>
              </a:ext>
            </a:extLst>
          </p:cNvPr>
          <p:cNvSpPr txBox="1"/>
          <p:nvPr/>
        </p:nvSpPr>
        <p:spPr>
          <a:xfrm>
            <a:off x="3651180" y="5082117"/>
            <a:ext cx="2993663" cy="1015663"/>
          </a:xfrm>
          <a:prstGeom prst="rect">
            <a:avLst/>
          </a:prstGeom>
          <a:noFill/>
        </p:spPr>
        <p:txBody>
          <a:bodyPr wrap="square" rtlCol="0">
            <a:spAutoFit/>
          </a:bodyPr>
          <a:lstStyle/>
          <a:p>
            <a:r>
              <a:rPr lang="en-US" sz="1600" b="1" dirty="0">
                <a:solidFill>
                  <a:srgbClr val="0070C0"/>
                </a:solidFill>
              </a:rPr>
              <a:t>Computing Expected Frequencies</a:t>
            </a:r>
          </a:p>
          <a:p>
            <a:r>
              <a:rPr lang="en-US" dirty="0"/>
              <a:t>fc - frequency total for the column</a:t>
            </a:r>
          </a:p>
          <a:p>
            <a:r>
              <a:rPr lang="en-US" dirty="0" err="1"/>
              <a:t>fr</a:t>
            </a:r>
            <a:r>
              <a:rPr lang="en-US" dirty="0"/>
              <a:t> - frequency total for the row</a:t>
            </a:r>
          </a:p>
        </p:txBody>
      </p:sp>
      <p:cxnSp>
        <p:nvCxnSpPr>
          <p:cNvPr id="5" name="Straight Connector 4">
            <a:extLst>
              <a:ext uri="{FF2B5EF4-FFF2-40B4-BE49-F238E27FC236}">
                <a16:creationId xmlns:a16="http://schemas.microsoft.com/office/drawing/2014/main" id="{22CE6E80-A67B-8B48-9C30-66B7C14B6A73}"/>
              </a:ext>
            </a:extLst>
          </p:cNvPr>
          <p:cNvCxnSpPr/>
          <p:nvPr/>
        </p:nvCxnSpPr>
        <p:spPr>
          <a:xfrm flipV="1">
            <a:off x="6575373" y="221673"/>
            <a:ext cx="0" cy="6582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C916A8-701E-8740-87BA-006D21B77C70}"/>
              </a:ext>
            </a:extLst>
          </p:cNvPr>
          <p:cNvCxnSpPr>
            <a:cxnSpLocks/>
          </p:cNvCxnSpPr>
          <p:nvPr/>
        </p:nvCxnSpPr>
        <p:spPr>
          <a:xfrm flipV="1">
            <a:off x="3507291" y="4824798"/>
            <a:ext cx="0" cy="199317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8C6E30C-58FF-5242-B79A-6066F6367E73}"/>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635501" y="3957282"/>
            <a:ext cx="1778000" cy="736600"/>
          </a:xfrm>
          <a:prstGeom prst="rect">
            <a:avLst/>
          </a:prstGeom>
        </p:spPr>
      </p:pic>
    </p:spTree>
    <p:extLst>
      <p:ext uri="{BB962C8B-B14F-4D97-AF65-F5344CB8AC3E}">
        <p14:creationId xmlns:p14="http://schemas.microsoft.com/office/powerpoint/2010/main" val="3723773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B03E2C-8287-F94C-8BC4-C728F9F2CB6B}"/>
              </a:ext>
            </a:extLst>
          </p:cNvPr>
          <p:cNvSpPr txBox="1"/>
          <p:nvPr/>
        </p:nvSpPr>
        <p:spPr>
          <a:xfrm>
            <a:off x="117905" y="2232210"/>
            <a:ext cx="6457707" cy="4185761"/>
          </a:xfrm>
          <a:prstGeom prst="rect">
            <a:avLst/>
          </a:prstGeom>
          <a:noFill/>
        </p:spPr>
        <p:txBody>
          <a:bodyPr wrap="square" rtlCol="0">
            <a:spAutoFit/>
          </a:bodyPr>
          <a:lstStyle/>
          <a:p>
            <a:pPr fontAlgn="base"/>
            <a:r>
              <a:rPr lang="en-US" dirty="0"/>
              <a:t>Example: we have black and white balls.</a:t>
            </a:r>
          </a:p>
          <a:p>
            <a:pPr fontAlgn="base"/>
            <a:r>
              <a:rPr lang="en-US" dirty="0"/>
              <a:t>The null hypothesis is that the probability of white balls is p (and black – (1-p)).</a:t>
            </a:r>
          </a:p>
          <a:p>
            <a:pPr fontAlgn="base"/>
            <a:r>
              <a:rPr lang="en-US" dirty="0"/>
              <a:t>You have drawn a sample of n balls and observed k white balls.</a:t>
            </a:r>
          </a:p>
          <a:p>
            <a:pPr fontAlgn="base"/>
            <a:r>
              <a:rPr lang="en-US" dirty="0"/>
              <a:t>The exact binomial probability of obtaining k white balls from n is </a:t>
            </a:r>
          </a:p>
          <a:p>
            <a:pPr fontAlgn="base"/>
            <a:endParaRPr lang="en-US" dirty="0"/>
          </a:p>
          <a:p>
            <a:pPr fontAlgn="base"/>
            <a:r>
              <a:rPr lang="en-US" dirty="0"/>
              <a:t>  </a:t>
            </a:r>
            <a:r>
              <a:rPr lang="en-US" dirty="0">
                <a:solidFill>
                  <a:srgbClr val="0070C0"/>
                </a:solidFill>
              </a:rPr>
              <a:t> P(K=k | </a:t>
            </a:r>
            <a:r>
              <a:rPr lang="en-US" dirty="0" err="1">
                <a:solidFill>
                  <a:srgbClr val="0070C0"/>
                </a:solidFill>
              </a:rPr>
              <a:t>n,p</a:t>
            </a:r>
            <a:r>
              <a:rPr lang="en-US" dirty="0">
                <a:solidFill>
                  <a:srgbClr val="0070C0"/>
                </a:solidFill>
              </a:rPr>
              <a:t>) = bin(</a:t>
            </a:r>
            <a:r>
              <a:rPr lang="en-US" dirty="0" err="1">
                <a:solidFill>
                  <a:srgbClr val="0070C0"/>
                </a:solidFill>
              </a:rPr>
              <a:t>n,k</a:t>
            </a:r>
            <a:r>
              <a:rPr lang="en-US" dirty="0">
                <a:solidFill>
                  <a:srgbClr val="0070C0"/>
                </a:solidFill>
              </a:rPr>
              <a:t>)p</a:t>
            </a:r>
            <a:r>
              <a:rPr lang="en-US" baseline="30000" dirty="0">
                <a:solidFill>
                  <a:srgbClr val="0070C0"/>
                </a:solidFill>
              </a:rPr>
              <a:t>k</a:t>
            </a:r>
            <a:r>
              <a:rPr lang="en-US" dirty="0">
                <a:solidFill>
                  <a:srgbClr val="0070C0"/>
                </a:solidFill>
              </a:rPr>
              <a:t>(1−p)</a:t>
            </a:r>
            <a:r>
              <a:rPr lang="en-US" baseline="30000" dirty="0">
                <a:solidFill>
                  <a:srgbClr val="0070C0"/>
                </a:solidFill>
              </a:rPr>
              <a:t>n−k</a:t>
            </a:r>
            <a:r>
              <a:rPr lang="en-US" dirty="0">
                <a:solidFill>
                  <a:srgbClr val="0070C0"/>
                </a:solidFill>
              </a:rPr>
              <a:t>  , where bin(</a:t>
            </a:r>
            <a:r>
              <a:rPr lang="en-US" dirty="0" err="1">
                <a:solidFill>
                  <a:srgbClr val="0070C0"/>
                </a:solidFill>
              </a:rPr>
              <a:t>n,k</a:t>
            </a:r>
            <a:r>
              <a:rPr lang="en-US" dirty="0">
                <a:solidFill>
                  <a:srgbClr val="0070C0"/>
                </a:solidFill>
              </a:rPr>
              <a:t>) is the binomial coefficient. </a:t>
            </a:r>
          </a:p>
          <a:p>
            <a:pPr fontAlgn="base"/>
            <a:endParaRPr lang="en-US" dirty="0"/>
          </a:p>
          <a:p>
            <a:pPr fontAlgn="base"/>
            <a:r>
              <a:rPr lang="en-US" dirty="0"/>
              <a:t>Now you can approximate the probability by calculating the z-score. </a:t>
            </a:r>
          </a:p>
          <a:p>
            <a:pPr fontAlgn="base"/>
            <a:r>
              <a:rPr lang="en-US" dirty="0"/>
              <a:t>The mean of the binomial distribution is </a:t>
            </a:r>
            <a:r>
              <a:rPr lang="en-US" b="1" dirty="0">
                <a:solidFill>
                  <a:srgbClr val="0070C0"/>
                </a:solidFill>
              </a:rPr>
              <a:t>nq</a:t>
            </a:r>
            <a:r>
              <a:rPr lang="en-US" dirty="0"/>
              <a:t> </a:t>
            </a:r>
          </a:p>
          <a:p>
            <a:pPr fontAlgn="base"/>
            <a:r>
              <a:rPr lang="en-US" dirty="0"/>
              <a:t>and standard deviation </a:t>
            </a:r>
            <a:r>
              <a:rPr lang="en-US" b="1" dirty="0">
                <a:solidFill>
                  <a:srgbClr val="0070C0"/>
                </a:solidFill>
              </a:rPr>
              <a:t>s = sqrt(np(1−p))</a:t>
            </a:r>
            <a:r>
              <a:rPr lang="en-US" dirty="0"/>
              <a:t>. </a:t>
            </a:r>
          </a:p>
          <a:p>
            <a:pPr fontAlgn="base"/>
            <a:r>
              <a:rPr lang="en-US" dirty="0"/>
              <a:t>So the z-score is </a:t>
            </a:r>
            <a:r>
              <a:rPr lang="en-US" b="1" dirty="0">
                <a:solidFill>
                  <a:srgbClr val="0070C0"/>
                </a:solidFill>
              </a:rPr>
              <a:t>z=(k−np)/s</a:t>
            </a:r>
            <a:r>
              <a:rPr lang="en-US" dirty="0"/>
              <a:t> and it follows standard normal distribution. </a:t>
            </a:r>
          </a:p>
          <a:p>
            <a:pPr fontAlgn="base"/>
            <a:endParaRPr lang="en-US" dirty="0"/>
          </a:p>
          <a:p>
            <a:pPr fontAlgn="base"/>
            <a:r>
              <a:rPr lang="en-US" dirty="0"/>
              <a:t>On the other hand, a squared normally distributed variable (or their sum) </a:t>
            </a:r>
          </a:p>
          <a:p>
            <a:pPr fontAlgn="base"/>
            <a:r>
              <a:rPr lang="en-US" dirty="0"/>
              <a:t>follows a 𝜒2</a:t>
            </a:r>
            <a:r>
              <a:rPr lang="el-GR" dirty="0"/>
              <a:t>-</a:t>
            </a:r>
            <a:r>
              <a:rPr lang="en-US" dirty="0"/>
              <a:t>distribution. </a:t>
            </a:r>
          </a:p>
          <a:p>
            <a:pPr fontAlgn="base"/>
            <a:r>
              <a:rPr lang="en-US" dirty="0"/>
              <a:t>So, in this case the square z</a:t>
            </a:r>
            <a:r>
              <a:rPr lang="en-US" baseline="30000" dirty="0"/>
              <a:t>2</a:t>
            </a:r>
            <a:r>
              <a:rPr lang="en-US" dirty="0"/>
              <a:t> is 𝜒2</a:t>
            </a:r>
            <a:r>
              <a:rPr lang="el-GR" dirty="0"/>
              <a:t>-</a:t>
            </a:r>
            <a:r>
              <a:rPr lang="en-US" dirty="0"/>
              <a:t>distributed (with 1 degree of freedom). </a:t>
            </a:r>
          </a:p>
          <a:p>
            <a:pPr fontAlgn="base"/>
            <a:endParaRPr lang="en-US" dirty="0"/>
          </a:p>
          <a:p>
            <a:pPr fontAlgn="base"/>
            <a:r>
              <a:rPr lang="en-US" dirty="0"/>
              <a:t>Note that z</a:t>
            </a:r>
            <a:r>
              <a:rPr lang="en-US" baseline="30000" dirty="0"/>
              <a:t>2</a:t>
            </a:r>
            <a:r>
              <a:rPr lang="en-US" dirty="0"/>
              <a:t> can be expressed as</a:t>
            </a:r>
          </a:p>
          <a:p>
            <a:pPr fontAlgn="base"/>
            <a:endParaRPr lang="en-US" dirty="0"/>
          </a:p>
          <a:p>
            <a:pPr fontAlgn="base"/>
            <a:r>
              <a:rPr lang="en-US" dirty="0"/>
              <a:t>which is a more familiar expression for the 𝜒2</a:t>
            </a:r>
            <a:r>
              <a:rPr lang="el-GR" dirty="0"/>
              <a:t>-</a:t>
            </a:r>
            <a:r>
              <a:rPr lang="en-US" dirty="0"/>
              <a:t>statistic.</a:t>
            </a:r>
          </a:p>
        </p:txBody>
      </p:sp>
      <p:sp>
        <p:nvSpPr>
          <p:cNvPr id="4" name="TextBox 3">
            <a:extLst>
              <a:ext uri="{FF2B5EF4-FFF2-40B4-BE49-F238E27FC236}">
                <a16:creationId xmlns:a16="http://schemas.microsoft.com/office/drawing/2014/main" id="{E70C3F17-1A6E-6D4A-B615-BD6CC5474BFB}"/>
              </a:ext>
            </a:extLst>
          </p:cNvPr>
          <p:cNvSpPr txBox="1"/>
          <p:nvPr/>
        </p:nvSpPr>
        <p:spPr>
          <a:xfrm>
            <a:off x="212034" y="251792"/>
            <a:ext cx="7553740" cy="1815882"/>
          </a:xfrm>
          <a:prstGeom prst="rect">
            <a:avLst/>
          </a:prstGeom>
          <a:noFill/>
        </p:spPr>
        <p:txBody>
          <a:bodyPr wrap="square" rtlCol="0">
            <a:spAutoFit/>
          </a:bodyPr>
          <a:lstStyle/>
          <a:p>
            <a:r>
              <a:rPr lang="en-US" sz="2800" b="1" dirty="0"/>
              <a:t>Proof and Intuition </a:t>
            </a:r>
          </a:p>
          <a:p>
            <a:r>
              <a:rPr lang="en-US" sz="2800" b="1" dirty="0"/>
              <a:t>for Chi-squared test</a:t>
            </a:r>
          </a:p>
          <a:p>
            <a:endParaRPr lang="en-US" dirty="0"/>
          </a:p>
          <a:p>
            <a:r>
              <a:rPr lang="en-US" dirty="0"/>
              <a:t>Seven proofs of the Pearson Chi-squared independence test and its graphical </a:t>
            </a:r>
          </a:p>
          <a:p>
            <a:r>
              <a:rPr lang="en-US" dirty="0"/>
              <a:t>interpretation – by Eric </a:t>
            </a:r>
            <a:r>
              <a:rPr lang="en-US" dirty="0" err="1"/>
              <a:t>Benhamou</a:t>
            </a:r>
            <a:r>
              <a:rPr lang="en-US" dirty="0"/>
              <a:t> &amp; Valentin </a:t>
            </a:r>
            <a:r>
              <a:rPr lang="en-US" dirty="0" err="1"/>
              <a:t>Melot</a:t>
            </a:r>
            <a:r>
              <a:rPr lang="en-US" dirty="0"/>
              <a:t> , 2018.</a:t>
            </a:r>
          </a:p>
          <a:p>
            <a:r>
              <a:rPr lang="en-US" dirty="0"/>
              <a:t> - </a:t>
            </a:r>
            <a:r>
              <a:rPr lang="en-US" dirty="0">
                <a:hlinkClick r:id="rId2"/>
              </a:rPr>
              <a:t>https://</a:t>
            </a:r>
            <a:r>
              <a:rPr lang="en-US" dirty="0" err="1">
                <a:hlinkClick r:id="rId2"/>
              </a:rPr>
              <a:t>arxiv.org</a:t>
            </a:r>
            <a:r>
              <a:rPr lang="en-US" dirty="0">
                <a:hlinkClick r:id="rId2"/>
              </a:rPr>
              <a:t>/pdf/1808.09171.pdf</a:t>
            </a:r>
            <a:endParaRPr lang="en-US" dirty="0"/>
          </a:p>
        </p:txBody>
      </p:sp>
      <p:pic>
        <p:nvPicPr>
          <p:cNvPr id="6" name="Picture 5">
            <a:extLst>
              <a:ext uri="{FF2B5EF4-FFF2-40B4-BE49-F238E27FC236}">
                <a16:creationId xmlns:a16="http://schemas.microsoft.com/office/drawing/2014/main" id="{4A05ED34-0071-1A4A-983C-C4565B9B2DD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217724" y="5602822"/>
            <a:ext cx="2211603" cy="436277"/>
          </a:xfrm>
          <a:prstGeom prst="rect">
            <a:avLst/>
          </a:prstGeom>
        </p:spPr>
      </p:pic>
      <p:sp>
        <p:nvSpPr>
          <p:cNvPr id="8" name="TextBox 7">
            <a:extLst>
              <a:ext uri="{FF2B5EF4-FFF2-40B4-BE49-F238E27FC236}">
                <a16:creationId xmlns:a16="http://schemas.microsoft.com/office/drawing/2014/main" id="{6F65C5C2-3329-1B40-B366-E01D184F0538}"/>
              </a:ext>
            </a:extLst>
          </p:cNvPr>
          <p:cNvSpPr txBox="1"/>
          <p:nvPr/>
        </p:nvSpPr>
        <p:spPr>
          <a:xfrm>
            <a:off x="7402943" y="5264718"/>
            <a:ext cx="2413650" cy="1200329"/>
          </a:xfrm>
          <a:prstGeom prst="rect">
            <a:avLst/>
          </a:prstGeom>
          <a:solidFill>
            <a:schemeClr val="accent6">
              <a:lumMod val="20000"/>
              <a:lumOff val="80000"/>
            </a:schemeClr>
          </a:solidFill>
          <a:ln>
            <a:solidFill>
              <a:srgbClr val="00B050"/>
            </a:solidFill>
          </a:ln>
        </p:spPr>
        <p:txBody>
          <a:bodyPr wrap="square" rtlCol="0">
            <a:spAutoFit/>
          </a:bodyPr>
          <a:lstStyle/>
          <a:p>
            <a:r>
              <a:rPr lang="en-US" sz="1200" dirty="0"/>
              <a:t>for white balls:</a:t>
            </a:r>
          </a:p>
          <a:p>
            <a:r>
              <a:rPr lang="en-US" sz="1200" dirty="0"/>
              <a:t>   np = expected value</a:t>
            </a:r>
          </a:p>
          <a:p>
            <a:r>
              <a:rPr lang="en-US" sz="1200" dirty="0"/>
              <a:t>   k    = observed value</a:t>
            </a:r>
          </a:p>
          <a:p>
            <a:r>
              <a:rPr lang="en-US" sz="1200" dirty="0"/>
              <a:t>for black balls:</a:t>
            </a:r>
          </a:p>
          <a:p>
            <a:r>
              <a:rPr lang="en-US" sz="1200" dirty="0"/>
              <a:t>   n(1-p) = expected value</a:t>
            </a:r>
          </a:p>
          <a:p>
            <a:r>
              <a:rPr lang="en-US" sz="1200" dirty="0"/>
              <a:t>   n-k = observed value</a:t>
            </a:r>
          </a:p>
        </p:txBody>
      </p:sp>
      <p:sp>
        <p:nvSpPr>
          <p:cNvPr id="9" name="Right Arrow 8">
            <a:extLst>
              <a:ext uri="{FF2B5EF4-FFF2-40B4-BE49-F238E27FC236}">
                <a16:creationId xmlns:a16="http://schemas.microsoft.com/office/drawing/2014/main" id="{8F0B7228-4740-A241-80AE-1111B048119C}"/>
              </a:ext>
            </a:extLst>
          </p:cNvPr>
          <p:cNvSpPr/>
          <p:nvPr/>
        </p:nvSpPr>
        <p:spPr>
          <a:xfrm rot="10800000">
            <a:off x="5527666" y="5711788"/>
            <a:ext cx="1867516" cy="299686"/>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72914F4-1562-A544-AF39-FE33F7A0EAF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60675" y="40341"/>
            <a:ext cx="5411251" cy="4598640"/>
          </a:xfrm>
          <a:prstGeom prst="rect">
            <a:avLst/>
          </a:prstGeom>
        </p:spPr>
      </p:pic>
      <p:sp>
        <p:nvSpPr>
          <p:cNvPr id="2" name="TextBox 1">
            <a:extLst>
              <a:ext uri="{FF2B5EF4-FFF2-40B4-BE49-F238E27FC236}">
                <a16:creationId xmlns:a16="http://schemas.microsoft.com/office/drawing/2014/main" id="{97F20C75-EA93-B340-A0A6-B71E1F218F42}"/>
              </a:ext>
            </a:extLst>
          </p:cNvPr>
          <p:cNvSpPr txBox="1"/>
          <p:nvPr/>
        </p:nvSpPr>
        <p:spPr>
          <a:xfrm>
            <a:off x="9917728" y="3983055"/>
            <a:ext cx="2018239" cy="523220"/>
          </a:xfrm>
          <a:prstGeom prst="rect">
            <a:avLst/>
          </a:prstGeom>
          <a:noFill/>
        </p:spPr>
        <p:txBody>
          <a:bodyPr wrap="square" rtlCol="0">
            <a:spAutoFit/>
          </a:bodyPr>
          <a:lstStyle/>
          <a:p>
            <a:r>
              <a:rPr lang="en-US" dirty="0"/>
              <a:t>Chi-squared with 1 degree of freedom</a:t>
            </a:r>
          </a:p>
        </p:txBody>
      </p:sp>
    </p:spTree>
    <p:extLst>
      <p:ext uri="{BB962C8B-B14F-4D97-AF65-F5344CB8AC3E}">
        <p14:creationId xmlns:p14="http://schemas.microsoft.com/office/powerpoint/2010/main" val="884841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p:nvPr/>
        </p:nvSpPr>
        <p:spPr>
          <a:xfrm>
            <a:off x="76200" y="76200"/>
            <a:ext cx="6059557" cy="6205330"/>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Example of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a:t>
            </a:r>
            <a:r>
              <a:rPr lang="en-US" sz="1800" dirty="0">
                <a:latin typeface="Calibri"/>
                <a:ea typeface="Calibri"/>
                <a:cs typeface="Calibri"/>
                <a:sym typeface="Calibri"/>
              </a:rPr>
              <a:t> </a:t>
            </a:r>
            <a:r>
              <a:rPr lang="en-US" sz="3000" b="1" dirty="0">
                <a:latin typeface="Calibri"/>
                <a:cs typeface="Calibri"/>
                <a:sym typeface="Calibri"/>
              </a:rPr>
              <a:t> - goodness of fit</a:t>
            </a:r>
            <a:br>
              <a:rPr lang="en-US" sz="1800" dirty="0">
                <a:latin typeface="Calibri"/>
                <a:ea typeface="Calibri"/>
                <a:cs typeface="Calibri"/>
                <a:sym typeface="Calibri"/>
              </a:rPr>
            </a:br>
            <a:r>
              <a:rPr lang="en-US" sz="1300" dirty="0">
                <a:latin typeface="Calibri"/>
                <a:ea typeface="Calibri"/>
                <a:cs typeface="Calibri"/>
                <a:sym typeface="Calibri"/>
              </a:rPr>
              <a:t>( from </a:t>
            </a:r>
            <a:r>
              <a:rPr lang="en-US" sz="1300" u="sng" dirty="0">
                <a:solidFill>
                  <a:schemeClr val="hlink"/>
                </a:solidFill>
                <a:hlinkClick r:id="rId3"/>
              </a:rPr>
              <a:t>https://stattrek.com/chi-square-test/goodness-of-fit.aspx</a:t>
            </a:r>
            <a:r>
              <a:rPr lang="en-US" sz="1300" dirty="0">
                <a:latin typeface="Calibri"/>
                <a:ea typeface="Calibri"/>
                <a:cs typeface="Calibri"/>
                <a:sym typeface="Calibri"/>
              </a:rPr>
              <a:t> )</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have 3 types of cards (T1,T2,T3) with theoretical frequency of (30%, 60%, 10%).</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have a random sample of 100 cards with counts (50, 45, 5).</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Is this sample consistent with theory? Use a 0.05 level of significance.</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b="1" u="sng" dirty="0">
                <a:latin typeface="Calibri"/>
                <a:ea typeface="Calibri"/>
                <a:cs typeface="Calibri"/>
                <a:sym typeface="Calibri"/>
              </a:rPr>
              <a:t>Solution:</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Null hypothesis: The proportions are </a:t>
            </a:r>
            <a:r>
              <a:rPr lang="en-US" sz="1300" dirty="0">
                <a:solidFill>
                  <a:schemeClr val="dk1"/>
                </a:solidFill>
                <a:latin typeface="Calibri"/>
                <a:ea typeface="Calibri"/>
                <a:cs typeface="Calibri"/>
                <a:sym typeface="Calibri"/>
              </a:rPr>
              <a:t>(30%, 60%, 10%)</a:t>
            </a:r>
            <a:endParaRPr sz="13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Alternative hypothesis: At least one of the proportions in the null hypothesis is false.</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Degrees of Freedom DF = k-1 = 3-1 = 2</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a:t>
            </a:r>
            <a:r>
              <a:rPr lang="en-US" sz="1300" baseline="-25000" dirty="0">
                <a:latin typeface="Calibri"/>
                <a:ea typeface="Calibri"/>
                <a:cs typeface="Calibri"/>
                <a:sym typeface="Calibri"/>
              </a:rPr>
              <a:t>1</a:t>
            </a:r>
            <a:r>
              <a:rPr lang="en-US" sz="1300" dirty="0">
                <a:latin typeface="Calibri"/>
                <a:ea typeface="Calibri"/>
                <a:cs typeface="Calibri"/>
                <a:sym typeface="Calibri"/>
              </a:rPr>
              <a:t> = 100*0.3 = 30, E</a:t>
            </a:r>
            <a:r>
              <a:rPr lang="en-US" sz="1300" baseline="-25000" dirty="0">
                <a:latin typeface="Calibri"/>
                <a:ea typeface="Calibri"/>
                <a:cs typeface="Calibri"/>
                <a:sym typeface="Calibri"/>
              </a:rPr>
              <a:t>2</a:t>
            </a:r>
            <a:r>
              <a:rPr lang="en-US" sz="1300" dirty="0">
                <a:latin typeface="Calibri"/>
                <a:ea typeface="Calibri"/>
                <a:cs typeface="Calibri"/>
                <a:sym typeface="Calibri"/>
              </a:rPr>
              <a:t> = 100*0.6 = 60, E</a:t>
            </a:r>
            <a:r>
              <a:rPr lang="en-US" sz="1300" baseline="-25000" dirty="0">
                <a:latin typeface="Calibri"/>
                <a:ea typeface="Calibri"/>
                <a:cs typeface="Calibri"/>
                <a:sym typeface="Calibri"/>
              </a:rPr>
              <a:t>3</a:t>
            </a:r>
            <a:r>
              <a:rPr lang="en-US" sz="1300" dirty="0">
                <a:latin typeface="Calibri"/>
                <a:ea typeface="Calibri"/>
                <a:cs typeface="Calibri"/>
                <a:sym typeface="Calibri"/>
              </a:rPr>
              <a:t> = </a:t>
            </a:r>
            <a:r>
              <a:rPr lang="en-US" sz="1300" dirty="0">
                <a:solidFill>
                  <a:schemeClr val="dk1"/>
                </a:solidFill>
                <a:latin typeface="Calibri"/>
                <a:ea typeface="Calibri"/>
                <a:cs typeface="Calibri"/>
                <a:sym typeface="Calibri"/>
              </a:rPr>
              <a:t>100 * 0.10 = 10</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Χ</a:t>
            </a:r>
            <a:r>
              <a:rPr lang="en-US" sz="1300" baseline="30000" dirty="0">
                <a:latin typeface="Calibri"/>
                <a:ea typeface="Calibri"/>
                <a:cs typeface="Calibri"/>
                <a:sym typeface="Calibri"/>
              </a:rPr>
              <a:t>2</a:t>
            </a:r>
            <a:r>
              <a:rPr lang="en-US" sz="1300" dirty="0">
                <a:latin typeface="Calibri"/>
                <a:ea typeface="Calibri"/>
                <a:cs typeface="Calibri"/>
                <a:sym typeface="Calibri"/>
              </a:rPr>
              <a:t> = </a:t>
            </a:r>
            <a:r>
              <a:rPr lang="en-US" sz="1300" dirty="0" err="1">
                <a:latin typeface="Calibri"/>
                <a:ea typeface="Calibri"/>
                <a:cs typeface="Calibri"/>
                <a:sym typeface="Calibri"/>
              </a:rPr>
              <a:t>Σ</a:t>
            </a:r>
            <a:r>
              <a:rPr lang="en-US" sz="1300" dirty="0">
                <a:latin typeface="Calibri"/>
                <a:ea typeface="Calibri"/>
                <a:cs typeface="Calibri"/>
                <a:sym typeface="Calibri"/>
              </a:rPr>
              <a:t> [ (O</a:t>
            </a:r>
            <a:r>
              <a:rPr lang="en-US" sz="1300" baseline="-25000" dirty="0">
                <a:latin typeface="Calibri"/>
                <a:ea typeface="Calibri"/>
                <a:cs typeface="Calibri"/>
                <a:sym typeface="Calibri"/>
              </a:rPr>
              <a:t>i</a:t>
            </a:r>
            <a:r>
              <a:rPr lang="en-US" sz="1300" dirty="0">
                <a:latin typeface="Calibri"/>
                <a:ea typeface="Calibri"/>
                <a:cs typeface="Calibri"/>
                <a:sym typeface="Calibri"/>
              </a:rPr>
              <a:t> - </a:t>
            </a:r>
            <a:r>
              <a:rPr lang="en-US" sz="1300" dirty="0" err="1">
                <a:latin typeface="Calibri"/>
                <a:ea typeface="Calibri"/>
                <a:cs typeface="Calibri"/>
                <a:sym typeface="Calibri"/>
              </a:rPr>
              <a:t>E</a:t>
            </a:r>
            <a:r>
              <a:rPr lang="en-US" sz="1300" baseline="-25000" dirty="0" err="1">
                <a:latin typeface="Calibri"/>
                <a:ea typeface="Calibri"/>
                <a:cs typeface="Calibri"/>
                <a:sym typeface="Calibri"/>
              </a:rPr>
              <a:t>i</a:t>
            </a:r>
            <a:r>
              <a:rPr lang="en-US" sz="1300" dirty="0">
                <a:latin typeface="Calibri"/>
                <a:ea typeface="Calibri"/>
                <a:cs typeface="Calibri"/>
                <a:sym typeface="Calibri"/>
              </a:rPr>
              <a:t>)</a:t>
            </a:r>
            <a:r>
              <a:rPr lang="en-US" sz="1300" baseline="30000" dirty="0">
                <a:latin typeface="Calibri"/>
                <a:ea typeface="Calibri"/>
                <a:cs typeface="Calibri"/>
                <a:sym typeface="Calibri"/>
              </a:rPr>
              <a:t>2</a:t>
            </a:r>
            <a:r>
              <a:rPr lang="en-US" sz="1300" dirty="0">
                <a:latin typeface="Calibri"/>
                <a:ea typeface="Calibri"/>
                <a:cs typeface="Calibri"/>
                <a:sym typeface="Calibri"/>
              </a:rPr>
              <a:t> / </a:t>
            </a:r>
            <a:r>
              <a:rPr lang="en-US" sz="1300" dirty="0" err="1">
                <a:latin typeface="Calibri"/>
                <a:ea typeface="Calibri"/>
                <a:cs typeface="Calibri"/>
                <a:sym typeface="Calibri"/>
              </a:rPr>
              <a:t>E</a:t>
            </a:r>
            <a:r>
              <a:rPr lang="en-US" sz="1300" baseline="-25000" dirty="0" err="1">
                <a:latin typeface="Calibri"/>
                <a:ea typeface="Calibri"/>
                <a:cs typeface="Calibri"/>
                <a:sym typeface="Calibri"/>
              </a:rPr>
              <a:t>i</a:t>
            </a:r>
            <a:r>
              <a:rPr lang="en-US" sz="1300" dirty="0">
                <a:latin typeface="Calibri"/>
                <a:ea typeface="Calibri"/>
                <a:cs typeface="Calibri"/>
                <a:sym typeface="Calibri"/>
              </a:rPr>
              <a:t> ] =  [ (50 - 30)</a:t>
            </a:r>
            <a:r>
              <a:rPr lang="en-US" sz="1300" baseline="30000" dirty="0">
                <a:latin typeface="Calibri"/>
                <a:ea typeface="Calibri"/>
                <a:cs typeface="Calibri"/>
                <a:sym typeface="Calibri"/>
              </a:rPr>
              <a:t>2</a:t>
            </a:r>
            <a:r>
              <a:rPr lang="en-US" sz="1300" dirty="0">
                <a:latin typeface="Calibri"/>
                <a:ea typeface="Calibri"/>
                <a:cs typeface="Calibri"/>
                <a:sym typeface="Calibri"/>
              </a:rPr>
              <a:t> / 30 ] + [ (45 - 60)</a:t>
            </a:r>
            <a:r>
              <a:rPr lang="en-US" sz="1300" baseline="30000" dirty="0">
                <a:latin typeface="Calibri"/>
                <a:ea typeface="Calibri"/>
                <a:cs typeface="Calibri"/>
                <a:sym typeface="Calibri"/>
              </a:rPr>
              <a:t>2</a:t>
            </a:r>
            <a:r>
              <a:rPr lang="en-US" sz="1300" dirty="0">
                <a:latin typeface="Calibri"/>
                <a:ea typeface="Calibri"/>
                <a:cs typeface="Calibri"/>
                <a:sym typeface="Calibri"/>
              </a:rPr>
              <a:t> / 60 ] + [ (5 - 10)</a:t>
            </a:r>
            <a:r>
              <a:rPr lang="en-US" sz="1300" baseline="30000" dirty="0">
                <a:latin typeface="Calibri"/>
                <a:ea typeface="Calibri"/>
                <a:cs typeface="Calibri"/>
                <a:sym typeface="Calibri"/>
              </a:rPr>
              <a:t>2</a:t>
            </a:r>
            <a:r>
              <a:rPr lang="en-US" sz="1300" dirty="0">
                <a:latin typeface="Calibri"/>
                <a:ea typeface="Calibri"/>
                <a:cs typeface="Calibri"/>
                <a:sym typeface="Calibri"/>
              </a:rPr>
              <a:t> / 10 ] = 19.58</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2 degrees of freedom is more extreme than 19.58.</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Using Chi-Square Distribution we find P(Χ2 &gt; 19.58) = 0.0001.</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Since the P-value (0.0001) is less than the significance level (0.05), we reject the null hypothesis.</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Note: If you use this approach on an exam, you may also want to mention why this approach is appropriate. </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Specifically, the approach is appropriate because the sampling method was simple random sampling, the variable under study was categorical, and each level of the categorical variable had an expected frequency count of at least 5.</a:t>
            </a:r>
            <a:endParaRPr sz="1300" dirty="0">
              <a:latin typeface="Calibri"/>
              <a:ea typeface="Calibri"/>
              <a:cs typeface="Calibri"/>
              <a:sym typeface="Calibri"/>
            </a:endParaRPr>
          </a:p>
        </p:txBody>
      </p:sp>
      <p:sp>
        <p:nvSpPr>
          <p:cNvPr id="3" name="Google Shape;130;p18">
            <a:extLst>
              <a:ext uri="{FF2B5EF4-FFF2-40B4-BE49-F238E27FC236}">
                <a16:creationId xmlns:a16="http://schemas.microsoft.com/office/drawing/2014/main" id="{B91C97CA-E596-D14D-8D2B-679B5C2D3B30}"/>
              </a:ext>
            </a:extLst>
          </p:cNvPr>
          <p:cNvSpPr txBox="1"/>
          <p:nvPr/>
        </p:nvSpPr>
        <p:spPr>
          <a:xfrm>
            <a:off x="6390861" y="76200"/>
            <a:ext cx="5184913" cy="3642360"/>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Example of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 coin flip</a:t>
            </a:r>
            <a:r>
              <a:rPr lang="en-US" sz="1800" dirty="0">
                <a:latin typeface="Calibri"/>
                <a:ea typeface="Calibri"/>
                <a:cs typeface="Calibri"/>
                <a:sym typeface="Calibri"/>
              </a:rPr>
              <a:t>   </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X2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that a chi-square statistic having one degree of freedom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is more extreme than that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0"/>
            <a:ext cx="6332451" cy="494188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for Independence </a:t>
            </a:r>
            <a:br>
              <a:rPr lang="en-US" sz="3000" b="1" dirty="0">
                <a:latin typeface="Calibri"/>
                <a:ea typeface="Calibri"/>
                <a:cs typeface="Calibri"/>
                <a:sym typeface="Calibri"/>
              </a:rPr>
            </a:br>
            <a:r>
              <a:rPr lang="en-US" sz="2000" b="1" dirty="0">
                <a:latin typeface="Calibri"/>
                <a:ea typeface="Calibri"/>
                <a:cs typeface="Calibri"/>
                <a:sym typeface="Calibri"/>
              </a:rPr>
              <a:t>(two-way tables, association)</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Evaluates the relationship between two variables.</a:t>
            </a:r>
          </a:p>
          <a:p>
            <a:pPr marL="0" lvl="0" indent="0" algn="l" rtl="0">
              <a:spcBef>
                <a:spcPts val="0"/>
              </a:spcBef>
              <a:spcAft>
                <a:spcPts val="0"/>
              </a:spcAft>
              <a:buNone/>
            </a:pPr>
            <a:r>
              <a:rPr lang="en-US" b="1" dirty="0">
                <a:latin typeface="Calibri"/>
                <a:ea typeface="Calibri"/>
                <a:cs typeface="Calibri"/>
                <a:sym typeface="Calibri"/>
              </a:rPr>
              <a:t>It is a non-parametric test, performed on categorical data.</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Example:</a:t>
            </a:r>
          </a:p>
          <a:p>
            <a:pPr marL="0" lvl="0" indent="0" algn="l" rtl="0">
              <a:spcBef>
                <a:spcPts val="0"/>
              </a:spcBef>
              <a:spcAft>
                <a:spcPts val="0"/>
              </a:spcAft>
              <a:buNone/>
            </a:pPr>
            <a:r>
              <a:rPr lang="en-US" b="1" dirty="0">
                <a:latin typeface="Calibri"/>
                <a:ea typeface="Calibri"/>
                <a:cs typeface="Calibri"/>
                <a:sym typeface="Calibri"/>
              </a:rPr>
              <a:t>500 boys and girls are asked which is their favorite color: </a:t>
            </a:r>
          </a:p>
          <a:p>
            <a:pPr marL="0" lvl="0" indent="0" algn="l" rtl="0">
              <a:spcBef>
                <a:spcPts val="0"/>
              </a:spcBef>
              <a:spcAft>
                <a:spcPts val="0"/>
              </a:spcAft>
              <a:buNone/>
            </a:pPr>
            <a:r>
              <a:rPr lang="en-US" b="1" dirty="0">
                <a:latin typeface="Calibri"/>
                <a:ea typeface="Calibri"/>
                <a:cs typeface="Calibri"/>
                <a:sym typeface="Calibri"/>
              </a:rPr>
              <a:t>blue, green, or pink (see results).</a:t>
            </a:r>
          </a:p>
          <a:p>
            <a:pPr marL="0" lvl="0" indent="0" algn="l" rtl="0">
              <a:spcBef>
                <a:spcPts val="0"/>
              </a:spcBef>
              <a:spcAft>
                <a:spcPts val="0"/>
              </a:spcAft>
              <a:buNone/>
            </a:pPr>
            <a:r>
              <a:rPr lang="en-US" b="1" dirty="0">
                <a:latin typeface="Calibri"/>
                <a:ea typeface="Calibri"/>
                <a:cs typeface="Calibri"/>
                <a:sym typeface="Calibri"/>
              </a:rPr>
              <a:t>Using alpha = 0.05, would you conclude that there is a relationship </a:t>
            </a:r>
          </a:p>
          <a:p>
            <a:pPr marL="0" lvl="0" indent="0" algn="l" rtl="0">
              <a:spcBef>
                <a:spcPts val="0"/>
              </a:spcBef>
              <a:spcAft>
                <a:spcPts val="0"/>
              </a:spcAft>
              <a:buNone/>
            </a:pPr>
            <a:r>
              <a:rPr lang="en-US" b="1" dirty="0">
                <a:latin typeface="Calibri"/>
                <a:ea typeface="Calibri"/>
                <a:cs typeface="Calibri"/>
                <a:sym typeface="Calibri"/>
              </a:rPr>
              <a:t>between gender and favorite color?</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Degrees of Freedom </a:t>
            </a:r>
            <a:r>
              <a:rPr lang="en-US" b="1" dirty="0" err="1">
                <a:latin typeface="Calibri"/>
                <a:ea typeface="Calibri"/>
                <a:cs typeface="Calibri"/>
                <a:sym typeface="Calibri"/>
              </a:rPr>
              <a:t>df</a:t>
            </a:r>
            <a:r>
              <a:rPr lang="en-US" b="1" dirty="0">
                <a:latin typeface="Calibri"/>
                <a:ea typeface="Calibri"/>
                <a:cs typeface="Calibri"/>
                <a:sym typeface="Calibri"/>
              </a:rPr>
              <a:t> = (rows-1)(columns-1) = (2-1)(3-1) = 2</a:t>
            </a: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In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table the value for alpha=0.05 and </a:t>
            </a:r>
            <a:r>
              <a:rPr lang="en-US" b="1" dirty="0" err="1">
                <a:latin typeface="Calibri"/>
                <a:ea typeface="Calibri"/>
                <a:cs typeface="Calibri"/>
                <a:sym typeface="Calibri"/>
              </a:rPr>
              <a:t>df</a:t>
            </a:r>
            <a:r>
              <a:rPr lang="en-US" b="1" dirty="0">
                <a:latin typeface="Calibri"/>
                <a:ea typeface="Calibri"/>
                <a:cs typeface="Calibri"/>
                <a:sym typeface="Calibri"/>
              </a:rPr>
              <a:t>=2 is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Calculate statistics: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sum [(</a:t>
            </a:r>
            <a:r>
              <a:rPr lang="en-US" b="1" dirty="0" err="1">
                <a:latin typeface="Calibri"/>
                <a:ea typeface="Calibri"/>
                <a:cs typeface="Calibri"/>
                <a:sym typeface="Calibri"/>
              </a:rPr>
              <a:t>f</a:t>
            </a:r>
            <a:r>
              <a:rPr lang="en-US" b="1" baseline="-25000" dirty="0" err="1">
                <a:latin typeface="Calibri"/>
                <a:ea typeface="Calibri"/>
                <a:cs typeface="Calibri"/>
                <a:sym typeface="Calibri"/>
              </a:rPr>
              <a:t>o</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a:t>
            </a:r>
            <a:r>
              <a:rPr lang="en-US" b="1" baseline="30000" dirty="0">
                <a:latin typeface="Calibri"/>
                <a:ea typeface="Calibri"/>
                <a:cs typeface="Calibri"/>
                <a:sym typeface="Calibri"/>
              </a:rPr>
              <a:t>2</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 ]  =  170.14   &gt;&gt;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Conclusion: yes, there is a relationship</a:t>
            </a:r>
          </a:p>
          <a:p>
            <a:pPr lvl="0"/>
            <a:endParaRPr lang="en-US" b="1" dirty="0">
              <a:latin typeface="Calibri"/>
              <a:ea typeface="Calibri"/>
              <a:cs typeface="Calibri"/>
              <a:sym typeface="Calibri"/>
            </a:endParaRPr>
          </a:p>
          <a:p>
            <a:pPr lvl="0"/>
            <a:endParaRPr lang="en-US" b="1" dirty="0">
              <a:latin typeface="Calibri"/>
              <a:ea typeface="Calibri"/>
              <a:cs typeface="Calibri"/>
              <a:sym typeface="Calibri"/>
            </a:endParaRPr>
          </a:p>
        </p:txBody>
      </p:sp>
      <p:graphicFrame>
        <p:nvGraphicFramePr>
          <p:cNvPr id="2" name="Table 4">
            <a:extLst>
              <a:ext uri="{FF2B5EF4-FFF2-40B4-BE49-F238E27FC236}">
                <a16:creationId xmlns:a16="http://schemas.microsoft.com/office/drawing/2014/main" id="{A8ABD7D5-C144-9947-B0DE-C631CEB6EEF9}"/>
              </a:ext>
            </a:extLst>
          </p:cNvPr>
          <p:cNvGraphicFramePr>
            <a:graphicFrameLocks noGrp="1"/>
          </p:cNvGraphicFramePr>
          <p:nvPr>
            <p:extLst>
              <p:ext uri="{D42A27DB-BD31-4B8C-83A1-F6EECF244321}">
                <p14:modId xmlns:p14="http://schemas.microsoft.com/office/powerpoint/2010/main" val="1597301971"/>
              </p:ext>
            </p:extLst>
          </p:nvPr>
        </p:nvGraphicFramePr>
        <p:xfrm>
          <a:off x="6785809" y="1966944"/>
          <a:ext cx="4697665" cy="1219200"/>
        </p:xfrm>
        <a:graphic>
          <a:graphicData uri="http://schemas.openxmlformats.org/drawingml/2006/table">
            <a:tbl>
              <a:tblPr firstRow="1" bandRow="1">
                <a:tableStyleId>{B1618C5A-BF4F-44D7-ADB2-C5301EF81F8A}</a:tableStyleId>
              </a:tblPr>
              <a:tblGrid>
                <a:gridCol w="1010653">
                  <a:extLst>
                    <a:ext uri="{9D8B030D-6E8A-4147-A177-3AD203B41FA5}">
                      <a16:colId xmlns:a16="http://schemas.microsoft.com/office/drawing/2014/main" val="2202365553"/>
                    </a:ext>
                  </a:extLst>
                </a:gridCol>
                <a:gridCol w="868413">
                  <a:extLst>
                    <a:ext uri="{9D8B030D-6E8A-4147-A177-3AD203B41FA5}">
                      <a16:colId xmlns:a16="http://schemas.microsoft.com/office/drawing/2014/main" val="1122966939"/>
                    </a:ext>
                  </a:extLst>
                </a:gridCol>
                <a:gridCol w="939533">
                  <a:extLst>
                    <a:ext uri="{9D8B030D-6E8A-4147-A177-3AD203B41FA5}">
                      <a16:colId xmlns:a16="http://schemas.microsoft.com/office/drawing/2014/main" val="358273407"/>
                    </a:ext>
                  </a:extLst>
                </a:gridCol>
                <a:gridCol w="939533">
                  <a:extLst>
                    <a:ext uri="{9D8B030D-6E8A-4147-A177-3AD203B41FA5}">
                      <a16:colId xmlns:a16="http://schemas.microsoft.com/office/drawing/2014/main" val="1495441672"/>
                    </a:ext>
                  </a:extLst>
                </a:gridCol>
                <a:gridCol w="939533">
                  <a:extLst>
                    <a:ext uri="{9D8B030D-6E8A-4147-A177-3AD203B41FA5}">
                      <a16:colId xmlns:a16="http://schemas.microsoft.com/office/drawing/2014/main" val="2908043202"/>
                    </a:ext>
                  </a:extLst>
                </a:gridCol>
              </a:tblGrid>
              <a:tr h="249967">
                <a:tc>
                  <a:txBody>
                    <a:bodyPr/>
                    <a:lstStyle/>
                    <a:p>
                      <a:r>
                        <a:rPr lang="en-US" b="1">
                          <a:solidFill>
                            <a:srgbClr val="FF0000"/>
                          </a:solidFill>
                        </a:rPr>
                        <a:t>Observed</a:t>
                      </a:r>
                    </a:p>
                  </a:txBody>
                  <a:tcPr/>
                </a:tc>
                <a:tc>
                  <a:txBody>
                    <a:bodyPr/>
                    <a:lstStyle/>
                    <a:p>
                      <a:r>
                        <a:rPr lang="en-US"/>
                        <a:t>Blue</a:t>
                      </a:r>
                    </a:p>
                  </a:txBody>
                  <a:tcPr/>
                </a:tc>
                <a:tc>
                  <a:txBody>
                    <a:bodyPr/>
                    <a:lstStyle/>
                    <a:p>
                      <a:r>
                        <a:rPr lang="en-US"/>
                        <a:t>Green</a:t>
                      </a:r>
                    </a:p>
                  </a:txBody>
                  <a:tcPr/>
                </a:tc>
                <a:tc>
                  <a:txBody>
                    <a:bodyPr/>
                    <a:lstStyle/>
                    <a:p>
                      <a:r>
                        <a:rPr lang="en-US"/>
                        <a:t>Pink</a:t>
                      </a:r>
                    </a:p>
                  </a:txBody>
                  <a:tcPr/>
                </a:tc>
                <a:tc>
                  <a:txBody>
                    <a:bodyPr/>
                    <a:lstStyle/>
                    <a:p>
                      <a:r>
                        <a:rPr lang="en-US"/>
                        <a:t>Total</a:t>
                      </a:r>
                    </a:p>
                  </a:txBody>
                  <a:tcPr/>
                </a:tc>
                <a:extLst>
                  <a:ext uri="{0D108BD9-81ED-4DB2-BD59-A6C34878D82A}">
                    <a16:rowId xmlns:a16="http://schemas.microsoft.com/office/drawing/2014/main" val="2770729440"/>
                  </a:ext>
                </a:extLst>
              </a:tr>
              <a:tr h="249967">
                <a:tc>
                  <a:txBody>
                    <a:bodyPr/>
                    <a:lstStyle/>
                    <a:p>
                      <a:r>
                        <a:rPr lang="en-US"/>
                        <a:t>Boys</a:t>
                      </a:r>
                    </a:p>
                  </a:txBody>
                  <a:tcPr/>
                </a:tc>
                <a:tc>
                  <a:txBody>
                    <a:bodyPr/>
                    <a:lstStyle/>
                    <a:p>
                      <a:r>
                        <a:rPr lang="en-US" b="1">
                          <a:solidFill>
                            <a:srgbClr val="0070C0"/>
                          </a:solidFill>
                        </a:rPr>
                        <a:t>100</a:t>
                      </a:r>
                    </a:p>
                  </a:txBody>
                  <a:tcPr/>
                </a:tc>
                <a:tc>
                  <a:txBody>
                    <a:bodyPr/>
                    <a:lstStyle/>
                    <a:p>
                      <a:r>
                        <a:rPr lang="en-US" b="1">
                          <a:solidFill>
                            <a:srgbClr val="0070C0"/>
                          </a:solidFill>
                        </a:rPr>
                        <a:t>150</a:t>
                      </a:r>
                    </a:p>
                  </a:txBody>
                  <a:tcPr/>
                </a:tc>
                <a:tc>
                  <a:txBody>
                    <a:bodyPr/>
                    <a:lstStyle/>
                    <a:p>
                      <a:r>
                        <a:rPr lang="en-US" b="1">
                          <a:solidFill>
                            <a:srgbClr val="0070C0"/>
                          </a:solidFill>
                        </a:rPr>
                        <a:t>50</a:t>
                      </a:r>
                    </a:p>
                  </a:txBody>
                  <a:tcPr/>
                </a:tc>
                <a:tc>
                  <a:txBody>
                    <a:bodyPr/>
                    <a:lstStyle/>
                    <a:p>
                      <a:r>
                        <a:rPr lang="en-US"/>
                        <a:t>300</a:t>
                      </a:r>
                    </a:p>
                  </a:txBody>
                  <a:tcPr/>
                </a:tc>
                <a:extLst>
                  <a:ext uri="{0D108BD9-81ED-4DB2-BD59-A6C34878D82A}">
                    <a16:rowId xmlns:a16="http://schemas.microsoft.com/office/drawing/2014/main" val="4034803900"/>
                  </a:ext>
                </a:extLst>
              </a:tr>
              <a:tr h="249967">
                <a:tc>
                  <a:txBody>
                    <a:bodyPr/>
                    <a:lstStyle/>
                    <a:p>
                      <a:r>
                        <a:rPr lang="en-US"/>
                        <a:t>Girls</a:t>
                      </a:r>
                    </a:p>
                  </a:txBody>
                  <a:tcPr/>
                </a:tc>
                <a:tc>
                  <a:txBody>
                    <a:bodyPr/>
                    <a:lstStyle/>
                    <a:p>
                      <a:r>
                        <a:rPr lang="en-US" b="1">
                          <a:solidFill>
                            <a:srgbClr val="0070C0"/>
                          </a:solidFill>
                        </a:rPr>
                        <a:t>20</a:t>
                      </a:r>
                    </a:p>
                  </a:txBody>
                  <a:tcPr/>
                </a:tc>
                <a:tc>
                  <a:txBody>
                    <a:bodyPr/>
                    <a:lstStyle/>
                    <a:p>
                      <a:r>
                        <a:rPr lang="en-US" b="1">
                          <a:solidFill>
                            <a:srgbClr val="0070C0"/>
                          </a:solidFill>
                        </a:rPr>
                        <a:t>30</a:t>
                      </a:r>
                    </a:p>
                  </a:txBody>
                  <a:tcPr/>
                </a:tc>
                <a:tc>
                  <a:txBody>
                    <a:bodyPr/>
                    <a:lstStyle/>
                    <a:p>
                      <a:r>
                        <a:rPr lang="en-US" b="1">
                          <a:solidFill>
                            <a:srgbClr val="0070C0"/>
                          </a:solidFill>
                        </a:rPr>
                        <a:t>150</a:t>
                      </a:r>
                    </a:p>
                  </a:txBody>
                  <a:tcPr/>
                </a:tc>
                <a:tc>
                  <a:txBody>
                    <a:bodyPr/>
                    <a:lstStyle/>
                    <a:p>
                      <a:r>
                        <a:rPr lang="en-US"/>
                        <a:t>200</a:t>
                      </a:r>
                    </a:p>
                  </a:txBody>
                  <a:tcPr/>
                </a:tc>
                <a:extLst>
                  <a:ext uri="{0D108BD9-81ED-4DB2-BD59-A6C34878D82A}">
                    <a16:rowId xmlns:a16="http://schemas.microsoft.com/office/drawing/2014/main" val="1914334640"/>
                  </a:ext>
                </a:extLst>
              </a:tr>
              <a:tr h="249967">
                <a:tc>
                  <a:txBody>
                    <a:bodyPr/>
                    <a:lstStyle/>
                    <a:p>
                      <a:r>
                        <a:rPr lang="en-US"/>
                        <a:t>Total</a:t>
                      </a:r>
                    </a:p>
                  </a:txBody>
                  <a:tcPr/>
                </a:tc>
                <a:tc>
                  <a:txBody>
                    <a:bodyPr/>
                    <a:lstStyle/>
                    <a:p>
                      <a:r>
                        <a:rPr lang="en-US"/>
                        <a:t>120</a:t>
                      </a:r>
                    </a:p>
                  </a:txBody>
                  <a:tcPr/>
                </a:tc>
                <a:tc>
                  <a:txBody>
                    <a:bodyPr/>
                    <a:lstStyle/>
                    <a:p>
                      <a:r>
                        <a:rPr lang="en-US"/>
                        <a:t>180</a:t>
                      </a:r>
                    </a:p>
                  </a:txBody>
                  <a:tcPr/>
                </a:tc>
                <a:tc>
                  <a:txBody>
                    <a:bodyPr/>
                    <a:lstStyle/>
                    <a:p>
                      <a:r>
                        <a:rPr lang="en-US"/>
                        <a:t>200</a:t>
                      </a:r>
                    </a:p>
                  </a:txBody>
                  <a:tcPr/>
                </a:tc>
                <a:tc>
                  <a:txBody>
                    <a:bodyPr/>
                    <a:lstStyle/>
                    <a:p>
                      <a:r>
                        <a:rPr lang="en-US"/>
                        <a:t>N=500</a:t>
                      </a:r>
                    </a:p>
                  </a:txBody>
                  <a:tcPr/>
                </a:tc>
                <a:extLst>
                  <a:ext uri="{0D108BD9-81ED-4DB2-BD59-A6C34878D82A}">
                    <a16:rowId xmlns:a16="http://schemas.microsoft.com/office/drawing/2014/main" val="2389300888"/>
                  </a:ext>
                </a:extLst>
              </a:tr>
            </a:tbl>
          </a:graphicData>
        </a:graphic>
      </p:graphicFrame>
      <p:graphicFrame>
        <p:nvGraphicFramePr>
          <p:cNvPr id="6" name="Table 4">
            <a:extLst>
              <a:ext uri="{FF2B5EF4-FFF2-40B4-BE49-F238E27FC236}">
                <a16:creationId xmlns:a16="http://schemas.microsoft.com/office/drawing/2014/main" id="{11A6F061-1CFD-B042-8D6F-9C4DA902ACA5}"/>
              </a:ext>
            </a:extLst>
          </p:cNvPr>
          <p:cNvGraphicFramePr>
            <a:graphicFrameLocks noGrp="1"/>
          </p:cNvGraphicFramePr>
          <p:nvPr>
            <p:extLst>
              <p:ext uri="{D42A27DB-BD31-4B8C-83A1-F6EECF244321}">
                <p14:modId xmlns:p14="http://schemas.microsoft.com/office/powerpoint/2010/main" val="4076190962"/>
              </p:ext>
            </p:extLst>
          </p:nvPr>
        </p:nvGraphicFramePr>
        <p:xfrm>
          <a:off x="6785808" y="3850644"/>
          <a:ext cx="4697665" cy="1219200"/>
        </p:xfrm>
        <a:graphic>
          <a:graphicData uri="http://schemas.openxmlformats.org/drawingml/2006/table">
            <a:tbl>
              <a:tblPr firstRow="1" bandRow="1">
                <a:tableStyleId>{B1618C5A-BF4F-44D7-ADB2-C5301EF81F8A}</a:tableStyleId>
              </a:tblPr>
              <a:tblGrid>
                <a:gridCol w="1010653">
                  <a:extLst>
                    <a:ext uri="{9D8B030D-6E8A-4147-A177-3AD203B41FA5}">
                      <a16:colId xmlns:a16="http://schemas.microsoft.com/office/drawing/2014/main" val="2202365553"/>
                    </a:ext>
                  </a:extLst>
                </a:gridCol>
                <a:gridCol w="868413">
                  <a:extLst>
                    <a:ext uri="{9D8B030D-6E8A-4147-A177-3AD203B41FA5}">
                      <a16:colId xmlns:a16="http://schemas.microsoft.com/office/drawing/2014/main" val="1122966939"/>
                    </a:ext>
                  </a:extLst>
                </a:gridCol>
                <a:gridCol w="939533">
                  <a:extLst>
                    <a:ext uri="{9D8B030D-6E8A-4147-A177-3AD203B41FA5}">
                      <a16:colId xmlns:a16="http://schemas.microsoft.com/office/drawing/2014/main" val="358273407"/>
                    </a:ext>
                  </a:extLst>
                </a:gridCol>
                <a:gridCol w="939533">
                  <a:extLst>
                    <a:ext uri="{9D8B030D-6E8A-4147-A177-3AD203B41FA5}">
                      <a16:colId xmlns:a16="http://schemas.microsoft.com/office/drawing/2014/main" val="1495441672"/>
                    </a:ext>
                  </a:extLst>
                </a:gridCol>
                <a:gridCol w="939533">
                  <a:extLst>
                    <a:ext uri="{9D8B030D-6E8A-4147-A177-3AD203B41FA5}">
                      <a16:colId xmlns:a16="http://schemas.microsoft.com/office/drawing/2014/main" val="2908043202"/>
                    </a:ext>
                  </a:extLst>
                </a:gridCol>
              </a:tblGrid>
              <a:tr h="249967">
                <a:tc>
                  <a:txBody>
                    <a:bodyPr/>
                    <a:lstStyle/>
                    <a:p>
                      <a:r>
                        <a:rPr lang="en-US" b="1">
                          <a:solidFill>
                            <a:srgbClr val="FF0000"/>
                          </a:solidFill>
                        </a:rPr>
                        <a:t>Expected</a:t>
                      </a:r>
                    </a:p>
                  </a:txBody>
                  <a:tcPr/>
                </a:tc>
                <a:tc>
                  <a:txBody>
                    <a:bodyPr/>
                    <a:lstStyle/>
                    <a:p>
                      <a:r>
                        <a:rPr lang="en-US"/>
                        <a:t>Blue</a:t>
                      </a:r>
                    </a:p>
                  </a:txBody>
                  <a:tcPr/>
                </a:tc>
                <a:tc>
                  <a:txBody>
                    <a:bodyPr/>
                    <a:lstStyle/>
                    <a:p>
                      <a:r>
                        <a:rPr lang="en-US"/>
                        <a:t>Green</a:t>
                      </a:r>
                    </a:p>
                  </a:txBody>
                  <a:tcPr/>
                </a:tc>
                <a:tc>
                  <a:txBody>
                    <a:bodyPr/>
                    <a:lstStyle/>
                    <a:p>
                      <a:r>
                        <a:rPr lang="en-US"/>
                        <a:t>Pink</a:t>
                      </a:r>
                    </a:p>
                  </a:txBody>
                  <a:tcPr/>
                </a:tc>
                <a:tc>
                  <a:txBody>
                    <a:bodyPr/>
                    <a:lstStyle/>
                    <a:p>
                      <a:r>
                        <a:rPr lang="en-US"/>
                        <a:t>Total</a:t>
                      </a:r>
                    </a:p>
                  </a:txBody>
                  <a:tcPr/>
                </a:tc>
                <a:extLst>
                  <a:ext uri="{0D108BD9-81ED-4DB2-BD59-A6C34878D82A}">
                    <a16:rowId xmlns:a16="http://schemas.microsoft.com/office/drawing/2014/main" val="2770729440"/>
                  </a:ext>
                </a:extLst>
              </a:tr>
              <a:tr h="249967">
                <a:tc>
                  <a:txBody>
                    <a:bodyPr/>
                    <a:lstStyle/>
                    <a:p>
                      <a:r>
                        <a:rPr lang="en-US"/>
                        <a:t>Boys</a:t>
                      </a:r>
                    </a:p>
                  </a:txBody>
                  <a:tcPr/>
                </a:tc>
                <a:tc>
                  <a:txBody>
                    <a:bodyPr/>
                    <a:lstStyle/>
                    <a:p>
                      <a:r>
                        <a:rPr lang="en-US" b="1">
                          <a:solidFill>
                            <a:srgbClr val="0070C0"/>
                          </a:solidFill>
                        </a:rPr>
                        <a:t>72</a:t>
                      </a:r>
                    </a:p>
                  </a:txBody>
                  <a:tcPr/>
                </a:tc>
                <a:tc>
                  <a:txBody>
                    <a:bodyPr/>
                    <a:lstStyle/>
                    <a:p>
                      <a:r>
                        <a:rPr lang="en-US" b="1">
                          <a:solidFill>
                            <a:srgbClr val="0070C0"/>
                          </a:solidFill>
                        </a:rPr>
                        <a:t>108</a:t>
                      </a:r>
                    </a:p>
                  </a:txBody>
                  <a:tcPr/>
                </a:tc>
                <a:tc>
                  <a:txBody>
                    <a:bodyPr/>
                    <a:lstStyle/>
                    <a:p>
                      <a:r>
                        <a:rPr lang="en-US" b="1">
                          <a:solidFill>
                            <a:srgbClr val="0070C0"/>
                          </a:solidFill>
                        </a:rPr>
                        <a:t>120</a:t>
                      </a:r>
                    </a:p>
                  </a:txBody>
                  <a:tcPr/>
                </a:tc>
                <a:tc>
                  <a:txBody>
                    <a:bodyPr/>
                    <a:lstStyle/>
                    <a:p>
                      <a:r>
                        <a:rPr lang="en-US"/>
                        <a:t>300</a:t>
                      </a:r>
                    </a:p>
                  </a:txBody>
                  <a:tcPr/>
                </a:tc>
                <a:extLst>
                  <a:ext uri="{0D108BD9-81ED-4DB2-BD59-A6C34878D82A}">
                    <a16:rowId xmlns:a16="http://schemas.microsoft.com/office/drawing/2014/main" val="4034803900"/>
                  </a:ext>
                </a:extLst>
              </a:tr>
              <a:tr h="249967">
                <a:tc>
                  <a:txBody>
                    <a:bodyPr/>
                    <a:lstStyle/>
                    <a:p>
                      <a:r>
                        <a:rPr lang="en-US"/>
                        <a:t>Girls</a:t>
                      </a:r>
                    </a:p>
                  </a:txBody>
                  <a:tcPr/>
                </a:tc>
                <a:tc>
                  <a:txBody>
                    <a:bodyPr/>
                    <a:lstStyle/>
                    <a:p>
                      <a:r>
                        <a:rPr lang="en-US" b="1">
                          <a:solidFill>
                            <a:srgbClr val="0070C0"/>
                          </a:solidFill>
                        </a:rPr>
                        <a:t>48</a:t>
                      </a:r>
                    </a:p>
                  </a:txBody>
                  <a:tcPr/>
                </a:tc>
                <a:tc>
                  <a:txBody>
                    <a:bodyPr/>
                    <a:lstStyle/>
                    <a:p>
                      <a:r>
                        <a:rPr lang="en-US" b="1">
                          <a:solidFill>
                            <a:srgbClr val="0070C0"/>
                          </a:solidFill>
                        </a:rPr>
                        <a:t>72</a:t>
                      </a:r>
                    </a:p>
                  </a:txBody>
                  <a:tcPr/>
                </a:tc>
                <a:tc>
                  <a:txBody>
                    <a:bodyPr/>
                    <a:lstStyle/>
                    <a:p>
                      <a:r>
                        <a:rPr lang="en-US" b="1">
                          <a:solidFill>
                            <a:srgbClr val="0070C0"/>
                          </a:solidFill>
                        </a:rPr>
                        <a:t>80</a:t>
                      </a:r>
                    </a:p>
                  </a:txBody>
                  <a:tcPr/>
                </a:tc>
                <a:tc>
                  <a:txBody>
                    <a:bodyPr/>
                    <a:lstStyle/>
                    <a:p>
                      <a:r>
                        <a:rPr lang="en-US"/>
                        <a:t>200</a:t>
                      </a:r>
                    </a:p>
                  </a:txBody>
                  <a:tcPr/>
                </a:tc>
                <a:extLst>
                  <a:ext uri="{0D108BD9-81ED-4DB2-BD59-A6C34878D82A}">
                    <a16:rowId xmlns:a16="http://schemas.microsoft.com/office/drawing/2014/main" val="1914334640"/>
                  </a:ext>
                </a:extLst>
              </a:tr>
              <a:tr h="249967">
                <a:tc>
                  <a:txBody>
                    <a:bodyPr/>
                    <a:lstStyle/>
                    <a:p>
                      <a:r>
                        <a:rPr lang="en-US"/>
                        <a:t>Total</a:t>
                      </a:r>
                    </a:p>
                  </a:txBody>
                  <a:tcPr/>
                </a:tc>
                <a:tc>
                  <a:txBody>
                    <a:bodyPr/>
                    <a:lstStyle/>
                    <a:p>
                      <a:r>
                        <a:rPr lang="en-US"/>
                        <a:t>120</a:t>
                      </a:r>
                    </a:p>
                  </a:txBody>
                  <a:tcPr/>
                </a:tc>
                <a:tc>
                  <a:txBody>
                    <a:bodyPr/>
                    <a:lstStyle/>
                    <a:p>
                      <a:r>
                        <a:rPr lang="en-US"/>
                        <a:t>180</a:t>
                      </a:r>
                    </a:p>
                  </a:txBody>
                  <a:tcPr/>
                </a:tc>
                <a:tc>
                  <a:txBody>
                    <a:bodyPr/>
                    <a:lstStyle/>
                    <a:p>
                      <a:r>
                        <a:rPr lang="en-US"/>
                        <a:t>200</a:t>
                      </a:r>
                    </a:p>
                  </a:txBody>
                  <a:tcPr/>
                </a:tc>
                <a:tc>
                  <a:txBody>
                    <a:bodyPr/>
                    <a:lstStyle/>
                    <a:p>
                      <a:r>
                        <a:rPr lang="en-US"/>
                        <a:t>N=500</a:t>
                      </a:r>
                    </a:p>
                  </a:txBody>
                  <a:tcPr/>
                </a:tc>
                <a:extLst>
                  <a:ext uri="{0D108BD9-81ED-4DB2-BD59-A6C34878D82A}">
                    <a16:rowId xmlns:a16="http://schemas.microsoft.com/office/drawing/2014/main" val="2389300888"/>
                  </a:ext>
                </a:extLst>
              </a:tr>
            </a:tbl>
          </a:graphicData>
        </a:graphic>
      </p:graphicFrame>
    </p:spTree>
    <p:extLst>
      <p:ext uri="{BB962C8B-B14F-4D97-AF65-F5344CB8AC3E}">
        <p14:creationId xmlns:p14="http://schemas.microsoft.com/office/powerpoint/2010/main" val="3537696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0"/>
            <a:ext cx="6332451" cy="4624896"/>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of Homogeneity</a:t>
            </a:r>
            <a:br>
              <a:rPr lang="en-US" sz="3000" b="1" dirty="0">
                <a:latin typeface="Calibri"/>
                <a:ea typeface="Calibri"/>
                <a:cs typeface="Calibri"/>
                <a:sym typeface="Calibri"/>
              </a:rPr>
            </a:br>
            <a:r>
              <a:rPr lang="en-US" sz="1000" b="1" dirty="0">
                <a:latin typeface="Calibri"/>
                <a:ea typeface="Calibri"/>
                <a:cs typeface="Calibri"/>
                <a:sym typeface="Calibri"/>
              </a:rPr>
              <a:t>from </a:t>
            </a:r>
            <a:r>
              <a:rPr lang="en-US" sz="1000" b="1" dirty="0">
                <a:latin typeface="Calibri"/>
                <a:ea typeface="Calibri"/>
                <a:cs typeface="Calibri"/>
                <a:sym typeface="Calibri"/>
                <a:hlinkClick r:id="rId3"/>
              </a:rPr>
              <a:t>https://courses.lumenlearning.com/wmopen-concepts-statistics/chapter/test-of-homogeneity/</a:t>
            </a:r>
            <a:r>
              <a:rPr lang="en-US" sz="1000" b="1" dirty="0">
                <a:latin typeface="Calibri"/>
                <a:ea typeface="Calibri"/>
                <a:cs typeface="Calibri"/>
                <a:sym typeface="Calibri"/>
              </a:rPr>
              <a:t> </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Null hypothesis:</a:t>
            </a:r>
          </a:p>
          <a:p>
            <a:pPr lvl="0"/>
            <a:r>
              <a:rPr lang="en-US" b="1" dirty="0">
                <a:latin typeface="Calibri"/>
                <a:ea typeface="Calibri"/>
                <a:cs typeface="Calibri"/>
                <a:sym typeface="Calibri"/>
              </a:rPr>
              <a:t>  steroid use doesn't differ between divisions.</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Degrees of Freedom </a:t>
            </a:r>
            <a:r>
              <a:rPr lang="en-US" b="1" dirty="0" err="1">
                <a:latin typeface="Calibri"/>
                <a:ea typeface="Calibri"/>
                <a:cs typeface="Calibri"/>
                <a:sym typeface="Calibri"/>
              </a:rPr>
              <a:t>df</a:t>
            </a:r>
            <a:r>
              <a:rPr lang="en-US" b="1" dirty="0">
                <a:latin typeface="Calibri"/>
                <a:ea typeface="Calibri"/>
                <a:cs typeface="Calibri"/>
                <a:sym typeface="Calibri"/>
              </a:rPr>
              <a:t> = (rows-1)(columns-1) = (2-1)(3-1) = 2</a:t>
            </a: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In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table looking for value for (alpha=0.05 and df=2):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Calculate statistics: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sum (</a:t>
            </a:r>
            <a:r>
              <a:rPr lang="en-US" b="1" dirty="0" err="1">
                <a:latin typeface="Calibri"/>
                <a:ea typeface="Calibri"/>
                <a:cs typeface="Calibri"/>
                <a:sym typeface="Calibri"/>
              </a:rPr>
              <a:t>f</a:t>
            </a:r>
            <a:r>
              <a:rPr lang="en-US" b="1" baseline="-25000" dirty="0" err="1">
                <a:latin typeface="Calibri"/>
                <a:ea typeface="Calibri"/>
                <a:cs typeface="Calibri"/>
                <a:sym typeface="Calibri"/>
              </a:rPr>
              <a:t>o</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a:t>
            </a:r>
            <a:r>
              <a:rPr lang="en-US" b="1" baseline="30000" dirty="0">
                <a:latin typeface="Calibri"/>
                <a:ea typeface="Calibri"/>
                <a:cs typeface="Calibri"/>
                <a:sym typeface="Calibri"/>
              </a:rPr>
              <a:t>2</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    =  1.57 </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The smaller is the experimental chi-square statistics – the larger is P-value.</a:t>
            </a:r>
          </a:p>
          <a:p>
            <a:pPr lvl="0"/>
            <a:r>
              <a:rPr lang="en-US" b="1" dirty="0">
                <a:latin typeface="Calibri"/>
                <a:ea typeface="Calibri"/>
                <a:cs typeface="Calibri"/>
                <a:sym typeface="Calibri"/>
              </a:rPr>
              <a:t>(P-value =  0.4561 for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1.57)</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So, as 1.57 &lt; 5.99, we conclude that we can not reject the null hypothesis.</a:t>
            </a:r>
          </a:p>
          <a:p>
            <a:pPr lvl="0"/>
            <a:r>
              <a:rPr lang="en-US" b="1" dirty="0">
                <a:latin typeface="Calibri"/>
                <a:ea typeface="Calibri"/>
                <a:cs typeface="Calibri"/>
                <a:sym typeface="Calibri"/>
              </a:rPr>
              <a:t>The data does not provide strong enough evidence to conclude that steroid use differs in the three divisions (P-value = 0.4561).</a:t>
            </a:r>
          </a:p>
          <a:p>
            <a:pPr lvl="0"/>
            <a:endParaRPr lang="en-US" b="1" dirty="0">
              <a:latin typeface="Calibri"/>
              <a:ea typeface="Calibri"/>
              <a:cs typeface="Calibri"/>
              <a:sym typeface="Calibri"/>
            </a:endParaRPr>
          </a:p>
          <a:p>
            <a:pPr lvl="0"/>
            <a:endParaRPr lang="en-US" b="1" dirty="0">
              <a:latin typeface="Calibri"/>
              <a:ea typeface="Calibri"/>
              <a:cs typeface="Calibri"/>
              <a:sym typeface="Calibri"/>
            </a:endParaRPr>
          </a:p>
        </p:txBody>
      </p:sp>
      <p:pic>
        <p:nvPicPr>
          <p:cNvPr id="6146" name="Picture 2" descr="Observed data for the amount of athletes in each division who do and do not admit to steroid use">
            <a:extLst>
              <a:ext uri="{FF2B5EF4-FFF2-40B4-BE49-F238E27FC236}">
                <a16:creationId xmlns:a16="http://schemas.microsoft.com/office/drawing/2014/main" id="{98F56375-DF0B-704B-BB36-70BDCD108FF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339838" y="367030"/>
            <a:ext cx="33401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xpected counts">
            <a:extLst>
              <a:ext uri="{FF2B5EF4-FFF2-40B4-BE49-F238E27FC236}">
                <a16:creationId xmlns:a16="http://schemas.microsoft.com/office/drawing/2014/main" id="{E539680D-A949-F84E-8699-53A3C27E57BE}"/>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210300" y="1712722"/>
            <a:ext cx="5981700" cy="28321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The chi-square value is 1.57">
            <a:extLst>
              <a:ext uri="{FF2B5EF4-FFF2-40B4-BE49-F238E27FC236}">
                <a16:creationId xmlns:a16="http://schemas.microsoft.com/office/drawing/2014/main" id="{5E8D19C2-8188-2146-B973-39CDD08B1233}"/>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375152" y="5119370"/>
            <a:ext cx="86360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01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A6D418-6244-7E46-A338-319C049D5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852" y="0"/>
            <a:ext cx="4049486" cy="6858000"/>
          </a:xfrm>
          <a:prstGeom prst="rect">
            <a:avLst/>
          </a:prstGeom>
        </p:spPr>
      </p:pic>
      <p:sp>
        <p:nvSpPr>
          <p:cNvPr id="6" name="TextBox 5">
            <a:extLst>
              <a:ext uri="{FF2B5EF4-FFF2-40B4-BE49-F238E27FC236}">
                <a16:creationId xmlns:a16="http://schemas.microsoft.com/office/drawing/2014/main" id="{0CEA6E13-B307-E34F-8448-40B8F44769FF}"/>
              </a:ext>
            </a:extLst>
          </p:cNvPr>
          <p:cNvSpPr txBox="1"/>
          <p:nvPr/>
        </p:nvSpPr>
        <p:spPr>
          <a:xfrm>
            <a:off x="3701146" y="212257"/>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8" name="Oval 7">
            <a:extLst>
              <a:ext uri="{FF2B5EF4-FFF2-40B4-BE49-F238E27FC236}">
                <a16:creationId xmlns:a16="http://schemas.microsoft.com/office/drawing/2014/main" id="{F289DFE9-84FE-F548-A27E-08482FAA3C39}"/>
              </a:ext>
            </a:extLst>
          </p:cNvPr>
          <p:cNvSpPr/>
          <p:nvPr/>
        </p:nvSpPr>
        <p:spPr>
          <a:xfrm>
            <a:off x="3352800" y="119269"/>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02706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2963</TotalTime>
  <Words>1419</Words>
  <Application>Microsoft Macintosh PowerPoint</Application>
  <PresentationFormat>Widescreen</PresentationFormat>
  <Paragraphs>198</Paragraphs>
  <Slides>7</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285</cp:revision>
  <cp:lastPrinted>2020-09-21T17:22:59Z</cp:lastPrinted>
  <dcterms:modified xsi:type="dcterms:W3CDTF">2021-11-29T16:32:38Z</dcterms:modified>
</cp:coreProperties>
</file>