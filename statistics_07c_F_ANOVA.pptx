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78" r:id="rId2"/>
    <p:sldId id="279" r:id="rId3"/>
    <p:sldId id="299" r:id="rId4"/>
    <p:sldId id="298" r:id="rId5"/>
    <p:sldId id="297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40"/>
    <p:restoredTop sz="92152"/>
  </p:normalViewPr>
  <p:slideViewPr>
    <p:cSldViewPr snapToGrid="0" snapToObjects="1">
      <p:cViewPr varScale="1">
        <p:scale>
          <a:sx n="106" d="100"/>
          <a:sy n="106" d="100"/>
        </p:scale>
        <p:origin x="1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hyperlink" Target="https://en.wikipedia.org/wiki/F-distribution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nalysis_of_variance" TargetMode="External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tiff"/><Relationship Id="rId4" Type="http://schemas.openxmlformats.org/officeDocument/2006/relationships/image" Target="../media/image5.tif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hyperlink" Target="https://en.wikipedia.org/wiki/Multilevel_mode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6FA95A-A464-9640-836F-7DE7726AFB70}"/>
              </a:ext>
            </a:extLst>
          </p:cNvPr>
          <p:cNvSpPr txBox="1"/>
          <p:nvPr/>
        </p:nvSpPr>
        <p:spPr>
          <a:xfrm>
            <a:off x="0" y="0"/>
            <a:ext cx="65512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F-Distribution (Fisher–</a:t>
            </a:r>
            <a:r>
              <a:rPr lang="en-US" sz="2800" b="1" dirty="0" err="1"/>
              <a:t>Snedecor</a:t>
            </a:r>
            <a:r>
              <a:rPr lang="en-US" sz="2800" b="1" dirty="0"/>
              <a:t>)</a:t>
            </a:r>
          </a:p>
          <a:p>
            <a:endParaRPr lang="en-US" sz="1200" b="1" dirty="0"/>
          </a:p>
          <a:p>
            <a:r>
              <a:rPr lang="en-US" dirty="0"/>
              <a:t>F-distribution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right-skewed distribution used most commonly in ANOVA (Analysis of Variance). - ( </a:t>
            </a:r>
            <a:r>
              <a:rPr lang="en-US" dirty="0">
                <a:hlinkClick r:id="rId2"/>
              </a:rPr>
              <a:t>https://en.wikipedia.org/wiki/F-distribution</a:t>
            </a:r>
            <a:r>
              <a:rPr lang="en-US" dirty="0"/>
              <a:t> 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named after Ronald Fisher and George W. </a:t>
            </a:r>
            <a:r>
              <a:rPr lang="en-US" dirty="0" err="1"/>
              <a:t>Snedecor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87F98A-A3DF-4E4E-A401-EDA0D3B2B39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4162" y="41591"/>
            <a:ext cx="3852672" cy="28895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24D50C-3DCC-8A44-A7EA-74F9711DB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7827" y="1816608"/>
            <a:ext cx="1328928" cy="156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553CA0-6EFC-1D44-AEDB-1870ACF4C26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9254" y="1816608"/>
            <a:ext cx="1259593" cy="13289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4D0D4E-BAF6-5E49-9CA5-7416D6584A00}"/>
              </a:ext>
            </a:extLst>
          </p:cNvPr>
          <p:cNvSpPr txBox="1"/>
          <p:nvPr/>
        </p:nvSpPr>
        <p:spPr>
          <a:xfrm>
            <a:off x="541177" y="3511296"/>
            <a:ext cx="24737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Ronald Fisher 1890-1962</a:t>
            </a:r>
          </a:p>
          <a:p>
            <a:r>
              <a:rPr lang="en-US" dirty="0"/>
              <a:t>British. Developed the analysis of variance ANOVA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7B0D3-AB2B-2246-BA8A-2B2EDC8A1ECF}"/>
              </a:ext>
            </a:extLst>
          </p:cNvPr>
          <p:cNvSpPr txBox="1"/>
          <p:nvPr/>
        </p:nvSpPr>
        <p:spPr>
          <a:xfrm>
            <a:off x="3413068" y="3182112"/>
            <a:ext cx="2002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George W. </a:t>
            </a:r>
            <a:r>
              <a:rPr lang="en-US" dirty="0" err="1"/>
              <a:t>Snedecor</a:t>
            </a:r>
            <a:endParaRPr lang="en-US" dirty="0"/>
          </a:p>
          <a:p>
            <a:r>
              <a:rPr lang="en-US" dirty="0"/>
              <a:t>1881-1974, USA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AA36CA-9AC2-8345-9CF2-9725F292AC7C}"/>
              </a:ext>
            </a:extLst>
          </p:cNvPr>
          <p:cNvSpPr txBox="1"/>
          <p:nvPr/>
        </p:nvSpPr>
        <p:spPr>
          <a:xfrm>
            <a:off x="294694" y="4384072"/>
            <a:ext cx="58013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random variate of the F-distribution is a ratio:</a:t>
            </a:r>
          </a:p>
          <a:p>
            <a:endParaRPr lang="en-US" dirty="0"/>
          </a:p>
          <a:p>
            <a:r>
              <a:rPr lang="en-US" dirty="0"/>
              <a:t>                 </a:t>
            </a:r>
            <a:r>
              <a:rPr lang="en-US" b="1" dirty="0">
                <a:solidFill>
                  <a:srgbClr val="0070C0"/>
                </a:solidFill>
              </a:rPr>
              <a:t>F    =    Variance1 / Variance2    =    (U</a:t>
            </a:r>
            <a:r>
              <a:rPr lang="en-US" b="1" baseline="-25000" dirty="0">
                <a:solidFill>
                  <a:srgbClr val="0070C0"/>
                </a:solidFill>
              </a:rPr>
              <a:t>1</a:t>
            </a:r>
            <a:r>
              <a:rPr lang="en-US" b="1" dirty="0">
                <a:solidFill>
                  <a:srgbClr val="0070C0"/>
                </a:solidFill>
              </a:rPr>
              <a:t>/d</a:t>
            </a:r>
            <a:r>
              <a:rPr lang="en-US" b="1" baseline="-25000" dirty="0">
                <a:solidFill>
                  <a:srgbClr val="0070C0"/>
                </a:solidFill>
              </a:rPr>
              <a:t>1</a:t>
            </a:r>
            <a:r>
              <a:rPr lang="en-US" b="1" dirty="0">
                <a:solidFill>
                  <a:srgbClr val="0070C0"/>
                </a:solidFill>
              </a:rPr>
              <a:t>) / (U</a:t>
            </a:r>
            <a:r>
              <a:rPr lang="en-US" b="1" baseline="-25000" dirty="0">
                <a:solidFill>
                  <a:srgbClr val="0070C0"/>
                </a:solidFill>
              </a:rPr>
              <a:t>2</a:t>
            </a:r>
            <a:r>
              <a:rPr lang="en-US" b="1" dirty="0">
                <a:solidFill>
                  <a:srgbClr val="0070C0"/>
                </a:solidFill>
              </a:rPr>
              <a:t>/d</a:t>
            </a:r>
            <a:r>
              <a:rPr lang="en-US" b="1" baseline="-25000" dirty="0">
                <a:solidFill>
                  <a:srgbClr val="0070C0"/>
                </a:solidFill>
              </a:rPr>
              <a:t>2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  <a:p>
            <a:endParaRPr lang="en-US" dirty="0"/>
          </a:p>
          <a:p>
            <a:r>
              <a:rPr lang="en-US" dirty="0"/>
              <a:t>where U</a:t>
            </a:r>
            <a:r>
              <a:rPr lang="en-US" baseline="-25000" dirty="0"/>
              <a:t>1</a:t>
            </a:r>
            <a:r>
              <a:rPr lang="en-US" dirty="0"/>
              <a:t> and U</a:t>
            </a:r>
            <a:r>
              <a:rPr lang="en-US" baseline="-25000" dirty="0"/>
              <a:t>2</a:t>
            </a:r>
            <a:r>
              <a:rPr lang="en-US" dirty="0"/>
              <a:t> are independent and have chi-squared distributions </a:t>
            </a:r>
          </a:p>
          <a:p>
            <a:r>
              <a:rPr lang="en-US" dirty="0"/>
              <a:t>with d</a:t>
            </a:r>
            <a:r>
              <a:rPr lang="en-US" baseline="-25000" dirty="0"/>
              <a:t>1</a:t>
            </a:r>
            <a:r>
              <a:rPr lang="en-US" dirty="0"/>
              <a:t> &amp; d</a:t>
            </a:r>
            <a:r>
              <a:rPr lang="en-US" baseline="-25000" dirty="0"/>
              <a:t>2</a:t>
            </a:r>
            <a:r>
              <a:rPr lang="en-US" dirty="0"/>
              <a:t> degrees of freedom respectively.</a:t>
            </a:r>
          </a:p>
          <a:p>
            <a:endParaRPr lang="en-US" dirty="0"/>
          </a:p>
          <a:p>
            <a:r>
              <a:rPr lang="en-US" dirty="0"/>
              <a:t>If d1=d2=1000, the ratio looks like normal with peak ~1.</a:t>
            </a:r>
          </a:p>
          <a:p>
            <a:r>
              <a:rPr lang="en-US" dirty="0"/>
              <a:t>If numbers are smaller and not-equal – we get skewed shapes.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022CD-2DA4-4A4B-B54E-1FB77AA975D2}"/>
              </a:ext>
            </a:extLst>
          </p:cNvPr>
          <p:cNvSpPr txBox="1"/>
          <p:nvPr/>
        </p:nvSpPr>
        <p:spPr>
          <a:xfrm>
            <a:off x="7092313" y="2931095"/>
            <a:ext cx="49142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F-tests: </a:t>
            </a:r>
          </a:p>
          <a:p>
            <a:r>
              <a:rPr lang="en-US" dirty="0"/>
              <a:t>We have two "populations" of data with normal distributions.</a:t>
            </a:r>
            <a:br>
              <a:rPr lang="en-US" dirty="0"/>
            </a:br>
            <a:r>
              <a:rPr lang="en-US" dirty="0"/>
              <a:t>Our Null hypothesis is that their variances are equal.</a:t>
            </a:r>
          </a:p>
          <a:p>
            <a:endParaRPr lang="en-US" dirty="0"/>
          </a:p>
          <a:p>
            <a:r>
              <a:rPr lang="en-US" dirty="0"/>
              <a:t>We calculate the F-value and look where it lands on the appropriate F-distribution to see whether it is significantly incompatible with this null hypothesis.</a:t>
            </a:r>
          </a:p>
        </p:txBody>
      </p:sp>
      <p:pic>
        <p:nvPicPr>
          <p:cNvPr id="1026" name="Picture 2" descr="One-Way ANOVA | Boundless Statistics">
            <a:extLst>
              <a:ext uri="{FF2B5EF4-FFF2-40B4-BE49-F238E27FC236}">
                <a16:creationId xmlns:a16="http://schemas.microsoft.com/office/drawing/2014/main" id="{C7A0F370-3D48-E849-8F8B-9F4001D1C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10191" y="4662997"/>
            <a:ext cx="2478531" cy="1713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D965B6-0F2C-B341-AF91-8ED4C2EC8D78}"/>
              </a:ext>
            </a:extLst>
          </p:cNvPr>
          <p:cNvSpPr txBox="1"/>
          <p:nvPr/>
        </p:nvSpPr>
        <p:spPr>
          <a:xfrm>
            <a:off x="10360004" y="6222526"/>
            <a:ext cx="950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Reject H</a:t>
            </a:r>
            <a:r>
              <a:rPr lang="en-US" baseline="-250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25AF86-378E-7449-82C0-54E6A73758B7}"/>
              </a:ext>
            </a:extLst>
          </p:cNvPr>
          <p:cNvSpPr txBox="1"/>
          <p:nvPr/>
        </p:nvSpPr>
        <p:spPr>
          <a:xfrm>
            <a:off x="7968814" y="6222527"/>
            <a:ext cx="1077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Accept H</a:t>
            </a:r>
            <a:r>
              <a:rPr lang="en-US" baseline="-250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7F8C1-BB1C-B74E-8153-2318CDACD4C6}"/>
              </a:ext>
            </a:extLst>
          </p:cNvPr>
          <p:cNvSpPr txBox="1"/>
          <p:nvPr/>
        </p:nvSpPr>
        <p:spPr>
          <a:xfrm>
            <a:off x="9300498" y="4995015"/>
            <a:ext cx="1365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Critical Value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D9A19EEE-5A41-9D4C-9B39-BC7B377B7AD8}"/>
              </a:ext>
            </a:extLst>
          </p:cNvPr>
          <p:cNvSpPr/>
          <p:nvPr/>
        </p:nvSpPr>
        <p:spPr>
          <a:xfrm rot="1097658">
            <a:off x="9701636" y="5336826"/>
            <a:ext cx="45719" cy="3008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3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6FA95A-A464-9640-836F-7DE7726AFB70}"/>
              </a:ext>
            </a:extLst>
          </p:cNvPr>
          <p:cNvSpPr txBox="1"/>
          <p:nvPr/>
        </p:nvSpPr>
        <p:spPr>
          <a:xfrm>
            <a:off x="34581" y="41145"/>
            <a:ext cx="5504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ANOVA</a:t>
            </a:r>
            <a:r>
              <a:rPr lang="en-US" sz="2800" b="1" dirty="0"/>
              <a:t> = Analysis of Variance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24D50C-3DCC-8A44-A7EA-74F9711DBF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9456" y="538256"/>
            <a:ext cx="1328928" cy="15605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4D0D4E-BAF6-5E49-9CA5-7416D6584A00}"/>
              </a:ext>
            </a:extLst>
          </p:cNvPr>
          <p:cNvSpPr txBox="1"/>
          <p:nvPr/>
        </p:nvSpPr>
        <p:spPr>
          <a:xfrm>
            <a:off x="0" y="2119963"/>
            <a:ext cx="2121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Ronald Fisher 1890-1962</a:t>
            </a:r>
          </a:p>
          <a:p>
            <a:r>
              <a:rPr lang="en-US" sz="1200" dirty="0"/>
              <a:t>British. Developed the analysis of variance </a:t>
            </a:r>
            <a:r>
              <a:rPr lang="en-US" sz="1200" b="1" dirty="0">
                <a:solidFill>
                  <a:srgbClr val="0070C0"/>
                </a:solidFill>
              </a:rPr>
              <a:t>ANOVA (1925)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AA36CA-9AC2-8345-9CF2-9725F292AC7C}"/>
              </a:ext>
            </a:extLst>
          </p:cNvPr>
          <p:cNvSpPr txBox="1"/>
          <p:nvPr/>
        </p:nvSpPr>
        <p:spPr>
          <a:xfrm>
            <a:off x="2227490" y="842691"/>
            <a:ext cx="70308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its simplest form, </a:t>
            </a:r>
            <a:r>
              <a:rPr lang="en-US" b="1" dirty="0">
                <a:solidFill>
                  <a:srgbClr val="0070C0"/>
                </a:solidFill>
              </a:rPr>
              <a:t>ANOVA</a:t>
            </a:r>
            <a:r>
              <a:rPr lang="en-US" dirty="0"/>
              <a:t> provides a statistical test of </a:t>
            </a:r>
            <a:r>
              <a:rPr lang="en-US" dirty="0">
                <a:solidFill>
                  <a:srgbClr val="0070C0"/>
                </a:solidFill>
              </a:rPr>
              <a:t>whether two or more </a:t>
            </a:r>
            <a:r>
              <a:rPr lang="en-US" dirty="0">
                <a:solidFill>
                  <a:srgbClr val="00B050"/>
                </a:solidFill>
              </a:rPr>
              <a:t>population means </a:t>
            </a:r>
            <a:r>
              <a:rPr lang="en-US" dirty="0">
                <a:solidFill>
                  <a:srgbClr val="0070C0"/>
                </a:solidFill>
              </a:rPr>
              <a:t>are equal</a:t>
            </a:r>
            <a:r>
              <a:rPr lang="en-US" dirty="0"/>
              <a:t>, and therefore </a:t>
            </a:r>
            <a:r>
              <a:rPr lang="en-US" dirty="0">
                <a:solidFill>
                  <a:srgbClr val="0070C0"/>
                </a:solidFill>
              </a:rPr>
              <a:t>generalizes the t-test beyond two means.</a:t>
            </a:r>
            <a:endParaRPr lang="en-US" dirty="0"/>
          </a:p>
          <a:p>
            <a:r>
              <a:rPr lang="en-US" dirty="0"/>
              <a:t>The observed variance in a particular variable is partitioned into component.</a:t>
            </a:r>
          </a:p>
          <a:p>
            <a:r>
              <a:rPr lang="en-US" dirty="0"/>
              <a:t>- </a:t>
            </a:r>
            <a:r>
              <a:rPr lang="en-US" dirty="0">
                <a:hlinkClick r:id="rId3"/>
              </a:rPr>
              <a:t>https://en.wikipedia.org/wiki/Analysis_of_variance</a:t>
            </a:r>
            <a:r>
              <a:rPr lang="en-US" dirty="0"/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869F80-7F41-AF4D-8ABB-D89D41245DB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9245" y="0"/>
            <a:ext cx="267275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C15102-BE75-5A48-89D8-06C6582D875D}"/>
              </a:ext>
            </a:extLst>
          </p:cNvPr>
          <p:cNvSpPr txBox="1"/>
          <p:nvPr/>
        </p:nvSpPr>
        <p:spPr>
          <a:xfrm>
            <a:off x="0" y="3902363"/>
            <a:ext cx="854023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ANOVA</a:t>
            </a:r>
            <a:r>
              <a:rPr lang="en-US" dirty="0"/>
              <a:t> is the synthesis of several ideas and it is used for multiple purposes.</a:t>
            </a:r>
            <a:br>
              <a:rPr lang="en-US" dirty="0"/>
            </a:br>
            <a:r>
              <a:rPr lang="en-US" dirty="0"/>
              <a:t>As a consequence, it is difficult to define concisely or precisely.</a:t>
            </a:r>
          </a:p>
          <a:p>
            <a:endParaRPr lang="en-US" dirty="0"/>
          </a:p>
          <a:p>
            <a:r>
              <a:rPr lang="en-US" dirty="0"/>
              <a:t>"Classical" </a:t>
            </a:r>
            <a:r>
              <a:rPr lang="en-US" b="1" dirty="0">
                <a:solidFill>
                  <a:srgbClr val="0070C0"/>
                </a:solidFill>
              </a:rPr>
              <a:t>ANOVA</a:t>
            </a:r>
            <a:r>
              <a:rPr lang="en-US" dirty="0"/>
              <a:t> for balanced data does three things at once: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Uses additive data decomposition for exploratory data analysis. </a:t>
            </a:r>
            <a:br>
              <a:rPr lang="en-US" dirty="0"/>
            </a:br>
            <a:r>
              <a:rPr lang="en-US" dirty="0"/>
              <a:t>Uses sums of squares to indicate the variance of each component of the decomposition.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Comparisons of mean squares, along with an F-test ... allow testing of a nested sequence of models.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Closely related to the </a:t>
            </a:r>
            <a:r>
              <a:rPr lang="en-US" b="1" dirty="0">
                <a:solidFill>
                  <a:srgbClr val="0070C0"/>
                </a:solidFill>
              </a:rPr>
              <a:t>ANOVA</a:t>
            </a:r>
            <a:r>
              <a:rPr lang="en-US" dirty="0"/>
              <a:t> is a linear model fit with coefficient estimates and standard errors.</a:t>
            </a:r>
          </a:p>
          <a:p>
            <a:endParaRPr lang="en-US" dirty="0"/>
          </a:p>
          <a:p>
            <a:r>
              <a:rPr lang="en-US" dirty="0"/>
              <a:t>Additionally, </a:t>
            </a:r>
            <a:r>
              <a:rPr lang="en-US" b="1" dirty="0">
                <a:solidFill>
                  <a:srgbClr val="0070C0"/>
                </a:solidFill>
              </a:rPr>
              <a:t>ANOVA </a:t>
            </a:r>
            <a:r>
              <a:rPr lang="en-US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computationally elegant and relatively robust against violations of its assumptions.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provides strong (multiple sample comparison) statistical analysis.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has been adapted to the analysis of a variety of experimental designs.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47DAF9-7749-4446-924A-F0DE20619A0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19244" y="117733"/>
            <a:ext cx="1749230" cy="639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6DDD30-6F6F-F44C-A3E0-4232C8EDB313}"/>
              </a:ext>
            </a:extLst>
          </p:cNvPr>
          <p:cNvSpPr txBox="1"/>
          <p:nvPr/>
        </p:nvSpPr>
        <p:spPr>
          <a:xfrm>
            <a:off x="7450469" y="3599628"/>
            <a:ext cx="1470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Variance Between</a:t>
            </a:r>
          </a:p>
          <a:p>
            <a:pPr algn="ctr"/>
            <a:r>
              <a:rPr lang="en-US" dirty="0"/>
              <a:t>--------------------</a:t>
            </a:r>
          </a:p>
          <a:p>
            <a:pPr algn="ctr"/>
            <a:r>
              <a:rPr lang="en-US" dirty="0"/>
              <a:t>Variance</a:t>
            </a:r>
          </a:p>
          <a:p>
            <a:pPr algn="ctr"/>
            <a:r>
              <a:rPr lang="en-US" dirty="0"/>
              <a:t>Within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932007-90EA-9246-8DF1-F535C57E65EC}"/>
              </a:ext>
            </a:extLst>
          </p:cNvPr>
          <p:cNvSpPr/>
          <p:nvPr/>
        </p:nvSpPr>
        <p:spPr>
          <a:xfrm>
            <a:off x="7437217" y="3357529"/>
            <a:ext cx="1557197" cy="1557197"/>
          </a:xfrm>
          <a:prstGeom prst="ellipse">
            <a:avLst/>
          </a:prstGeom>
          <a:solidFill>
            <a:schemeClr val="accent1">
              <a:alpha val="9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D4DA-AD4A-3644-958D-2902C36DEBF0}"/>
              </a:ext>
            </a:extLst>
          </p:cNvPr>
          <p:cNvSpPr txBox="1"/>
          <p:nvPr/>
        </p:nvSpPr>
        <p:spPr>
          <a:xfrm>
            <a:off x="2227489" y="1937845"/>
            <a:ext cx="7030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One-way ANOVA</a:t>
            </a:r>
            <a:r>
              <a:rPr lang="en-US" dirty="0"/>
              <a:t> - compare means of two or more samples (using the F distribution). </a:t>
            </a:r>
          </a:p>
          <a:p>
            <a:r>
              <a:rPr lang="en-US" dirty="0"/>
              <a:t>Response data "Y" (numerical) and input data "X" (numerical or categorical)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D38076-2431-9249-97F6-D9F98406D8AB}"/>
              </a:ext>
            </a:extLst>
          </p:cNvPr>
          <p:cNvSpPr txBox="1"/>
          <p:nvPr/>
        </p:nvSpPr>
        <p:spPr>
          <a:xfrm>
            <a:off x="2229982" y="2499554"/>
            <a:ext cx="7048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Two-way ANOVA </a:t>
            </a:r>
            <a:r>
              <a:rPr lang="en-US" dirty="0"/>
              <a:t>is an extension of the one-way ANOVA that examines the influence of two different categorical independent variables (X1, X2) on one continuous dependent variable "Y". Goal - assess the main effect of each independent variable and assess if there is any interaction between them.</a:t>
            </a:r>
          </a:p>
        </p:txBody>
      </p:sp>
    </p:spTree>
    <p:extLst>
      <p:ext uri="{BB962C8B-B14F-4D97-AF65-F5344CB8AC3E}">
        <p14:creationId xmlns:p14="http://schemas.microsoft.com/office/powerpoint/2010/main" val="2186416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6FBFBE-7F75-0745-9981-A1DA54B77EE9}"/>
              </a:ext>
            </a:extLst>
          </p:cNvPr>
          <p:cNvSpPr txBox="1"/>
          <p:nvPr/>
        </p:nvSpPr>
        <p:spPr>
          <a:xfrm>
            <a:off x="1048512" y="963168"/>
            <a:ext cx="5705856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numpy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np</a:t>
            </a: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scipy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import stats</a:t>
            </a:r>
          </a:p>
          <a:p>
            <a:endParaRPr lang="en-US" sz="11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matplotlib.pyplot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</a:t>
            </a:r>
            <a:endParaRPr lang="en-US" sz="11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%config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InlineBackend.figure_format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'retina'</a:t>
            </a:r>
          </a:p>
          <a:p>
            <a:endParaRPr lang="en-US" sz="11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Example: two-tailed test</a:t>
            </a:r>
          </a:p>
          <a:p>
            <a:endParaRPr lang="en-US" sz="11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alpha = 0.05</a:t>
            </a:r>
          </a:p>
          <a:p>
            <a:endParaRPr lang="en-US" sz="11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= [1, 2,  1, 2, 1, 2,  1, 2,  1, 2]</a:t>
            </a: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 = [1, 3, -1, 2, 1, 5, -1, 6, -1, 2]</a:t>
            </a:r>
          </a:p>
          <a:p>
            <a:endParaRPr lang="en-US" sz="11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var_a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np.var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(a,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ddof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=1)</a:t>
            </a:r>
          </a:p>
          <a:p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var_b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np.var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(b,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ddof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=1)</a:t>
            </a: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f"Variance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a={var_a:.3f}, Variance b={var_b:.3f}")</a:t>
            </a:r>
          </a:p>
          <a:p>
            <a:endParaRPr lang="en-US" sz="11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f_stat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var_a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var_b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# because we estimate mean from data</a:t>
            </a:r>
          </a:p>
          <a:p>
            <a:endParaRPr lang="en-US" sz="11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build an F-distribution object</a:t>
            </a:r>
          </a:p>
          <a:p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f_dist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stats.f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len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(a)-1,len(b)-1) </a:t>
            </a:r>
          </a:p>
          <a:p>
            <a:endParaRPr lang="en-US" sz="11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f_crit_val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f_dist.ppf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(0.95)</a:t>
            </a:r>
          </a:p>
          <a:p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p_val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2*min(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f_dist.cdf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f_crit_val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 1-f_dist.cdf(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f_crit_val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))</a:t>
            </a:r>
          </a:p>
          <a:p>
            <a:endParaRPr lang="en-US" sz="11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f"f_crit_val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{f_crit_val:.4f}")</a:t>
            </a: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f"f_stat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= {f_stat:.4f} =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var_a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/ 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var_b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")</a:t>
            </a: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f"p_val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= {p_val:.4f}")</a:t>
            </a:r>
          </a:p>
          <a:p>
            <a:endParaRPr lang="en-US" sz="1100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if (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p_val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 alpha):</a:t>
            </a: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f"Reject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H0")</a:t>
            </a: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else:</a:t>
            </a:r>
          </a:p>
          <a:p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print(</a:t>
            </a:r>
            <a:r>
              <a:rPr lang="en-US" sz="1100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f"Accept</a:t>
            </a:r>
            <a:r>
              <a:rPr lang="en-US" sz="1100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H0")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50268A-26B1-054C-A9C0-E805B855F77A}"/>
              </a:ext>
            </a:extLst>
          </p:cNvPr>
          <p:cNvSpPr txBox="1"/>
          <p:nvPr/>
        </p:nvSpPr>
        <p:spPr>
          <a:xfrm>
            <a:off x="95541" y="126489"/>
            <a:ext cx="5504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ANOVA</a:t>
            </a:r>
            <a:r>
              <a:rPr lang="en-US" sz="2800" b="1" dirty="0"/>
              <a:t> = Analysis of Variance</a:t>
            </a:r>
          </a:p>
        </p:txBody>
      </p:sp>
    </p:spTree>
    <p:extLst>
      <p:ext uri="{BB962C8B-B14F-4D97-AF65-F5344CB8AC3E}">
        <p14:creationId xmlns:p14="http://schemas.microsoft.com/office/powerpoint/2010/main" val="2484526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089F3D-EFD8-1547-B43B-C1472E956605}"/>
              </a:ext>
            </a:extLst>
          </p:cNvPr>
          <p:cNvSpPr txBox="1"/>
          <p:nvPr/>
        </p:nvSpPr>
        <p:spPr>
          <a:xfrm>
            <a:off x="190500" y="241300"/>
            <a:ext cx="5245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ANOVA – Multilevel model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https://en.wikipedia.org/wiki/Multilevel_model</a:t>
            </a:r>
            <a:endParaRPr lang="en-US" dirty="0"/>
          </a:p>
          <a:p>
            <a:endParaRPr lang="en-US" dirty="0"/>
          </a:p>
          <a:p>
            <a:r>
              <a:rPr lang="en-US" dirty="0"/>
              <a:t>Multilevel models, a.k.a.: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hierarchical linear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 mixed-effect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mixed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nested data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coefficient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random-effects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parameter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split-plot designs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7C8C6B-30E1-7343-832D-E1695F1777C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7289" y="43701"/>
            <a:ext cx="3886200" cy="238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E86768-22E0-7A4D-AA01-084F32D8384E}"/>
              </a:ext>
            </a:extLst>
          </p:cNvPr>
          <p:cNvSpPr txBox="1"/>
          <p:nvPr/>
        </p:nvSpPr>
        <p:spPr>
          <a:xfrm>
            <a:off x="0" y="4465982"/>
            <a:ext cx="110473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Multilevel models can be used as an alternative to </a:t>
            </a:r>
            <a:r>
              <a:rPr lang="en-US" b="1" dirty="0">
                <a:solidFill>
                  <a:srgbClr val="0070C0"/>
                </a:solidFill>
              </a:rPr>
              <a:t>ANCOVA</a:t>
            </a:r>
            <a:r>
              <a:rPr lang="en-US" dirty="0"/>
              <a:t> (Analysis of Covariance). </a:t>
            </a:r>
          </a:p>
          <a:p>
            <a:r>
              <a:rPr lang="en-US" b="1" dirty="0">
                <a:solidFill>
                  <a:srgbClr val="0070C0"/>
                </a:solidFill>
              </a:rPr>
              <a:t>ANCOVA</a:t>
            </a:r>
            <a:r>
              <a:rPr lang="en-US" dirty="0"/>
              <a:t> blends ANOVA and regression. </a:t>
            </a:r>
            <a:br>
              <a:rPr lang="en-US" dirty="0"/>
            </a:br>
            <a:r>
              <a:rPr lang="en-US" b="1" dirty="0">
                <a:solidFill>
                  <a:srgbClr val="0070C0"/>
                </a:solidFill>
              </a:rPr>
              <a:t>ANCOVA</a:t>
            </a:r>
            <a:r>
              <a:rPr lang="en-US" dirty="0"/>
              <a:t> evaluates whether the means of a dependent variable </a:t>
            </a:r>
            <a:r>
              <a:rPr lang="en-US" b="1" dirty="0">
                <a:solidFill>
                  <a:srgbClr val="0070C0"/>
                </a:solidFill>
              </a:rPr>
              <a:t>"Y"</a:t>
            </a:r>
            <a:r>
              <a:rPr lang="en-US" dirty="0"/>
              <a:t> </a:t>
            </a:r>
          </a:p>
          <a:p>
            <a:r>
              <a:rPr lang="en-US" dirty="0"/>
              <a:t>are equal across levels of a categorical independent variable </a:t>
            </a:r>
            <a:r>
              <a:rPr lang="en-US" b="1" dirty="0">
                <a:solidFill>
                  <a:srgbClr val="0070C0"/>
                </a:solidFill>
              </a:rPr>
              <a:t>"X"</a:t>
            </a:r>
            <a:r>
              <a:rPr lang="en-US" dirty="0"/>
              <a:t> often called a treatment, </a:t>
            </a:r>
          </a:p>
          <a:p>
            <a:r>
              <a:rPr lang="en-US" dirty="0"/>
              <a:t>while statistically controlling for the effects of other continuous variables (a.k.a. covariates </a:t>
            </a:r>
            <a:r>
              <a:rPr lang="en-US" b="1" dirty="0">
                <a:solidFill>
                  <a:srgbClr val="0070C0"/>
                </a:solidFill>
              </a:rPr>
              <a:t>"CVs"</a:t>
            </a:r>
            <a:r>
              <a:rPr lang="en-US" dirty="0"/>
              <a:t> or nuisance variables). </a:t>
            </a:r>
          </a:p>
          <a:p>
            <a:endParaRPr lang="en-US" dirty="0"/>
          </a:p>
          <a:p>
            <a:r>
              <a:rPr lang="en-US" dirty="0"/>
              <a:t>Mathematically, </a:t>
            </a:r>
            <a:r>
              <a:rPr lang="en-US" b="1" dirty="0">
                <a:solidFill>
                  <a:srgbClr val="0070C0"/>
                </a:solidFill>
              </a:rPr>
              <a:t>ANCOVA</a:t>
            </a:r>
            <a:r>
              <a:rPr lang="en-US" dirty="0"/>
              <a:t> decomposes the variance in the </a:t>
            </a:r>
            <a:r>
              <a:rPr lang="en-US" b="1" dirty="0">
                <a:solidFill>
                  <a:srgbClr val="0070C0"/>
                </a:solidFill>
              </a:rPr>
              <a:t>"Y"</a:t>
            </a:r>
            <a:r>
              <a:rPr lang="en-US" dirty="0"/>
              <a:t> into variance explained by the </a:t>
            </a:r>
            <a:r>
              <a:rPr lang="en-US" b="1" dirty="0">
                <a:solidFill>
                  <a:srgbClr val="0070C0"/>
                </a:solidFill>
              </a:rPr>
              <a:t>CVs</a:t>
            </a:r>
            <a:r>
              <a:rPr lang="en-US" dirty="0"/>
              <a:t>, </a:t>
            </a:r>
          </a:p>
          <a:p>
            <a:r>
              <a:rPr lang="en-US" dirty="0"/>
              <a:t>variance explained by the categorical </a:t>
            </a:r>
            <a:r>
              <a:rPr lang="en-US" b="1" dirty="0">
                <a:solidFill>
                  <a:srgbClr val="0070C0"/>
                </a:solidFill>
              </a:rPr>
              <a:t>"X"</a:t>
            </a:r>
            <a:r>
              <a:rPr lang="en-US" dirty="0"/>
              <a:t>, and residual variance. </a:t>
            </a:r>
          </a:p>
          <a:p>
            <a:endParaRPr lang="en-US" dirty="0"/>
          </a:p>
          <a:p>
            <a:r>
              <a:rPr lang="en-US" dirty="0"/>
              <a:t>Intuitively, </a:t>
            </a:r>
            <a:r>
              <a:rPr lang="en-US" b="1" dirty="0">
                <a:solidFill>
                  <a:srgbClr val="0070C0"/>
                </a:solidFill>
              </a:rPr>
              <a:t>ANCOVA</a:t>
            </a:r>
            <a:r>
              <a:rPr lang="en-US" dirty="0"/>
              <a:t> can be thought of as 'adjusting' the </a:t>
            </a:r>
            <a:r>
              <a:rPr lang="en-US" b="1" dirty="0">
                <a:solidFill>
                  <a:srgbClr val="0070C0"/>
                </a:solidFill>
              </a:rPr>
              <a:t>"Y"</a:t>
            </a:r>
            <a:r>
              <a:rPr lang="en-US" dirty="0"/>
              <a:t> by the group means of the </a:t>
            </a:r>
            <a:r>
              <a:rPr lang="en-US" b="1" dirty="0">
                <a:solidFill>
                  <a:srgbClr val="0070C0"/>
                </a:solidFill>
              </a:rPr>
              <a:t>CVs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9F76E7-4CB6-AD42-A163-A516D79DE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457" y="2628900"/>
            <a:ext cx="5852044" cy="163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64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07E199-707A-CC4C-BC60-0587CD338441}"/>
              </a:ext>
            </a:extLst>
          </p:cNvPr>
          <p:cNvSpPr txBox="1"/>
          <p:nvPr/>
        </p:nvSpPr>
        <p:spPr>
          <a:xfrm>
            <a:off x="0" y="0"/>
            <a:ext cx="58131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Fisher Exact Test</a:t>
            </a:r>
          </a:p>
          <a:p>
            <a:endParaRPr lang="en-US" dirty="0"/>
          </a:p>
          <a:p>
            <a:r>
              <a:rPr lang="en-US" dirty="0"/>
              <a:t>From Fisher's book "The Design of Experiments" (1935)</a:t>
            </a:r>
          </a:p>
          <a:p>
            <a:r>
              <a:rPr lang="en-US" dirty="0"/>
              <a:t>Lady Tasting Tea example in 2</a:t>
            </a:r>
            <a:r>
              <a:rPr lang="en-US" baseline="30000" dirty="0"/>
              <a:t>nd</a:t>
            </a:r>
            <a:r>
              <a:rPr lang="en-US" dirty="0"/>
              <a:t> chapter</a:t>
            </a:r>
          </a:p>
          <a:p>
            <a:r>
              <a:rPr lang="en-US" dirty="0"/>
              <a:t>Lady claimed that she can distinguish between two types of cups of tea:</a:t>
            </a:r>
          </a:p>
          <a:p>
            <a:pPr marL="342900" lvl="2" indent="-342900">
              <a:buFont typeface="+mj-lt"/>
              <a:buAutoNum type="arabicPeriod"/>
            </a:pPr>
            <a:r>
              <a:rPr lang="en-US" dirty="0"/>
              <a:t>tea added first, then milk </a:t>
            </a:r>
          </a:p>
          <a:p>
            <a:pPr marL="342900" lvl="2" indent="-342900">
              <a:buFont typeface="+mj-lt"/>
              <a:buAutoNum type="arabicPeriod"/>
            </a:pPr>
            <a:r>
              <a:rPr lang="en-US" dirty="0"/>
              <a:t>milk added first, then tea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FD4C1F-2702-B340-8DA1-DF943C6B9A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24003" y="114168"/>
            <a:ext cx="1328928" cy="156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8BE8A6-DEF2-2F4F-8ECB-4C98B4CB464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8275" y="114168"/>
            <a:ext cx="2057400" cy="3162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D10B43-21A6-C744-9231-1DE562B04160}"/>
              </a:ext>
            </a:extLst>
          </p:cNvPr>
          <p:cNvSpPr txBox="1"/>
          <p:nvPr/>
        </p:nvSpPr>
        <p:spPr>
          <a:xfrm>
            <a:off x="8576858" y="3276468"/>
            <a:ext cx="636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1935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65F751-575C-1147-9ACF-29EC093325A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4733" y="1812235"/>
            <a:ext cx="1616964" cy="21559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262F87-EF03-154A-A646-9D5F0AD8FB4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4733" y="4105678"/>
            <a:ext cx="1640127" cy="22727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32AC49-0C9E-C542-94B5-53035957020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8782" y="3968187"/>
            <a:ext cx="2667000" cy="274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B906DE-487F-7649-8B8A-22FA9702264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1380" y="1086961"/>
            <a:ext cx="1567420" cy="11755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92B64A-152E-EB4A-9DAB-8134D56771BC}"/>
              </a:ext>
            </a:extLst>
          </p:cNvPr>
          <p:cNvSpPr txBox="1"/>
          <p:nvPr/>
        </p:nvSpPr>
        <p:spPr>
          <a:xfrm>
            <a:off x="47140" y="1812235"/>
            <a:ext cx="581315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Author introduces the concept of "</a:t>
            </a:r>
            <a:r>
              <a:rPr lang="en-US" b="1" dirty="0">
                <a:solidFill>
                  <a:srgbClr val="FF0000"/>
                </a:solidFill>
              </a:rPr>
              <a:t>null hypothesis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Experiment: given 4 cups of type 1 and 4 cups of type 2.</a:t>
            </a:r>
          </a:p>
          <a:p>
            <a:r>
              <a:rPr lang="en-US" dirty="0"/>
              <a:t>They look the same.</a:t>
            </a:r>
          </a:p>
          <a:p>
            <a:r>
              <a:rPr lang="en-US" dirty="0"/>
              <a:t>Lady tests them and labels the "milk first" ones.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The test is called "exact" because Fisher demonstrates how in this case he can calculate exact probability of each outcome.</a:t>
            </a:r>
          </a:p>
          <a:p>
            <a:endParaRPr lang="en-US" dirty="0"/>
          </a:p>
          <a:p>
            <a:r>
              <a:rPr lang="en-US" dirty="0"/>
              <a:t>If she guessed 3 out of 4, the probability is 16/70 = 0.22 – not good</a:t>
            </a:r>
          </a:p>
          <a:p>
            <a:r>
              <a:rPr lang="en-US" dirty="0"/>
              <a:t>If she guessed 4 out of 4 – the probability is 1/70 &lt; 0.05 - good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4816C1-C588-2A46-A6ED-BDB416A2F4A0}"/>
              </a:ext>
            </a:extLst>
          </p:cNvPr>
          <p:cNvSpPr txBox="1"/>
          <p:nvPr/>
        </p:nvSpPr>
        <p:spPr>
          <a:xfrm>
            <a:off x="93479" y="4469520"/>
            <a:ext cx="604063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Success     Combinations                          Number of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count                                             Combinations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------------------------------------------------------------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0        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oooo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                  1 × 1 = 1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1        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ooox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ooxo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oxoo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xooo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4 × 4 = 16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2        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ooxx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oxox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oxxo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xoxo,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xxoo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xoox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6 × 6 = 36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3        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oxxx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xoxx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xxox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xxxo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4 × 4 = 16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4        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xxxx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                  1 × 1 = 1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------------------------------------------------------------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Total                                                     70</a:t>
            </a:r>
          </a:p>
          <a:p>
            <a:endParaRPr lang="en-US" sz="1200" b="1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590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3066</TotalTime>
  <Words>1201</Words>
  <Application>Microsoft Macintosh PowerPoint</Application>
  <PresentationFormat>Widescreen</PresentationFormat>
  <Paragraphs>133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291</cp:revision>
  <cp:lastPrinted>2020-09-21T17:22:59Z</cp:lastPrinted>
  <dcterms:modified xsi:type="dcterms:W3CDTF">2021-11-28T16:57:41Z</dcterms:modified>
</cp:coreProperties>
</file>