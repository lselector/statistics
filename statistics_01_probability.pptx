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2"/>
  </p:notesMasterIdLst>
  <p:sldIdLst>
    <p:sldId id="298" r:id="rId2"/>
    <p:sldId id="262" r:id="rId3"/>
    <p:sldId id="263" r:id="rId4"/>
    <p:sldId id="264" r:id="rId5"/>
    <p:sldId id="294" r:id="rId6"/>
    <p:sldId id="256" r:id="rId7"/>
    <p:sldId id="295" r:id="rId8"/>
    <p:sldId id="296" r:id="rId9"/>
    <p:sldId id="297" r:id="rId10"/>
    <p:sldId id="265" r:id="rId1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1618C5A-BF4F-44D7-ADB2-C5301EF81F8A}">
  <a:tblStyle styleId="{B1618C5A-BF4F-44D7-ADB2-C5301EF81F8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816"/>
    <p:restoredTop sz="92185"/>
  </p:normalViewPr>
  <p:slideViewPr>
    <p:cSldViewPr snapToGrid="0" snapToObjects="1">
      <p:cViewPr varScale="1">
        <p:scale>
          <a:sx n="94" d="100"/>
          <a:sy n="94" d="100"/>
        </p:scale>
        <p:origin x="153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91425" rIns="91425" bIns="91425"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91425" rIns="91425" bIns="91425"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91425" rIns="91425" bIns="91425"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3: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6" name="Google Shape;8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510708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1524000" y="1122363"/>
            <a:ext cx="9144000" cy="2387600"/>
          </a:xfrm>
          <a:prstGeom prst="rect">
            <a:avLst/>
          </a:prstGeom>
          <a:noFill/>
          <a:ln>
            <a:noFill/>
          </a:ln>
        </p:spPr>
        <p:txBody>
          <a:bodyPr spcFirstLastPara="1" wrap="square" lIns="91425" tIns="91425" rIns="91425" bIns="91425" anchor="b" anchorCtr="0">
            <a:noAutofit/>
          </a:bodyPr>
          <a:lstStyle>
            <a:lvl1pPr marR="0" lvl="0" algn="ctr"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7" name="Google Shape;17;p2"/>
          <p:cNvSpPr txBox="1">
            <a:spLocks noGrp="1"/>
          </p:cNvSpPr>
          <p:nvPr>
            <p:ph type="subTitle" idx="1"/>
          </p:nvPr>
        </p:nvSpPr>
        <p:spPr>
          <a:xfrm>
            <a:off x="1524000" y="3602038"/>
            <a:ext cx="9144000" cy="1655762"/>
          </a:xfrm>
          <a:prstGeom prst="rect">
            <a:avLst/>
          </a:prstGeom>
          <a:noFill/>
          <a:ln>
            <a:noFill/>
          </a:ln>
        </p:spPr>
        <p:txBody>
          <a:bodyPr spcFirstLastPara="1" wrap="square" lIns="91425" tIns="91425" rIns="91425" bIns="91425" anchor="t" anchorCtr="0">
            <a:noAutofit/>
          </a:bodyPr>
          <a:lstStyle>
            <a:lvl1pPr marR="0" lvl="0" algn="ctr" rtl="0">
              <a:lnSpc>
                <a:spcPct val="90000"/>
              </a:lnSpc>
              <a:spcBef>
                <a:spcPts val="10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18" name="Google Shape;18;p2"/>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9" name="Google Shape;19;p2"/>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0" name="Google Shape;20;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3" name="Google Shape;23;p3"/>
          <p:cNvSpPr txBox="1">
            <a:spLocks noGrp="1"/>
          </p:cNvSpPr>
          <p:nvPr>
            <p:ph type="body" idx="1"/>
          </p:nvPr>
        </p:nvSpPr>
        <p:spPr>
          <a:xfrm>
            <a:off x="838200" y="1825625"/>
            <a:ext cx="10515600" cy="435133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4" name="Google Shape;24;p3"/>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5" name="Google Shape;25;p3"/>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6" name="Google Shape;2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4"/>
        <p:cNvGrpSpPr/>
        <p:nvPr/>
      </p:nvGrpSpPr>
      <p:grpSpPr>
        <a:xfrm>
          <a:off x="0" y="0"/>
          <a:ext cx="0" cy="0"/>
          <a:chOff x="0" y="0"/>
          <a:chExt cx="0" cy="0"/>
        </a:xfrm>
      </p:grpSpPr>
      <p:sp>
        <p:nvSpPr>
          <p:cNvPr id="35" name="Google Shape;35;p5"/>
          <p:cNvSpPr txBox="1">
            <a:spLocks noGrp="1"/>
          </p:cNvSpPr>
          <p:nvPr>
            <p:ph type="title"/>
          </p:nvPr>
        </p:nvSpPr>
        <p:spPr>
          <a:xfrm>
            <a:off x="831850" y="1709738"/>
            <a:ext cx="10515600" cy="2852737"/>
          </a:xfrm>
          <a:prstGeom prst="rect">
            <a:avLst/>
          </a:prstGeom>
          <a:noFill/>
          <a:ln>
            <a:noFill/>
          </a:ln>
        </p:spPr>
        <p:txBody>
          <a:bodyPr spcFirstLastPara="1" wrap="square" lIns="91425" tIns="91425" rIns="91425" bIns="91425" anchor="b" anchorCtr="0">
            <a:noAutofit/>
          </a:bodyPr>
          <a:lstStyle>
            <a:lvl1pPr marR="0" lvl="0" algn="l"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6" name="Google Shape;36;p5"/>
          <p:cNvSpPr txBox="1">
            <a:spLocks noGrp="1"/>
          </p:cNvSpPr>
          <p:nvPr>
            <p:ph type="body" idx="1"/>
          </p:nvPr>
        </p:nvSpPr>
        <p:spPr>
          <a:xfrm>
            <a:off x="831850" y="4589463"/>
            <a:ext cx="10515600" cy="1500187"/>
          </a:xfrm>
          <a:prstGeom prst="rect">
            <a:avLst/>
          </a:prstGeom>
          <a:noFill/>
          <a:ln>
            <a:noFill/>
          </a:ln>
        </p:spPr>
        <p:txBody>
          <a:bodyPr spcFirstLastPara="1" wrap="square" lIns="91425" tIns="91425" rIns="91425" bIns="91425" anchor="t" anchorCtr="0">
            <a:noAutofit/>
          </a:bodyPr>
          <a:lstStyle>
            <a:lvl1pPr marL="457200" marR="0" lvl="0" indent="-228600" algn="l" rtl="0">
              <a:lnSpc>
                <a:spcPct val="90000"/>
              </a:lnSpc>
              <a:spcBef>
                <a:spcPts val="100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1pPr>
            <a:lvl2pPr marL="914400" marR="0" lvl="1" indent="-228600" algn="l" rtl="0">
              <a:lnSpc>
                <a:spcPct val="90000"/>
              </a:lnSpc>
              <a:spcBef>
                <a:spcPts val="5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2pPr>
            <a:lvl3pPr marL="1371600" marR="0" lvl="2" indent="-228600" algn="l" rtl="0">
              <a:lnSpc>
                <a:spcPct val="90000"/>
              </a:lnSpc>
              <a:spcBef>
                <a:spcPts val="5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3pPr>
            <a:lvl4pPr marL="1828800" marR="0" lvl="3"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4pPr>
            <a:lvl5pPr marL="2286000" marR="0" lvl="4"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5pPr>
            <a:lvl6pPr marL="2743200" marR="0" lvl="5"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6pPr>
            <a:lvl7pPr marL="3200400" marR="0" lvl="6"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7pPr>
            <a:lvl8pPr marL="3657600" marR="0" lvl="7"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8pPr>
            <a:lvl9pPr marL="4114800" marR="0" lvl="8"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9pPr>
          </a:lstStyle>
          <a:p>
            <a:endParaRPr/>
          </a:p>
        </p:txBody>
      </p:sp>
      <p:sp>
        <p:nvSpPr>
          <p:cNvPr id="37" name="Google Shape;37;p5"/>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8" name="Google Shape;38;p5"/>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9" name="Google Shape;39;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839788"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2" name="Google Shape;42;p6"/>
          <p:cNvSpPr txBox="1">
            <a:spLocks noGrp="1"/>
          </p:cNvSpPr>
          <p:nvPr>
            <p:ph type="body" idx="1"/>
          </p:nvPr>
        </p:nvSpPr>
        <p:spPr>
          <a:xfrm>
            <a:off x="839788" y="1681163"/>
            <a:ext cx="5157787" cy="823912"/>
          </a:xfrm>
          <a:prstGeom prst="rect">
            <a:avLst/>
          </a:prstGeom>
          <a:noFill/>
          <a:ln>
            <a:noFill/>
          </a:ln>
        </p:spPr>
        <p:txBody>
          <a:bodyPr spcFirstLastPara="1" wrap="square" lIns="91425" tIns="91425" rIns="91425" bIns="91425"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3" name="Google Shape;43;p6"/>
          <p:cNvSpPr txBox="1">
            <a:spLocks noGrp="1"/>
          </p:cNvSpPr>
          <p:nvPr>
            <p:ph type="body" idx="2"/>
          </p:nvPr>
        </p:nvSpPr>
        <p:spPr>
          <a:xfrm>
            <a:off x="839788" y="2505075"/>
            <a:ext cx="5157787" cy="368458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4" name="Google Shape;44;p6"/>
          <p:cNvSpPr txBox="1">
            <a:spLocks noGrp="1"/>
          </p:cNvSpPr>
          <p:nvPr>
            <p:ph type="body" idx="3"/>
          </p:nvPr>
        </p:nvSpPr>
        <p:spPr>
          <a:xfrm>
            <a:off x="6172200" y="1681163"/>
            <a:ext cx="5183188" cy="823912"/>
          </a:xfrm>
          <a:prstGeom prst="rect">
            <a:avLst/>
          </a:prstGeom>
          <a:noFill/>
          <a:ln>
            <a:noFill/>
          </a:ln>
        </p:spPr>
        <p:txBody>
          <a:bodyPr spcFirstLastPara="1" wrap="square" lIns="91425" tIns="91425" rIns="91425" bIns="91425"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5" name="Google Shape;45;p6"/>
          <p:cNvSpPr txBox="1">
            <a:spLocks noGrp="1"/>
          </p:cNvSpPr>
          <p:nvPr>
            <p:ph type="body" idx="4"/>
          </p:nvPr>
        </p:nvSpPr>
        <p:spPr>
          <a:xfrm>
            <a:off x="6172200" y="2505075"/>
            <a:ext cx="5183188" cy="368458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6" name="Google Shape;46;p6"/>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7" name="Google Shape;47;p6"/>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8" name="Google Shape;48;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1" name="Google Shape;51;p7"/>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2" name="Google Shape;52;p7"/>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3" name="Google Shape;53;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6" name="Google Shape;56;p8"/>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7" name="Google Shape;57;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839788" y="457200"/>
            <a:ext cx="3932237" cy="1600200"/>
          </a:xfrm>
          <a:prstGeom prst="rect">
            <a:avLst/>
          </a:prstGeom>
          <a:noFill/>
          <a:ln>
            <a:noFill/>
          </a:ln>
        </p:spPr>
        <p:txBody>
          <a:bodyPr spcFirstLastPara="1" wrap="square" lIns="91425" tIns="91425" rIns="91425" bIns="91425"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0" name="Google Shape;60;p9"/>
          <p:cNvSpPr txBox="1">
            <a:spLocks noGrp="1"/>
          </p:cNvSpPr>
          <p:nvPr>
            <p:ph type="body" idx="1"/>
          </p:nvPr>
        </p:nvSpPr>
        <p:spPr>
          <a:xfrm>
            <a:off x="5183188" y="987425"/>
            <a:ext cx="6172200" cy="4873625"/>
          </a:xfrm>
          <a:prstGeom prst="rect">
            <a:avLst/>
          </a:prstGeom>
          <a:noFill/>
          <a:ln>
            <a:noFill/>
          </a:ln>
        </p:spPr>
        <p:txBody>
          <a:bodyPr spcFirstLastPara="1" wrap="square" lIns="91425" tIns="91425" rIns="91425" bIns="91425" anchor="t" anchorCtr="0">
            <a:noAutofit/>
          </a:bodyPr>
          <a:lstStyle>
            <a:lvl1pPr marL="457200" marR="0" lvl="0" indent="-431800" algn="l" rtl="0">
              <a:lnSpc>
                <a:spcPct val="90000"/>
              </a:lnSpc>
              <a:spcBef>
                <a:spcPts val="10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90000"/>
              </a:lnSpc>
              <a:spcBef>
                <a:spcPts val="5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61" name="Google Shape;61;p9"/>
          <p:cNvSpPr txBox="1">
            <a:spLocks noGrp="1"/>
          </p:cNvSpPr>
          <p:nvPr>
            <p:ph type="body" idx="2"/>
          </p:nvPr>
        </p:nvSpPr>
        <p:spPr>
          <a:xfrm>
            <a:off x="839788" y="2057400"/>
            <a:ext cx="3932237" cy="3811588"/>
          </a:xfrm>
          <a:prstGeom prst="rect">
            <a:avLst/>
          </a:prstGeom>
          <a:noFill/>
          <a:ln>
            <a:noFill/>
          </a:ln>
        </p:spPr>
        <p:txBody>
          <a:bodyPr spcFirstLastPara="1" wrap="square" lIns="91425" tIns="91425" rIns="91425" bIns="91425"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62" name="Google Shape;62;p9"/>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3" name="Google Shape;63;p9"/>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4" name="Google Shape;6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839788" y="457200"/>
            <a:ext cx="3932237" cy="1600200"/>
          </a:xfrm>
          <a:prstGeom prst="rect">
            <a:avLst/>
          </a:prstGeom>
          <a:noFill/>
          <a:ln>
            <a:noFill/>
          </a:ln>
        </p:spPr>
        <p:txBody>
          <a:bodyPr spcFirstLastPara="1" wrap="square" lIns="91425" tIns="91425" rIns="91425" bIns="91425"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7" name="Google Shape;67;p10"/>
          <p:cNvSpPr>
            <a:spLocks noGrp="1"/>
          </p:cNvSpPr>
          <p:nvPr>
            <p:ph type="pic" idx="2"/>
          </p:nvPr>
        </p:nvSpPr>
        <p:spPr>
          <a:xfrm>
            <a:off x="5183188" y="987425"/>
            <a:ext cx="6172200" cy="4873625"/>
          </a:xfrm>
          <a:prstGeom prst="rect">
            <a:avLst/>
          </a:prstGeom>
          <a:noFill/>
          <a:ln>
            <a:noFill/>
          </a:ln>
        </p:spPr>
        <p:txBody>
          <a:bodyPr spcFirstLastPara="1" wrap="square" lIns="91425" tIns="91425" rIns="91425" bIns="91425" anchor="t" anchorCtr="0">
            <a:noAutofit/>
          </a:bodyPr>
          <a:lstStyle>
            <a:lvl1pPr marR="0" lvl="0" algn="l" rtl="0">
              <a:lnSpc>
                <a:spcPct val="90000"/>
              </a:lnSpc>
              <a:spcBef>
                <a:spcPts val="100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68" name="Google Shape;68;p10"/>
          <p:cNvSpPr txBox="1">
            <a:spLocks noGrp="1"/>
          </p:cNvSpPr>
          <p:nvPr>
            <p:ph type="body" idx="1"/>
          </p:nvPr>
        </p:nvSpPr>
        <p:spPr>
          <a:xfrm>
            <a:off x="839788" y="2057400"/>
            <a:ext cx="3932237" cy="3811588"/>
          </a:xfrm>
          <a:prstGeom prst="rect">
            <a:avLst/>
          </a:prstGeom>
          <a:noFill/>
          <a:ln>
            <a:noFill/>
          </a:ln>
        </p:spPr>
        <p:txBody>
          <a:bodyPr spcFirstLastPara="1" wrap="square" lIns="91425" tIns="91425" rIns="91425" bIns="91425"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69" name="Google Shape;69;p10"/>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0" name="Google Shape;70;p10"/>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1" name="Google Shape;7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4" name="Google Shape;74;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5" name="Google Shape;75;p11"/>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6" name="Google Shape;76;p11"/>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7" name="Google Shape;7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0" name="Google Shape;80;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1" name="Google Shape;81;p12"/>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2" name="Google Shape;82;p12"/>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3" name="Google Shape;8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hyperlink" Target="https://www.quora.com/What-are-some-good-books-for-learning-probability-and-statistics"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tif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hyperlink" Target="https://www.youtube.com/watch?v=p60-Jdq754A" TargetMode="External"/><Relationship Id="rId2" Type="http://schemas.openxmlformats.org/officeDocument/2006/relationships/hyperlink" Target="https://www.youtube.com/watch?v=B3YQJ5DwTzM" TargetMode="External"/><Relationship Id="rId1" Type="http://schemas.openxmlformats.org/officeDocument/2006/relationships/slideLayout" Target="../slideLayouts/slideLayout2.xml"/><Relationship Id="rId6" Type="http://schemas.openxmlformats.org/officeDocument/2006/relationships/image" Target="../media/image7.tiff"/><Relationship Id="rId5" Type="http://schemas.openxmlformats.org/officeDocument/2006/relationships/hyperlink" Target="https://www.youtube.com/watch?v=y8qaI5mpJeA" TargetMode="External"/><Relationship Id="rId4" Type="http://schemas.openxmlformats.org/officeDocument/2006/relationships/hyperlink" Target="https://www.youtube.com/watch?v=Gi4YeRqfb24" TargetMode="External"/></Relationships>
</file>

<file path=ppt/slides/_rels/slide8.xml.rels><?xml version="1.0" encoding="UTF-8" standalone="yes"?>
<Relationships xmlns="http://schemas.openxmlformats.org/package/2006/relationships"><Relationship Id="rId2" Type="http://schemas.openxmlformats.org/officeDocument/2006/relationships/hyperlink" Target="https://www.youtube.com/watch?v=KhAUfqhLakw" TargetMode="Externa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B0129C1-3D76-E742-9440-D08150B4FCB0}"/>
              </a:ext>
            </a:extLst>
          </p:cNvPr>
          <p:cNvSpPr txBox="1"/>
          <p:nvPr/>
        </p:nvSpPr>
        <p:spPr>
          <a:xfrm>
            <a:off x="808556" y="1840321"/>
            <a:ext cx="5630778" cy="4616648"/>
          </a:xfrm>
          <a:prstGeom prst="rect">
            <a:avLst/>
          </a:prstGeom>
          <a:noFill/>
        </p:spPr>
        <p:txBody>
          <a:bodyPr wrap="square" rtlCol="0">
            <a:spAutoFit/>
          </a:bodyPr>
          <a:lstStyle/>
          <a:p>
            <a:r>
              <a:rPr lang="en-US" b="1">
                <a:solidFill>
                  <a:srgbClr val="FF0000"/>
                </a:solidFill>
              </a:rPr>
              <a:t>Statistics</a:t>
            </a:r>
            <a:r>
              <a:rPr lang="en-US"/>
              <a:t> – the mathematical science dealing with the </a:t>
            </a:r>
            <a:r>
              <a:rPr lang="en-US" b="1">
                <a:solidFill>
                  <a:srgbClr val="00B050"/>
                </a:solidFill>
              </a:rPr>
              <a:t>collection, description, analysis, interpretation, and presentation</a:t>
            </a:r>
            <a:r>
              <a:rPr lang="en-US"/>
              <a:t> of masses of numerical data.</a:t>
            </a:r>
          </a:p>
          <a:p>
            <a:endParaRPr lang="en-US"/>
          </a:p>
          <a:p>
            <a:r>
              <a:rPr lang="en-US"/>
              <a:t>Typically we are given a </a:t>
            </a:r>
            <a:r>
              <a:rPr lang="en-US" b="1">
                <a:solidFill>
                  <a:srgbClr val="FF0000"/>
                </a:solidFill>
              </a:rPr>
              <a:t>sample of data</a:t>
            </a:r>
            <a:r>
              <a:rPr lang="en-US"/>
              <a:t>, </a:t>
            </a:r>
            <a:br>
              <a:rPr lang="en-US"/>
            </a:br>
            <a:r>
              <a:rPr lang="en-US"/>
              <a:t>and we try to make some </a:t>
            </a:r>
            <a:r>
              <a:rPr lang="en-US" b="1">
                <a:solidFill>
                  <a:srgbClr val="FF0000"/>
                </a:solidFill>
              </a:rPr>
              <a:t>conclusions or predictions</a:t>
            </a:r>
            <a:r>
              <a:rPr lang="en-US"/>
              <a:t> </a:t>
            </a:r>
            <a:br>
              <a:rPr lang="en-US"/>
            </a:br>
            <a:r>
              <a:rPr lang="en-US"/>
              <a:t>based on this particular sample of data.</a:t>
            </a:r>
          </a:p>
          <a:p>
            <a:endParaRPr lang="en-US"/>
          </a:p>
          <a:p>
            <a:r>
              <a:rPr lang="en-US"/>
              <a:t>Statistics: Descriptive vs Inferential</a:t>
            </a:r>
          </a:p>
          <a:p>
            <a:endParaRPr lang="en-US"/>
          </a:p>
          <a:p>
            <a:r>
              <a:rPr lang="en-US"/>
              <a:t>Vocabulary of Statistics:</a:t>
            </a:r>
          </a:p>
          <a:p>
            <a:endParaRPr lang="en-US"/>
          </a:p>
          <a:p>
            <a:pPr marL="342900" indent="-342900">
              <a:buFont typeface="+mj-lt"/>
              <a:buAutoNum type="arabicPeriod"/>
            </a:pPr>
            <a:r>
              <a:rPr lang="en-US"/>
              <a:t>Measures of Frequency (how often something occurs):</a:t>
            </a:r>
            <a:br>
              <a:rPr lang="en-US"/>
            </a:br>
            <a:r>
              <a:rPr lang="en-US" b="1">
                <a:solidFill>
                  <a:srgbClr val="FF0000"/>
                </a:solidFill>
              </a:rPr>
              <a:t>Count, Percent, Frequency</a:t>
            </a:r>
            <a:endParaRPr lang="en-US"/>
          </a:p>
          <a:p>
            <a:pPr marL="342900" indent="-342900">
              <a:buFont typeface="+mj-lt"/>
              <a:buAutoNum type="arabicPeriod"/>
            </a:pPr>
            <a:r>
              <a:rPr lang="en-US"/>
              <a:t>Measures of Central Tendency (where the data mostly is):</a:t>
            </a:r>
            <a:br>
              <a:rPr lang="en-US"/>
            </a:br>
            <a:r>
              <a:rPr lang="en-US" b="1">
                <a:solidFill>
                  <a:srgbClr val="FF0000"/>
                </a:solidFill>
              </a:rPr>
              <a:t>Mean, Median, and Mode </a:t>
            </a:r>
            <a:r>
              <a:rPr lang="en-US"/>
              <a:t>(The mode is the value that appears most often in a set of data values)</a:t>
            </a:r>
          </a:p>
          <a:p>
            <a:pPr marL="342900" indent="-342900">
              <a:buFont typeface="+mj-lt"/>
              <a:buAutoNum type="arabicPeriod"/>
            </a:pPr>
            <a:r>
              <a:rPr lang="en-US"/>
              <a:t>Measures of Dispersion or Variation (how is data "spread out"): </a:t>
            </a:r>
            <a:br>
              <a:rPr lang="en-US"/>
            </a:br>
            <a:r>
              <a:rPr lang="en-US" b="1">
                <a:solidFill>
                  <a:srgbClr val="FF0000"/>
                </a:solidFill>
              </a:rPr>
              <a:t>Range, Variance, Standard Deviation</a:t>
            </a:r>
          </a:p>
          <a:p>
            <a:pPr marL="342900" indent="-342900">
              <a:buFont typeface="+mj-lt"/>
              <a:buAutoNum type="arabicPeriod"/>
            </a:pPr>
            <a:r>
              <a:rPr lang="en-US"/>
              <a:t>Measures of Position (standard scores):</a:t>
            </a:r>
            <a:br>
              <a:rPr lang="en-US"/>
            </a:br>
            <a:r>
              <a:rPr lang="en-US" b="1">
                <a:solidFill>
                  <a:srgbClr val="FF0000"/>
                </a:solidFill>
              </a:rPr>
              <a:t>Percentile Ranks, Quartile Ranks</a:t>
            </a:r>
          </a:p>
        </p:txBody>
      </p:sp>
      <p:sp>
        <p:nvSpPr>
          <p:cNvPr id="2" name="TextBox 1">
            <a:extLst>
              <a:ext uri="{FF2B5EF4-FFF2-40B4-BE49-F238E27FC236}">
                <a16:creationId xmlns:a16="http://schemas.microsoft.com/office/drawing/2014/main" id="{D27FE722-FC6A-E94D-9EDD-308335431558}"/>
              </a:ext>
            </a:extLst>
          </p:cNvPr>
          <p:cNvSpPr txBox="1"/>
          <p:nvPr/>
        </p:nvSpPr>
        <p:spPr>
          <a:xfrm>
            <a:off x="84221" y="120316"/>
            <a:ext cx="6172200" cy="800219"/>
          </a:xfrm>
          <a:prstGeom prst="rect">
            <a:avLst/>
          </a:prstGeom>
          <a:noFill/>
        </p:spPr>
        <p:txBody>
          <a:bodyPr wrap="square" rtlCol="0">
            <a:spAutoFit/>
          </a:bodyPr>
          <a:lstStyle/>
          <a:p>
            <a:r>
              <a:rPr lang="en-US" sz="2800" b="1"/>
              <a:t>Statistics</a:t>
            </a:r>
          </a:p>
          <a:p>
            <a:r>
              <a:rPr lang="en-US" sz="1800" b="1"/>
              <a:t>    </a:t>
            </a:r>
            <a:r>
              <a:rPr lang="en-US" sz="1800" b="1">
                <a:solidFill>
                  <a:srgbClr val="FF0000"/>
                </a:solidFill>
              </a:rPr>
              <a:t>sample data </a:t>
            </a:r>
            <a:r>
              <a:rPr lang="en-US" sz="1800" b="1">
                <a:solidFill>
                  <a:srgbClr val="FF0000"/>
                </a:solidFill>
                <a:sym typeface="Wingdings" pitchFamily="2" charset="2"/>
              </a:rPr>
              <a:t>   conclusions and predictions</a:t>
            </a:r>
            <a:r>
              <a:rPr lang="en-US" sz="1800" b="1">
                <a:sym typeface="Wingdings" pitchFamily="2" charset="2"/>
              </a:rPr>
              <a:t> </a:t>
            </a:r>
            <a:endParaRPr lang="en-US" sz="1800" b="1"/>
          </a:p>
        </p:txBody>
      </p:sp>
      <p:pic>
        <p:nvPicPr>
          <p:cNvPr id="5" name="Picture 4">
            <a:extLst>
              <a:ext uri="{FF2B5EF4-FFF2-40B4-BE49-F238E27FC236}">
                <a16:creationId xmlns:a16="http://schemas.microsoft.com/office/drawing/2014/main" id="{D55C7F62-4DAE-B846-B173-162C2E84901A}"/>
              </a:ext>
            </a:extLst>
          </p:cNvPr>
          <p:cNvPicPr>
            <a:picLocks noChangeAspect="1"/>
          </p:cNvPicPr>
          <p:nvPr/>
        </p:nvPicPr>
        <p:blipFill>
          <a:blip r:embed="rId2"/>
          <a:stretch>
            <a:fillRect/>
          </a:stretch>
        </p:blipFill>
        <p:spPr>
          <a:xfrm>
            <a:off x="7268647" y="139700"/>
            <a:ext cx="4839132" cy="2928353"/>
          </a:xfrm>
          <a:prstGeom prst="rect">
            <a:avLst/>
          </a:prstGeom>
        </p:spPr>
      </p:pic>
    </p:spTree>
    <p:extLst>
      <p:ext uri="{BB962C8B-B14F-4D97-AF65-F5344CB8AC3E}">
        <p14:creationId xmlns:p14="http://schemas.microsoft.com/office/powerpoint/2010/main" val="14998772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7FF3915-155C-654B-9482-71A1ADB58F39}"/>
              </a:ext>
            </a:extLst>
          </p:cNvPr>
          <p:cNvSpPr txBox="1"/>
          <p:nvPr/>
        </p:nvSpPr>
        <p:spPr>
          <a:xfrm>
            <a:off x="157655" y="165651"/>
            <a:ext cx="3920359" cy="461665"/>
          </a:xfrm>
          <a:prstGeom prst="rect">
            <a:avLst/>
          </a:prstGeom>
          <a:noFill/>
        </p:spPr>
        <p:txBody>
          <a:bodyPr wrap="square" rtlCol="0">
            <a:spAutoFit/>
          </a:bodyPr>
          <a:lstStyle/>
          <a:p>
            <a:r>
              <a:rPr lang="en-US" sz="2400" b="1" dirty="0"/>
              <a:t>Probability &amp; Statistics</a:t>
            </a:r>
          </a:p>
        </p:txBody>
      </p:sp>
      <p:sp>
        <p:nvSpPr>
          <p:cNvPr id="5" name="TextBox 4">
            <a:extLst>
              <a:ext uri="{FF2B5EF4-FFF2-40B4-BE49-F238E27FC236}">
                <a16:creationId xmlns:a16="http://schemas.microsoft.com/office/drawing/2014/main" id="{0B4D9DED-88C7-6644-AF6D-10C72AB27353}"/>
              </a:ext>
            </a:extLst>
          </p:cNvPr>
          <p:cNvSpPr txBox="1"/>
          <p:nvPr/>
        </p:nvSpPr>
        <p:spPr>
          <a:xfrm>
            <a:off x="157655" y="998483"/>
            <a:ext cx="5549462" cy="5262979"/>
          </a:xfrm>
          <a:prstGeom prst="rect">
            <a:avLst/>
          </a:prstGeom>
          <a:noFill/>
        </p:spPr>
        <p:txBody>
          <a:bodyPr wrap="square" rtlCol="0">
            <a:spAutoFit/>
          </a:bodyPr>
          <a:lstStyle/>
          <a:p>
            <a:r>
              <a:rPr lang="en-US" dirty="0"/>
              <a:t>Books on probability and statistics</a:t>
            </a:r>
          </a:p>
          <a:p>
            <a:r>
              <a:rPr lang="en-US" dirty="0"/>
              <a:t>    </a:t>
            </a:r>
            <a:r>
              <a:rPr lang="en-US" dirty="0">
                <a:hlinkClick r:id="rId2"/>
              </a:rPr>
              <a:t>https://</a:t>
            </a:r>
            <a:r>
              <a:rPr lang="en-US" dirty="0" err="1">
                <a:hlinkClick r:id="rId2"/>
              </a:rPr>
              <a:t>www.quora.com</a:t>
            </a:r>
            <a:r>
              <a:rPr lang="en-US" dirty="0">
                <a:hlinkClick r:id="rId2"/>
              </a:rPr>
              <a:t>/What-are-some-good-books-for-learning-probability-and-statistics</a:t>
            </a:r>
            <a:endParaRPr lang="en-US" dirty="0"/>
          </a:p>
          <a:p>
            <a:endParaRPr lang="en-US" dirty="0"/>
          </a:p>
          <a:p>
            <a:r>
              <a:rPr lang="en-US" dirty="0"/>
              <a:t>Introduction to Probability Theory</a:t>
            </a:r>
          </a:p>
          <a:p>
            <a:endParaRPr lang="en-US" dirty="0"/>
          </a:p>
          <a:p>
            <a:r>
              <a:rPr lang="en-US" b="1" dirty="0">
                <a:solidFill>
                  <a:srgbClr val="FF0000"/>
                </a:solidFill>
              </a:rPr>
              <a:t>Probability</a:t>
            </a:r>
            <a:r>
              <a:rPr lang="en-US" dirty="0"/>
              <a:t> Definitions:</a:t>
            </a:r>
          </a:p>
          <a:p>
            <a:endParaRPr lang="en-US" dirty="0"/>
          </a:p>
          <a:p>
            <a:r>
              <a:rPr lang="en-US" b="1" dirty="0">
                <a:solidFill>
                  <a:srgbClr val="FF0000"/>
                </a:solidFill>
              </a:rPr>
              <a:t>Probability</a:t>
            </a:r>
            <a:r>
              <a:rPr lang="en-US" dirty="0"/>
              <a:t> of an event is the measure of the likelihood that </a:t>
            </a:r>
          </a:p>
          <a:p>
            <a:r>
              <a:rPr lang="en-US" dirty="0"/>
              <a:t>the event will occur (in some experiment). </a:t>
            </a:r>
          </a:p>
          <a:p>
            <a:endParaRPr lang="en-US" dirty="0"/>
          </a:p>
          <a:p>
            <a:r>
              <a:rPr lang="en-US" b="1" dirty="0">
                <a:solidFill>
                  <a:srgbClr val="FF0000"/>
                </a:solidFill>
              </a:rPr>
              <a:t>Probability</a:t>
            </a:r>
            <a:r>
              <a:rPr lang="en-US" dirty="0"/>
              <a:t> is a number between 0 and 1. </a:t>
            </a:r>
          </a:p>
          <a:p>
            <a:r>
              <a:rPr lang="en-US" dirty="0"/>
              <a:t>But sometimes people express probability using </a:t>
            </a:r>
            <a:r>
              <a:rPr lang="en-US" dirty="0" err="1"/>
              <a:t>percents</a:t>
            </a:r>
            <a:r>
              <a:rPr lang="en-US" dirty="0"/>
              <a:t>.</a:t>
            </a:r>
          </a:p>
          <a:p>
            <a:endParaRPr lang="en-US" dirty="0"/>
          </a:p>
          <a:p>
            <a:r>
              <a:rPr lang="en-US" dirty="0"/>
              <a:t>    0 – event is impossible</a:t>
            </a:r>
          </a:p>
          <a:p>
            <a:r>
              <a:rPr lang="en-US" dirty="0"/>
              <a:t>    0.5 – the event is just as likely to occur as it is to not occur</a:t>
            </a:r>
          </a:p>
          <a:p>
            <a:r>
              <a:rPr lang="en-US" dirty="0"/>
              <a:t>    1 – event will certainly happen, 100%.</a:t>
            </a:r>
          </a:p>
          <a:p>
            <a:endParaRPr lang="en-US" dirty="0"/>
          </a:p>
          <a:p>
            <a:r>
              <a:rPr lang="en-US" dirty="0"/>
              <a:t>The sum of probabilities of all outcomes of an experiment </a:t>
            </a:r>
          </a:p>
          <a:p>
            <a:r>
              <a:rPr lang="en-US" dirty="0"/>
              <a:t>should always be 1.</a:t>
            </a:r>
          </a:p>
          <a:p>
            <a:endParaRPr lang="en-US" dirty="0"/>
          </a:p>
          <a:p>
            <a:r>
              <a:rPr lang="en-US" b="1" dirty="0">
                <a:solidFill>
                  <a:srgbClr val="FF0000"/>
                </a:solidFill>
              </a:rPr>
              <a:t>Outcomes</a:t>
            </a:r>
            <a:r>
              <a:rPr lang="en-US" dirty="0"/>
              <a:t> can be combinations of individual events. For example, if we throw one dice cube – there are 6 possible outcomes (1,2,3,4,5,6), each one has same probability – 1/6.</a:t>
            </a:r>
          </a:p>
        </p:txBody>
      </p:sp>
      <p:sp>
        <p:nvSpPr>
          <p:cNvPr id="6" name="TextBox 5">
            <a:extLst>
              <a:ext uri="{FF2B5EF4-FFF2-40B4-BE49-F238E27FC236}">
                <a16:creationId xmlns:a16="http://schemas.microsoft.com/office/drawing/2014/main" id="{114DD0B7-6869-094A-81E2-14D593C7ED9E}"/>
              </a:ext>
            </a:extLst>
          </p:cNvPr>
          <p:cNvSpPr txBox="1"/>
          <p:nvPr/>
        </p:nvSpPr>
        <p:spPr>
          <a:xfrm>
            <a:off x="5938345" y="701179"/>
            <a:ext cx="6096000" cy="5816977"/>
          </a:xfrm>
          <a:prstGeom prst="rect">
            <a:avLst/>
          </a:prstGeom>
          <a:noFill/>
        </p:spPr>
        <p:txBody>
          <a:bodyPr wrap="square" rtlCol="0">
            <a:spAutoFit/>
          </a:bodyPr>
          <a:lstStyle/>
          <a:p>
            <a:r>
              <a:rPr lang="en-US" dirty="0"/>
              <a:t>If we throw </a:t>
            </a:r>
            <a:r>
              <a:rPr lang="en-US" b="1" dirty="0">
                <a:solidFill>
                  <a:srgbClr val="FF0000"/>
                </a:solidFill>
              </a:rPr>
              <a:t>2 cubes</a:t>
            </a:r>
            <a:r>
              <a:rPr lang="en-US" dirty="0"/>
              <a:t>, there are 6*6=36 possible combinations.</a:t>
            </a:r>
          </a:p>
          <a:p>
            <a:r>
              <a:rPr lang="en-US" dirty="0"/>
              <a:t>Probability of each combination is the same – 1/36.</a:t>
            </a:r>
          </a:p>
          <a:p>
            <a:endParaRPr lang="en-US" dirty="0"/>
          </a:p>
          <a:p>
            <a:r>
              <a:rPr lang="en-US" dirty="0"/>
              <a:t>If we define an outcome as a sum of numbers on top side of </a:t>
            </a:r>
          </a:p>
          <a:p>
            <a:r>
              <a:rPr lang="en-US" dirty="0"/>
              <a:t>cubes after the throw, then there are 11 possible outcomes (sums):</a:t>
            </a:r>
          </a:p>
          <a:p>
            <a:endParaRPr lang="en-US" dirty="0"/>
          </a:p>
          <a:p>
            <a:r>
              <a:rPr lang="en-US" sz="1200" dirty="0">
                <a:solidFill>
                  <a:srgbClr val="0070C0"/>
                </a:solidFill>
                <a:latin typeface="Monaco" pitchFamily="2" charset="77"/>
              </a:rPr>
              <a:t>---------------------------------------------------------</a:t>
            </a:r>
          </a:p>
          <a:p>
            <a:r>
              <a:rPr lang="en-US" sz="1200" dirty="0">
                <a:solidFill>
                  <a:srgbClr val="0070C0"/>
                </a:solidFill>
                <a:latin typeface="Monaco" pitchFamily="2" charset="77"/>
              </a:rPr>
              <a:t>Sum    Combinations             Number of</a:t>
            </a:r>
          </a:p>
          <a:p>
            <a:r>
              <a:rPr lang="en-US" sz="1200" dirty="0">
                <a:solidFill>
                  <a:srgbClr val="0070C0"/>
                </a:solidFill>
                <a:latin typeface="Monaco" pitchFamily="2" charset="77"/>
              </a:rPr>
              <a:t>                                combinations  Probability</a:t>
            </a:r>
          </a:p>
          <a:p>
            <a:r>
              <a:rPr lang="en-US" sz="1200" dirty="0">
                <a:solidFill>
                  <a:srgbClr val="0070C0"/>
                </a:solidFill>
                <a:latin typeface="Monaco" pitchFamily="2" charset="77"/>
              </a:rPr>
              <a:t>---------------------------------------------------------</a:t>
            </a:r>
          </a:p>
          <a:p>
            <a:r>
              <a:rPr lang="en-US" sz="1200" dirty="0">
                <a:solidFill>
                  <a:srgbClr val="0070C0"/>
                </a:solidFill>
                <a:latin typeface="Monaco" pitchFamily="2" charset="77"/>
              </a:rPr>
              <a:t>2      1+1                          1             1/36</a:t>
            </a:r>
          </a:p>
          <a:p>
            <a:r>
              <a:rPr lang="en-US" sz="1200" dirty="0">
                <a:solidFill>
                  <a:srgbClr val="0070C0"/>
                </a:solidFill>
                <a:latin typeface="Monaco" pitchFamily="2" charset="77"/>
              </a:rPr>
              <a:t>3      1+2,2+1                      2             2/36</a:t>
            </a:r>
          </a:p>
          <a:p>
            <a:r>
              <a:rPr lang="en-US" sz="1200" dirty="0">
                <a:solidFill>
                  <a:srgbClr val="0070C0"/>
                </a:solidFill>
                <a:latin typeface="Monaco" pitchFamily="2" charset="77"/>
              </a:rPr>
              <a:t>4      1+3,2+2,3+1                  3             3/36</a:t>
            </a:r>
          </a:p>
          <a:p>
            <a:r>
              <a:rPr lang="en-US" sz="1200" dirty="0">
                <a:solidFill>
                  <a:srgbClr val="0070C0"/>
                </a:solidFill>
                <a:latin typeface="Monaco" pitchFamily="2" charset="77"/>
              </a:rPr>
              <a:t>5      1+4,2+3,3+2,4+1              4             4/36</a:t>
            </a:r>
          </a:p>
          <a:p>
            <a:r>
              <a:rPr lang="en-US" sz="1200" dirty="0">
                <a:solidFill>
                  <a:srgbClr val="0070C0"/>
                </a:solidFill>
                <a:latin typeface="Monaco" pitchFamily="2" charset="77"/>
              </a:rPr>
              <a:t>6      1+5,2+4,3+3,4+2,5+1          5             5/36</a:t>
            </a:r>
          </a:p>
          <a:p>
            <a:r>
              <a:rPr lang="en-US" sz="1200" dirty="0">
                <a:solidFill>
                  <a:srgbClr val="0070C0"/>
                </a:solidFill>
                <a:latin typeface="Monaco" pitchFamily="2" charset="77"/>
              </a:rPr>
              <a:t>7      1+6,2+5,3+4,4+3,5+2,6+1      6             6/36</a:t>
            </a:r>
          </a:p>
          <a:p>
            <a:r>
              <a:rPr lang="en-US" sz="1200" dirty="0">
                <a:solidFill>
                  <a:srgbClr val="0070C0"/>
                </a:solidFill>
                <a:latin typeface="Monaco" pitchFamily="2" charset="77"/>
              </a:rPr>
              <a:t>8      2+6,3+5,4+4,5+3,6+2          5             5/36</a:t>
            </a:r>
          </a:p>
          <a:p>
            <a:r>
              <a:rPr lang="en-US" sz="1200" dirty="0">
                <a:solidFill>
                  <a:srgbClr val="0070C0"/>
                </a:solidFill>
                <a:latin typeface="Monaco" pitchFamily="2" charset="77"/>
              </a:rPr>
              <a:t>9      3+6,4+5,5+4,6+3              4             4/36</a:t>
            </a:r>
          </a:p>
          <a:p>
            <a:r>
              <a:rPr lang="en-US" sz="1200" dirty="0">
                <a:solidFill>
                  <a:srgbClr val="0070C0"/>
                </a:solidFill>
                <a:latin typeface="Monaco" pitchFamily="2" charset="77"/>
              </a:rPr>
              <a:t>10     4+6,5+5,6+4                  3             3/36</a:t>
            </a:r>
          </a:p>
          <a:p>
            <a:r>
              <a:rPr lang="en-US" sz="1200" dirty="0">
                <a:solidFill>
                  <a:srgbClr val="0070C0"/>
                </a:solidFill>
                <a:latin typeface="Monaco" pitchFamily="2" charset="77"/>
              </a:rPr>
              <a:t>11     5+6,6+5                      2             2/36</a:t>
            </a:r>
          </a:p>
          <a:p>
            <a:r>
              <a:rPr lang="en-US" sz="1200" dirty="0">
                <a:solidFill>
                  <a:srgbClr val="0070C0"/>
                </a:solidFill>
                <a:latin typeface="Monaco" pitchFamily="2" charset="77"/>
              </a:rPr>
              <a:t>12     6+6                          1             1/36</a:t>
            </a:r>
          </a:p>
          <a:p>
            <a:r>
              <a:rPr lang="en-US" sz="1200" dirty="0">
                <a:solidFill>
                  <a:srgbClr val="0070C0"/>
                </a:solidFill>
                <a:latin typeface="Monaco" pitchFamily="2" charset="77"/>
              </a:rPr>
              <a:t>---------------------------------------------------------</a:t>
            </a:r>
          </a:p>
          <a:p>
            <a:r>
              <a:rPr lang="en-US" sz="1200" dirty="0">
                <a:solidFill>
                  <a:srgbClr val="0070C0"/>
                </a:solidFill>
                <a:latin typeface="Monaco" pitchFamily="2" charset="77"/>
              </a:rPr>
              <a:t>Total                              36              1</a:t>
            </a:r>
            <a:br>
              <a:rPr lang="en-US" sz="1200" dirty="0">
                <a:solidFill>
                  <a:srgbClr val="0070C0"/>
                </a:solidFill>
                <a:latin typeface="Monaco" pitchFamily="2" charset="77"/>
              </a:rPr>
            </a:br>
            <a:endParaRPr lang="en-US" dirty="0"/>
          </a:p>
          <a:p>
            <a:r>
              <a:rPr lang="en-US" dirty="0"/>
              <a:t>From the table above you see how some outcomes can result </a:t>
            </a:r>
          </a:p>
          <a:p>
            <a:r>
              <a:rPr lang="en-US" dirty="0"/>
              <a:t>from more combinations, thus have higher probability of happening.</a:t>
            </a:r>
          </a:p>
          <a:p>
            <a:endParaRPr lang="en-US" dirty="0"/>
          </a:p>
          <a:p>
            <a:r>
              <a:rPr lang="en-US" dirty="0"/>
              <a:t>Note: Events can be mutually exclusive, or not. </a:t>
            </a:r>
          </a:p>
          <a:p>
            <a:r>
              <a:rPr lang="en-US" dirty="0"/>
              <a:t>Also, events may be independent, or dependent on each other.</a:t>
            </a:r>
          </a:p>
        </p:txBody>
      </p:sp>
    </p:spTree>
    <p:extLst>
      <p:ext uri="{BB962C8B-B14F-4D97-AF65-F5344CB8AC3E}">
        <p14:creationId xmlns:p14="http://schemas.microsoft.com/office/powerpoint/2010/main" val="41246394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F33A883-0865-B144-AFA6-9A8B821FB9CB}"/>
              </a:ext>
            </a:extLst>
          </p:cNvPr>
          <p:cNvSpPr txBox="1"/>
          <p:nvPr/>
        </p:nvSpPr>
        <p:spPr>
          <a:xfrm>
            <a:off x="220717" y="283779"/>
            <a:ext cx="5728138" cy="5693866"/>
          </a:xfrm>
          <a:prstGeom prst="rect">
            <a:avLst/>
          </a:prstGeom>
          <a:noFill/>
        </p:spPr>
        <p:txBody>
          <a:bodyPr wrap="square" rtlCol="0">
            <a:spAutoFit/>
          </a:bodyPr>
          <a:lstStyle/>
          <a:p>
            <a:r>
              <a:rPr lang="en-US" b="1" dirty="0">
                <a:solidFill>
                  <a:srgbClr val="0070C0"/>
                </a:solidFill>
              </a:rPr>
              <a:t>Marginal Probability </a:t>
            </a:r>
            <a:r>
              <a:rPr lang="en-US" dirty="0"/>
              <a:t>= Simple Probability , a probability </a:t>
            </a:r>
          </a:p>
          <a:p>
            <a:r>
              <a:rPr lang="en-US" dirty="0"/>
              <a:t>of an independent event occurring.</a:t>
            </a:r>
          </a:p>
          <a:p>
            <a:endParaRPr lang="en-US" dirty="0"/>
          </a:p>
          <a:p>
            <a:r>
              <a:rPr lang="en-US" dirty="0"/>
              <a:t>The term “marginal variable” is used to refer to a subset </a:t>
            </a:r>
          </a:p>
          <a:p>
            <a:r>
              <a:rPr lang="en-US" dirty="0"/>
              <a:t>of variables in a table. They called “marginal” because they </a:t>
            </a:r>
          </a:p>
          <a:p>
            <a:r>
              <a:rPr lang="en-US" dirty="0"/>
              <a:t>used to be calculated by summing values in a table along </a:t>
            </a:r>
          </a:p>
          <a:p>
            <a:r>
              <a:rPr lang="en-US" dirty="0"/>
              <a:t>rows or columns , and writing the sum in the margins of the table.</a:t>
            </a:r>
          </a:p>
          <a:p>
            <a:endParaRPr lang="en-US" dirty="0"/>
          </a:p>
          <a:p>
            <a:r>
              <a:rPr lang="en-US" dirty="0"/>
              <a:t>Examples of assigning probability.</a:t>
            </a:r>
          </a:p>
          <a:p>
            <a:endParaRPr lang="en-US" dirty="0"/>
          </a:p>
          <a:p>
            <a:r>
              <a:rPr lang="en-US" b="1" dirty="0">
                <a:solidFill>
                  <a:srgbClr val="0070C0"/>
                </a:solidFill>
              </a:rPr>
              <a:t>Example 1. Tossing a coin.</a:t>
            </a:r>
          </a:p>
          <a:p>
            <a:endParaRPr lang="en-US" dirty="0"/>
          </a:p>
          <a:p>
            <a:r>
              <a:rPr lang="en-US" dirty="0"/>
              <a:t>Possible outcomes : (tails or heads).</a:t>
            </a:r>
          </a:p>
          <a:p>
            <a:r>
              <a:rPr lang="en-US" dirty="0"/>
              <a:t>Events (tails of heads) are mutually exclusive. </a:t>
            </a:r>
          </a:p>
          <a:p>
            <a:r>
              <a:rPr lang="en-US" dirty="0"/>
              <a:t>Their probabilities should be equal.</a:t>
            </a:r>
          </a:p>
          <a:p>
            <a:endParaRPr lang="en-US" dirty="0"/>
          </a:p>
          <a:p>
            <a:r>
              <a:rPr lang="en-US" dirty="0"/>
              <a:t>P</a:t>
            </a:r>
            <a:r>
              <a:rPr lang="en-US" baseline="-25000" dirty="0"/>
              <a:t>t</a:t>
            </a:r>
            <a:r>
              <a:rPr lang="en-US" dirty="0"/>
              <a:t> + P</a:t>
            </a:r>
            <a:r>
              <a:rPr lang="en-US" baseline="-25000" dirty="0"/>
              <a:t>h</a:t>
            </a:r>
            <a:r>
              <a:rPr lang="en-US" dirty="0"/>
              <a:t> = 1</a:t>
            </a:r>
          </a:p>
          <a:p>
            <a:r>
              <a:rPr lang="en-US" dirty="0"/>
              <a:t>P</a:t>
            </a:r>
            <a:r>
              <a:rPr lang="en-US" baseline="-25000" dirty="0"/>
              <a:t>t</a:t>
            </a:r>
            <a:r>
              <a:rPr lang="en-US" dirty="0"/>
              <a:t> = 0.5</a:t>
            </a:r>
          </a:p>
          <a:p>
            <a:r>
              <a:rPr lang="en-US" dirty="0"/>
              <a:t>P</a:t>
            </a:r>
            <a:r>
              <a:rPr lang="en-US" baseline="-25000" dirty="0"/>
              <a:t>h</a:t>
            </a:r>
            <a:r>
              <a:rPr lang="en-US" dirty="0"/>
              <a:t> = 0.5</a:t>
            </a:r>
          </a:p>
          <a:p>
            <a:endParaRPr lang="en-US" dirty="0"/>
          </a:p>
          <a:p>
            <a:r>
              <a:rPr lang="en-US" b="1" dirty="0">
                <a:solidFill>
                  <a:srgbClr val="0070C0"/>
                </a:solidFill>
              </a:rPr>
              <a:t>Example 2. Rolling a die.</a:t>
            </a:r>
          </a:p>
          <a:p>
            <a:endParaRPr lang="en-US" dirty="0"/>
          </a:p>
          <a:p>
            <a:r>
              <a:rPr lang="en-US" dirty="0"/>
              <a:t>Possible outcomes: (1,2,3,4,5,6).</a:t>
            </a:r>
          </a:p>
          <a:p>
            <a:r>
              <a:rPr lang="en-US" dirty="0"/>
              <a:t>They are mutually exclusive, probability equal, sum() = 1</a:t>
            </a:r>
          </a:p>
          <a:p>
            <a:r>
              <a:rPr lang="en-US" dirty="0"/>
              <a:t>So each probability = 1/6 = 0.167 3.</a:t>
            </a:r>
          </a:p>
        </p:txBody>
      </p:sp>
      <p:sp>
        <p:nvSpPr>
          <p:cNvPr id="5" name="TextBox 4">
            <a:extLst>
              <a:ext uri="{FF2B5EF4-FFF2-40B4-BE49-F238E27FC236}">
                <a16:creationId xmlns:a16="http://schemas.microsoft.com/office/drawing/2014/main" id="{4EFE259D-D05B-5F41-8BD0-9A4D34A8B30A}"/>
              </a:ext>
            </a:extLst>
          </p:cNvPr>
          <p:cNvSpPr txBox="1"/>
          <p:nvPr/>
        </p:nvSpPr>
        <p:spPr>
          <a:xfrm>
            <a:off x="6190593" y="663672"/>
            <a:ext cx="6001407" cy="3970318"/>
          </a:xfrm>
          <a:prstGeom prst="rect">
            <a:avLst/>
          </a:prstGeom>
          <a:noFill/>
        </p:spPr>
        <p:txBody>
          <a:bodyPr wrap="square" rtlCol="0">
            <a:spAutoFit/>
          </a:bodyPr>
          <a:lstStyle/>
          <a:p>
            <a:r>
              <a:rPr lang="en-US" b="1" dirty="0">
                <a:solidFill>
                  <a:srgbClr val="0070C0"/>
                </a:solidFill>
              </a:rPr>
              <a:t>Example 3. Job Search.</a:t>
            </a:r>
          </a:p>
          <a:p>
            <a:endParaRPr lang="en-US" dirty="0"/>
          </a:p>
          <a:p>
            <a:r>
              <a:rPr lang="en-US" dirty="0"/>
              <a:t>I get 2 emails with job descriptions every day, 10 per week.</a:t>
            </a:r>
          </a:p>
          <a:p>
            <a:endParaRPr lang="en-US" dirty="0"/>
          </a:p>
          <a:p>
            <a:r>
              <a:rPr lang="en-US" dirty="0"/>
              <a:t>Two of them may be a fit: 2 of 10 (0.2).</a:t>
            </a:r>
          </a:p>
          <a:p>
            <a:endParaRPr lang="en-US" dirty="0"/>
          </a:p>
          <a:p>
            <a:r>
              <a:rPr lang="en-US" dirty="0"/>
              <a:t>So I send an email that I am interested. </a:t>
            </a:r>
          </a:p>
          <a:p>
            <a:r>
              <a:rPr lang="en-US" dirty="0"/>
              <a:t>I am invited to every third position I requested (0.2/3 = 0.067)</a:t>
            </a:r>
          </a:p>
          <a:p>
            <a:endParaRPr lang="en-US" dirty="0"/>
          </a:p>
          <a:p>
            <a:r>
              <a:rPr lang="en-US" dirty="0"/>
              <a:t>And I get 1 position out of 10 initial interviews (0.0067).</a:t>
            </a:r>
          </a:p>
          <a:p>
            <a:endParaRPr lang="en-US" dirty="0"/>
          </a:p>
          <a:p>
            <a:r>
              <a:rPr lang="en-US" dirty="0"/>
              <a:t>So the probability that an incoming email will result </a:t>
            </a:r>
          </a:p>
          <a:p>
            <a:r>
              <a:rPr lang="en-US" dirty="0"/>
              <a:t>in a job is 0.0067, or ~1%. </a:t>
            </a:r>
          </a:p>
          <a:p>
            <a:r>
              <a:rPr lang="en-US" dirty="0"/>
              <a:t>So, I need to consider 100 positions (this will take 10 weeks), </a:t>
            </a:r>
          </a:p>
          <a:p>
            <a:r>
              <a:rPr lang="en-US" dirty="0"/>
              <a:t>send 20 emails asking to invite, go to 6..7 interviews, </a:t>
            </a:r>
          </a:p>
          <a:p>
            <a:r>
              <a:rPr lang="en-US" dirty="0"/>
              <a:t>and eventually get a job.</a:t>
            </a:r>
          </a:p>
          <a:p>
            <a:endParaRPr lang="en-US" dirty="0"/>
          </a:p>
          <a:p>
            <a:r>
              <a:rPr lang="en-US" dirty="0"/>
              <a:t>So job search takes 2..3 months.</a:t>
            </a:r>
          </a:p>
        </p:txBody>
      </p:sp>
    </p:spTree>
    <p:extLst>
      <p:ext uri="{BB962C8B-B14F-4D97-AF65-F5344CB8AC3E}">
        <p14:creationId xmlns:p14="http://schemas.microsoft.com/office/powerpoint/2010/main" val="8842660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EB5F268-965F-C142-A102-83C02389B555}"/>
              </a:ext>
            </a:extLst>
          </p:cNvPr>
          <p:cNvSpPr txBox="1"/>
          <p:nvPr/>
        </p:nvSpPr>
        <p:spPr>
          <a:xfrm>
            <a:off x="189186" y="258901"/>
            <a:ext cx="5675586" cy="6340197"/>
          </a:xfrm>
          <a:prstGeom prst="rect">
            <a:avLst/>
          </a:prstGeom>
          <a:noFill/>
        </p:spPr>
        <p:txBody>
          <a:bodyPr wrap="square" rtlCol="0">
            <a:spAutoFit/>
          </a:bodyPr>
          <a:lstStyle/>
          <a:p>
            <a:r>
              <a:rPr lang="en-US" b="1" dirty="0">
                <a:solidFill>
                  <a:srgbClr val="0070C0"/>
                </a:solidFill>
              </a:rPr>
              <a:t>Rules (Or, And, etc.)</a:t>
            </a:r>
          </a:p>
          <a:p>
            <a:endParaRPr lang="en-US" dirty="0"/>
          </a:p>
          <a:p>
            <a:r>
              <a:rPr lang="en-US" dirty="0"/>
              <a:t>Lets A be an event. </a:t>
            </a:r>
          </a:p>
          <a:p>
            <a:r>
              <a:rPr lang="en-US" dirty="0"/>
              <a:t>P(A) – </a:t>
            </a:r>
            <a:r>
              <a:rPr lang="en-US" dirty="0" err="1"/>
              <a:t>probabiltiy</a:t>
            </a:r>
            <a:r>
              <a:rPr lang="en-US" dirty="0"/>
              <a:t> of event A </a:t>
            </a:r>
          </a:p>
          <a:p>
            <a:r>
              <a:rPr lang="en-US" dirty="0"/>
              <a:t>then: P(A) + P(not A) = 1 </a:t>
            </a:r>
          </a:p>
          <a:p>
            <a:endParaRPr lang="en-US" dirty="0"/>
          </a:p>
          <a:p>
            <a:r>
              <a:rPr lang="en-US" dirty="0"/>
              <a:t>If A and B are events, then: </a:t>
            </a:r>
          </a:p>
          <a:p>
            <a:r>
              <a:rPr lang="en-US" dirty="0"/>
              <a:t>P(A or B) = P(A) + P(B) – P(A and B) </a:t>
            </a:r>
          </a:p>
          <a:p>
            <a:endParaRPr lang="en-US" dirty="0"/>
          </a:p>
          <a:p>
            <a:r>
              <a:rPr lang="en-US" dirty="0"/>
              <a:t>for mutually exclusive events P(A and B) = 0, </a:t>
            </a:r>
          </a:p>
          <a:p>
            <a:r>
              <a:rPr lang="en-US" dirty="0"/>
              <a:t>so P(A or B) = P(A) + P(B)</a:t>
            </a:r>
          </a:p>
          <a:p>
            <a:endParaRPr lang="en-US" dirty="0"/>
          </a:p>
          <a:p>
            <a:r>
              <a:rPr lang="en-US" b="1" dirty="0">
                <a:solidFill>
                  <a:srgbClr val="0070C0"/>
                </a:solidFill>
              </a:rPr>
              <a:t>Venn Diagrams</a:t>
            </a:r>
          </a:p>
          <a:p>
            <a:endParaRPr lang="en-US" dirty="0"/>
          </a:p>
          <a:p>
            <a:r>
              <a:rPr lang="en-US" dirty="0"/>
              <a:t>Venn Diagrams = Graphical representation of events as circles.</a:t>
            </a:r>
          </a:p>
          <a:p>
            <a:r>
              <a:rPr lang="en-US" dirty="0"/>
              <a:t>See many examples – just google images for: Venn Diagram A or B.</a:t>
            </a:r>
          </a:p>
          <a:p>
            <a:endParaRPr lang="en-US" dirty="0"/>
          </a:p>
          <a:p>
            <a:r>
              <a:rPr lang="en-US" dirty="0"/>
              <a:t>For example, this image shows Intersection (A and B),</a:t>
            </a:r>
          </a:p>
          <a:p>
            <a:r>
              <a:rPr lang="en-US" dirty="0"/>
              <a:t>negation of intersection (A but not B, or B but not A),</a:t>
            </a:r>
          </a:p>
          <a:p>
            <a:r>
              <a:rPr lang="en-US" dirty="0"/>
              <a:t>union (A or B), and subtraction (A but not B) :</a:t>
            </a:r>
          </a:p>
          <a:p>
            <a:endParaRPr lang="en-US" dirty="0"/>
          </a:p>
          <a:p>
            <a:r>
              <a:rPr lang="en-US" dirty="0"/>
              <a:t>Conditional Probability</a:t>
            </a:r>
          </a:p>
          <a:p>
            <a:r>
              <a:rPr lang="en-US" dirty="0"/>
              <a:t>P(A|B) – probability of A given that B has occurred.</a:t>
            </a:r>
          </a:p>
          <a:p>
            <a:r>
              <a:rPr lang="en-US" dirty="0"/>
              <a:t>P(A|B) = P(A and B) / P(B) (if P(B) is not zero)</a:t>
            </a:r>
          </a:p>
          <a:p>
            <a:endParaRPr lang="en-US" dirty="0"/>
          </a:p>
          <a:p>
            <a:r>
              <a:rPr lang="en-US" dirty="0"/>
              <a:t>If A &amp; B are independent form each other, then:</a:t>
            </a:r>
          </a:p>
          <a:p>
            <a:r>
              <a:rPr lang="en-US" dirty="0"/>
              <a:t>P(A|B) = P(A)</a:t>
            </a:r>
          </a:p>
          <a:p>
            <a:r>
              <a:rPr lang="en-US" dirty="0"/>
              <a:t>P(B|A) = P(B)</a:t>
            </a:r>
          </a:p>
        </p:txBody>
      </p:sp>
      <p:pic>
        <p:nvPicPr>
          <p:cNvPr id="2" name="Picture 1">
            <a:extLst>
              <a:ext uri="{FF2B5EF4-FFF2-40B4-BE49-F238E27FC236}">
                <a16:creationId xmlns:a16="http://schemas.microsoft.com/office/drawing/2014/main" id="{53B9C2FE-C703-344E-807C-1F34D0C83917}"/>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695908" y="258901"/>
            <a:ext cx="5143166" cy="6227906"/>
          </a:xfrm>
          <a:prstGeom prst="rect">
            <a:avLst/>
          </a:prstGeom>
        </p:spPr>
      </p:pic>
    </p:spTree>
    <p:extLst>
      <p:ext uri="{BB962C8B-B14F-4D97-AF65-F5344CB8AC3E}">
        <p14:creationId xmlns:p14="http://schemas.microsoft.com/office/powerpoint/2010/main" val="33453871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B80BCCA-2C61-AF4F-A60F-52F5007A8787}"/>
              </a:ext>
            </a:extLst>
          </p:cNvPr>
          <p:cNvSpPr txBox="1"/>
          <p:nvPr/>
        </p:nvSpPr>
        <p:spPr>
          <a:xfrm>
            <a:off x="100084" y="2987997"/>
            <a:ext cx="3938899" cy="523220"/>
          </a:xfrm>
          <a:prstGeom prst="rect">
            <a:avLst/>
          </a:prstGeom>
          <a:noFill/>
        </p:spPr>
        <p:txBody>
          <a:bodyPr wrap="none" rtlCol="0">
            <a:spAutoFit/>
          </a:bodyPr>
          <a:lstStyle/>
          <a:p>
            <a:r>
              <a:rPr lang="en-US" sz="2800" b="1" dirty="0"/>
              <a:t>Bonferroni Correction</a:t>
            </a:r>
          </a:p>
        </p:txBody>
      </p:sp>
      <p:sp>
        <p:nvSpPr>
          <p:cNvPr id="39" name="TextBox 38">
            <a:extLst>
              <a:ext uri="{FF2B5EF4-FFF2-40B4-BE49-F238E27FC236}">
                <a16:creationId xmlns:a16="http://schemas.microsoft.com/office/drawing/2014/main" id="{27A304D2-6800-2B40-9474-4647EA280910}"/>
              </a:ext>
            </a:extLst>
          </p:cNvPr>
          <p:cNvSpPr txBox="1"/>
          <p:nvPr/>
        </p:nvSpPr>
        <p:spPr>
          <a:xfrm>
            <a:off x="90466" y="3530593"/>
            <a:ext cx="8639198" cy="3323987"/>
          </a:xfrm>
          <a:prstGeom prst="rect">
            <a:avLst/>
          </a:prstGeom>
          <a:noFill/>
        </p:spPr>
        <p:txBody>
          <a:bodyPr wrap="square" rtlCol="0">
            <a:spAutoFit/>
          </a:bodyPr>
          <a:lstStyle/>
          <a:p>
            <a:r>
              <a:rPr lang="en-US" dirty="0"/>
              <a:t>When conducting multiple tests, the chance of getting a significant (type 1) error increases by pure chance. </a:t>
            </a:r>
          </a:p>
          <a:p>
            <a:r>
              <a:rPr lang="en-US" dirty="0"/>
              <a:t>To correct for this, we proportionally "decrease" the "alpha" value of each test.</a:t>
            </a:r>
          </a:p>
          <a:p>
            <a:endParaRPr lang="en-US" dirty="0"/>
          </a:p>
          <a:p>
            <a:r>
              <a:rPr lang="en-US" dirty="0"/>
              <a:t>Example:</a:t>
            </a:r>
          </a:p>
          <a:p>
            <a:r>
              <a:rPr lang="en-US" dirty="0"/>
              <a:t>Suppose we have Ng = 5 treatment groups.</a:t>
            </a:r>
          </a:p>
          <a:p>
            <a:r>
              <a:rPr lang="en-US" dirty="0"/>
              <a:t>Hull hypothesis is that group members are "equal" in all groups.</a:t>
            </a:r>
          </a:p>
          <a:p>
            <a:r>
              <a:rPr lang="en-US" dirty="0"/>
              <a:t>Alpha = 0.05 ("family alpha rate") – chance of rejecting H0</a:t>
            </a:r>
          </a:p>
          <a:p>
            <a:endParaRPr lang="en-US" dirty="0"/>
          </a:p>
          <a:p>
            <a:r>
              <a:rPr lang="en-US" dirty="0"/>
              <a:t>We decided to make 10 comparisons:</a:t>
            </a:r>
          </a:p>
          <a:p>
            <a:r>
              <a:rPr lang="en-US" dirty="0"/>
              <a:t>    1 to 2, 2 to 3, 3 to 4, 4 to 5, 1 to 3, 2 to 4, 3 to 5, 4 to 1,</a:t>
            </a:r>
          </a:p>
          <a:p>
            <a:r>
              <a:rPr lang="en-US" dirty="0"/>
              <a:t>    (1 &amp; 2) to (3 &amp; 4), (1 &amp; 2) to (4 &amp; 5)</a:t>
            </a:r>
          </a:p>
          <a:p>
            <a:endParaRPr lang="en-US" dirty="0"/>
          </a:p>
          <a:p>
            <a:r>
              <a:rPr lang="en-US" dirty="0"/>
              <a:t>We will use new corrected alpha </a:t>
            </a:r>
            <a:r>
              <a:rPr lang="en-US" dirty="0" err="1"/>
              <a:t>Alpha_new</a:t>
            </a:r>
            <a:r>
              <a:rPr lang="en-US" dirty="0"/>
              <a:t> = Alpha/10 = 0.005 for each of those 10 tests.</a:t>
            </a:r>
          </a:p>
          <a:p>
            <a:r>
              <a:rPr lang="en-US" dirty="0"/>
              <a:t>If any of the 10 tests rejects the H0 (using this small </a:t>
            </a:r>
            <a:r>
              <a:rPr lang="en-US" dirty="0" err="1"/>
              <a:t>Alpha_new</a:t>
            </a:r>
            <a:r>
              <a:rPr lang="en-US" dirty="0"/>
              <a:t> value of 0.005), </a:t>
            </a:r>
          </a:p>
          <a:p>
            <a:r>
              <a:rPr lang="en-US" dirty="0"/>
              <a:t>then we reject H0 for the whole "family".</a:t>
            </a:r>
          </a:p>
        </p:txBody>
      </p:sp>
      <p:sp>
        <p:nvSpPr>
          <p:cNvPr id="8" name="TextBox 7">
            <a:extLst>
              <a:ext uri="{FF2B5EF4-FFF2-40B4-BE49-F238E27FC236}">
                <a16:creationId xmlns:a16="http://schemas.microsoft.com/office/drawing/2014/main" id="{8040F7C3-0742-E84C-B6FF-4D1910EB83F6}"/>
              </a:ext>
            </a:extLst>
          </p:cNvPr>
          <p:cNvSpPr txBox="1"/>
          <p:nvPr/>
        </p:nvSpPr>
        <p:spPr>
          <a:xfrm>
            <a:off x="100084" y="618534"/>
            <a:ext cx="3956532" cy="307777"/>
          </a:xfrm>
          <a:prstGeom prst="rect">
            <a:avLst/>
          </a:prstGeom>
          <a:noFill/>
        </p:spPr>
        <p:txBody>
          <a:bodyPr wrap="square" rtlCol="0">
            <a:spAutoFit/>
          </a:bodyPr>
          <a:lstStyle/>
          <a:p>
            <a:r>
              <a:rPr lang="en-US" dirty="0"/>
              <a:t>P(A∪B) = P(A) + P(B) − P(A∩B) ≤ P(A) + P(B)</a:t>
            </a:r>
          </a:p>
        </p:txBody>
      </p:sp>
      <p:sp>
        <p:nvSpPr>
          <p:cNvPr id="41" name="TextBox 40">
            <a:extLst>
              <a:ext uri="{FF2B5EF4-FFF2-40B4-BE49-F238E27FC236}">
                <a16:creationId xmlns:a16="http://schemas.microsoft.com/office/drawing/2014/main" id="{3D618927-60E0-1D44-9633-4AD4142072CB}"/>
              </a:ext>
            </a:extLst>
          </p:cNvPr>
          <p:cNvSpPr txBox="1"/>
          <p:nvPr/>
        </p:nvSpPr>
        <p:spPr>
          <a:xfrm>
            <a:off x="100084" y="153888"/>
            <a:ext cx="3956532" cy="523220"/>
          </a:xfrm>
          <a:prstGeom prst="rect">
            <a:avLst/>
          </a:prstGeom>
          <a:noFill/>
        </p:spPr>
        <p:txBody>
          <a:bodyPr wrap="none" rtlCol="0">
            <a:spAutoFit/>
          </a:bodyPr>
          <a:lstStyle/>
          <a:p>
            <a:r>
              <a:rPr lang="en-US" sz="2800" b="1" dirty="0"/>
              <a:t>Union Bound Formula</a:t>
            </a:r>
          </a:p>
        </p:txBody>
      </p:sp>
      <p:pic>
        <p:nvPicPr>
          <p:cNvPr id="1058" name="Picture 34" descr="Intersection of Sets using Venn Diagram |Solved Examples of Intersection of  Sets">
            <a:extLst>
              <a:ext uri="{FF2B5EF4-FFF2-40B4-BE49-F238E27FC236}">
                <a16:creationId xmlns:a16="http://schemas.microsoft.com/office/drawing/2014/main" id="{3C3A0D9E-139D-E348-86E2-F8A5072E6B1A}"/>
              </a:ext>
            </a:extLst>
          </p:cNvPr>
          <p:cNvPicPr>
            <a:picLocks noChangeAspect="1" noChangeArrowheads="1"/>
          </p:cNvPicPr>
          <p:nvPr/>
        </p:nvPicPr>
        <p:blipFill rotWithShape="1">
          <a:blip r:embed="rId2" cstate="email">
            <a:extLst>
              <a:ext uri="{28A0092B-C50C-407E-A947-70E740481C1C}">
                <a14:useLocalDpi xmlns:a14="http://schemas.microsoft.com/office/drawing/2010/main"/>
              </a:ext>
            </a:extLst>
          </a:blip>
          <a:srcRect/>
          <a:stretch/>
        </p:blipFill>
        <p:spPr bwMode="auto">
          <a:xfrm>
            <a:off x="4369196" y="64079"/>
            <a:ext cx="1449909" cy="907574"/>
          </a:xfrm>
          <a:prstGeom prst="rect">
            <a:avLst/>
          </a:prstGeom>
          <a:noFill/>
          <a:extLst>
            <a:ext uri="{909E8E84-426E-40DD-AFC4-6F175D3DCCD1}">
              <a14:hiddenFill xmlns:a14="http://schemas.microsoft.com/office/drawing/2010/main">
                <a:solidFill>
                  <a:srgbClr val="FFFFFF"/>
                </a:solidFill>
              </a14:hiddenFill>
            </a:ext>
          </a:extLst>
        </p:spPr>
      </p:pic>
      <p:sp>
        <p:nvSpPr>
          <p:cNvPr id="43" name="TextBox 42">
            <a:extLst>
              <a:ext uri="{FF2B5EF4-FFF2-40B4-BE49-F238E27FC236}">
                <a16:creationId xmlns:a16="http://schemas.microsoft.com/office/drawing/2014/main" id="{6751AB79-B70C-CA4C-A7E6-0726676EC2C7}"/>
              </a:ext>
            </a:extLst>
          </p:cNvPr>
          <p:cNvSpPr txBox="1"/>
          <p:nvPr/>
        </p:nvSpPr>
        <p:spPr>
          <a:xfrm>
            <a:off x="100084" y="1062374"/>
            <a:ext cx="3799438" cy="523220"/>
          </a:xfrm>
          <a:prstGeom prst="rect">
            <a:avLst/>
          </a:prstGeom>
          <a:noFill/>
        </p:spPr>
        <p:txBody>
          <a:bodyPr wrap="none" rtlCol="0">
            <a:spAutoFit/>
          </a:bodyPr>
          <a:lstStyle/>
          <a:p>
            <a:r>
              <a:rPr lang="en-US" sz="2800" b="1" dirty="0"/>
              <a:t>Bonferroni Inequality</a:t>
            </a:r>
          </a:p>
        </p:txBody>
      </p:sp>
      <p:sp>
        <p:nvSpPr>
          <p:cNvPr id="44" name="TextBox 43">
            <a:extLst>
              <a:ext uri="{FF2B5EF4-FFF2-40B4-BE49-F238E27FC236}">
                <a16:creationId xmlns:a16="http://schemas.microsoft.com/office/drawing/2014/main" id="{A5B86BFC-66BE-A646-8F44-B9B94AC94CEF}"/>
              </a:ext>
            </a:extLst>
          </p:cNvPr>
          <p:cNvSpPr txBox="1"/>
          <p:nvPr/>
        </p:nvSpPr>
        <p:spPr>
          <a:xfrm>
            <a:off x="100084" y="1563204"/>
            <a:ext cx="4392492" cy="1169551"/>
          </a:xfrm>
          <a:prstGeom prst="rect">
            <a:avLst/>
          </a:prstGeom>
          <a:noFill/>
        </p:spPr>
        <p:txBody>
          <a:bodyPr wrap="square" rtlCol="0">
            <a:spAutoFit/>
          </a:bodyPr>
          <a:lstStyle/>
          <a:p>
            <a:r>
              <a:rPr lang="en-US" dirty="0"/>
              <a:t>P(A∩B) = P(A) + P(B) −  P(A∪B)  &gt;= P(A) + P(B) – 1</a:t>
            </a:r>
          </a:p>
          <a:p>
            <a:endParaRPr lang="en-US" dirty="0"/>
          </a:p>
          <a:p>
            <a:r>
              <a:rPr lang="en-US" dirty="0"/>
              <a:t>A = smart, B = beautiful</a:t>
            </a:r>
          </a:p>
          <a:p>
            <a:r>
              <a:rPr lang="en-US" dirty="0"/>
              <a:t>If P(A) ~ 0.9, and P(B) ~ 0.9, then P(A &amp; B) &gt;= 0.8</a:t>
            </a:r>
          </a:p>
          <a:p>
            <a:r>
              <a:rPr lang="en-US" dirty="0"/>
              <a:t>If P(A) ~ 0.5, and P(B) ~ 0.5, then P(A &amp; B) &gt;= 0.0</a:t>
            </a:r>
          </a:p>
        </p:txBody>
      </p:sp>
      <p:pic>
        <p:nvPicPr>
          <p:cNvPr id="1060" name="Picture 36">
            <a:extLst>
              <a:ext uri="{FF2B5EF4-FFF2-40B4-BE49-F238E27FC236}">
                <a16:creationId xmlns:a16="http://schemas.microsoft.com/office/drawing/2014/main" id="{3C44B8D3-E273-5A46-9144-D6C869F87247}"/>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9310607" y="49778"/>
            <a:ext cx="2032000" cy="313690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147F983F-9CFE-A44E-A7B9-C3CFCB43D9EF}"/>
              </a:ext>
            </a:extLst>
          </p:cNvPr>
          <p:cNvSpPr txBox="1"/>
          <p:nvPr/>
        </p:nvSpPr>
        <p:spPr>
          <a:xfrm>
            <a:off x="9136015" y="3212688"/>
            <a:ext cx="2381184" cy="830997"/>
          </a:xfrm>
          <a:prstGeom prst="rect">
            <a:avLst/>
          </a:prstGeom>
          <a:noFill/>
        </p:spPr>
        <p:txBody>
          <a:bodyPr wrap="square" rtlCol="0">
            <a:spAutoFit/>
          </a:bodyPr>
          <a:lstStyle/>
          <a:p>
            <a:pPr algn="ctr"/>
            <a:r>
              <a:rPr lang="en-US" sz="1600" dirty="0"/>
              <a:t>Carlo Emilio Bonferroni</a:t>
            </a:r>
          </a:p>
          <a:p>
            <a:pPr algn="ctr"/>
            <a:r>
              <a:rPr lang="en-US" sz="1600" dirty="0"/>
              <a:t>1892 – 1960</a:t>
            </a:r>
          </a:p>
          <a:p>
            <a:pPr algn="ctr"/>
            <a:r>
              <a:rPr lang="en-US" sz="1600" dirty="0"/>
              <a:t>Florence, Italy</a:t>
            </a:r>
          </a:p>
        </p:txBody>
      </p:sp>
      <p:sp>
        <p:nvSpPr>
          <p:cNvPr id="19" name="Rectangle 18">
            <a:extLst>
              <a:ext uri="{FF2B5EF4-FFF2-40B4-BE49-F238E27FC236}">
                <a16:creationId xmlns:a16="http://schemas.microsoft.com/office/drawing/2014/main" id="{6119EA38-394B-1149-A5D7-5874CD2165C4}"/>
              </a:ext>
            </a:extLst>
          </p:cNvPr>
          <p:cNvSpPr/>
          <p:nvPr/>
        </p:nvSpPr>
        <p:spPr>
          <a:xfrm>
            <a:off x="6631776" y="1311966"/>
            <a:ext cx="1111216" cy="1235588"/>
          </a:xfrm>
          <a:prstGeom prst="rect">
            <a:avLst/>
          </a:prstGeom>
          <a:pattFill prst="pct70">
            <a:fgClr>
              <a:srgbClr val="00B0F0"/>
            </a:fgClr>
            <a:bgClr>
              <a:schemeClr val="bg1"/>
            </a:bgClr>
          </a:pattFill>
          <a:ln w="508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BCD1C1BF-D884-184D-AAB1-7C488C7A3375}"/>
              </a:ext>
            </a:extLst>
          </p:cNvPr>
          <p:cNvSpPr/>
          <p:nvPr/>
        </p:nvSpPr>
        <p:spPr>
          <a:xfrm>
            <a:off x="6630240" y="1056304"/>
            <a:ext cx="1111216" cy="255662"/>
          </a:xfrm>
          <a:prstGeom prst="rect">
            <a:avLst/>
          </a:prstGeom>
          <a:pattFill prst="pct5">
            <a:fgClr>
              <a:schemeClr val="accent1"/>
            </a:fgClr>
            <a:bgClr>
              <a:schemeClr val="bg1"/>
            </a:bgClr>
          </a:pattFill>
          <a:ln w="5080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70794473-3895-2444-8768-069DF41B1E0F}"/>
              </a:ext>
            </a:extLst>
          </p:cNvPr>
          <p:cNvSpPr/>
          <p:nvPr/>
        </p:nvSpPr>
        <p:spPr>
          <a:xfrm>
            <a:off x="6632060" y="2547554"/>
            <a:ext cx="1111216" cy="255662"/>
          </a:xfrm>
          <a:prstGeom prst="rect">
            <a:avLst/>
          </a:prstGeom>
          <a:pattFill prst="pct5">
            <a:fgClr>
              <a:schemeClr val="accent1"/>
            </a:fgClr>
            <a:bgClr>
              <a:schemeClr val="bg1"/>
            </a:bgClr>
          </a:pattFill>
          <a:ln w="5080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6993AD7B-BEF4-2545-935A-69018E7C08C7}"/>
              </a:ext>
            </a:extLst>
          </p:cNvPr>
          <p:cNvSpPr txBox="1"/>
          <p:nvPr/>
        </p:nvSpPr>
        <p:spPr>
          <a:xfrm>
            <a:off x="6755917" y="1648679"/>
            <a:ext cx="891048" cy="461665"/>
          </a:xfrm>
          <a:prstGeom prst="rect">
            <a:avLst/>
          </a:prstGeom>
          <a:noFill/>
        </p:spPr>
        <p:txBody>
          <a:bodyPr wrap="square" rtlCol="0">
            <a:spAutoFit/>
          </a:bodyPr>
          <a:lstStyle/>
          <a:p>
            <a:r>
              <a:rPr lang="en-US" sz="2400" b="1" dirty="0"/>
              <a:t>A∩B</a:t>
            </a:r>
          </a:p>
        </p:txBody>
      </p:sp>
      <p:sp>
        <p:nvSpPr>
          <p:cNvPr id="24" name="TextBox 23">
            <a:extLst>
              <a:ext uri="{FF2B5EF4-FFF2-40B4-BE49-F238E27FC236}">
                <a16:creationId xmlns:a16="http://schemas.microsoft.com/office/drawing/2014/main" id="{CB6CAA4B-826F-844E-B3B2-51D85197766B}"/>
              </a:ext>
            </a:extLst>
          </p:cNvPr>
          <p:cNvSpPr txBox="1"/>
          <p:nvPr/>
        </p:nvSpPr>
        <p:spPr>
          <a:xfrm>
            <a:off x="7026486" y="2446517"/>
            <a:ext cx="340743" cy="461665"/>
          </a:xfrm>
          <a:prstGeom prst="rect">
            <a:avLst/>
          </a:prstGeom>
          <a:noFill/>
        </p:spPr>
        <p:txBody>
          <a:bodyPr wrap="square" rtlCol="0">
            <a:spAutoFit/>
          </a:bodyPr>
          <a:lstStyle/>
          <a:p>
            <a:r>
              <a:rPr lang="en-US" sz="2400" b="1" dirty="0"/>
              <a:t>B</a:t>
            </a:r>
          </a:p>
        </p:txBody>
      </p:sp>
      <p:sp>
        <p:nvSpPr>
          <p:cNvPr id="25" name="TextBox 24">
            <a:extLst>
              <a:ext uri="{FF2B5EF4-FFF2-40B4-BE49-F238E27FC236}">
                <a16:creationId xmlns:a16="http://schemas.microsoft.com/office/drawing/2014/main" id="{F59478F9-AB32-0445-AD45-45D8902525F5}"/>
              </a:ext>
            </a:extLst>
          </p:cNvPr>
          <p:cNvSpPr txBox="1"/>
          <p:nvPr/>
        </p:nvSpPr>
        <p:spPr>
          <a:xfrm>
            <a:off x="7016326" y="954577"/>
            <a:ext cx="340743" cy="461665"/>
          </a:xfrm>
          <a:prstGeom prst="rect">
            <a:avLst/>
          </a:prstGeom>
          <a:noFill/>
        </p:spPr>
        <p:txBody>
          <a:bodyPr wrap="square" rtlCol="0">
            <a:spAutoFit/>
          </a:bodyPr>
          <a:lstStyle/>
          <a:p>
            <a:r>
              <a:rPr lang="en-US" sz="2400" b="1" dirty="0"/>
              <a:t>A</a:t>
            </a:r>
          </a:p>
        </p:txBody>
      </p:sp>
      <p:sp>
        <p:nvSpPr>
          <p:cNvPr id="26" name="Rectangle 25">
            <a:extLst>
              <a:ext uri="{FF2B5EF4-FFF2-40B4-BE49-F238E27FC236}">
                <a16:creationId xmlns:a16="http://schemas.microsoft.com/office/drawing/2014/main" id="{6EAE7B57-E2D0-3140-9D83-18EB2EBD24F5}"/>
              </a:ext>
            </a:extLst>
          </p:cNvPr>
          <p:cNvSpPr/>
          <p:nvPr/>
        </p:nvSpPr>
        <p:spPr>
          <a:xfrm>
            <a:off x="4588603" y="1308617"/>
            <a:ext cx="1744290" cy="1235588"/>
          </a:xfrm>
          <a:prstGeom prst="rect">
            <a:avLst/>
          </a:prstGeom>
          <a:pattFill prst="pct70">
            <a:fgClr>
              <a:srgbClr val="00B0F0"/>
            </a:fgClr>
            <a:bgClr>
              <a:schemeClr val="bg1"/>
            </a:bgClr>
          </a:pattFill>
          <a:ln w="508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1054823-EB2E-0842-8E00-3AD88F5A1450}"/>
              </a:ext>
            </a:extLst>
          </p:cNvPr>
          <p:cNvSpPr/>
          <p:nvPr/>
        </p:nvSpPr>
        <p:spPr>
          <a:xfrm>
            <a:off x="4587067" y="1052955"/>
            <a:ext cx="1744290" cy="255662"/>
          </a:xfrm>
          <a:prstGeom prst="rect">
            <a:avLst/>
          </a:prstGeom>
          <a:pattFill prst="pct5">
            <a:fgClr>
              <a:schemeClr val="accent1"/>
            </a:fgClr>
            <a:bgClr>
              <a:schemeClr val="bg1"/>
            </a:bgClr>
          </a:pattFill>
          <a:ln w="5080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E9B47906-0491-E848-AB4F-B39CED1F7B2C}"/>
              </a:ext>
            </a:extLst>
          </p:cNvPr>
          <p:cNvSpPr/>
          <p:nvPr/>
        </p:nvSpPr>
        <p:spPr>
          <a:xfrm>
            <a:off x="4588887" y="2544205"/>
            <a:ext cx="1744290" cy="255662"/>
          </a:xfrm>
          <a:prstGeom prst="rect">
            <a:avLst/>
          </a:prstGeom>
          <a:pattFill prst="pct5">
            <a:fgClr>
              <a:schemeClr val="accent1"/>
            </a:fgClr>
            <a:bgClr>
              <a:schemeClr val="bg1"/>
            </a:bgClr>
          </a:pattFill>
          <a:ln w="5080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B06F8336-A5A2-6543-B55F-745D62CE5E83}"/>
              </a:ext>
            </a:extLst>
          </p:cNvPr>
          <p:cNvSpPr txBox="1"/>
          <p:nvPr/>
        </p:nvSpPr>
        <p:spPr>
          <a:xfrm>
            <a:off x="5013688" y="1645330"/>
            <a:ext cx="891048" cy="461665"/>
          </a:xfrm>
          <a:prstGeom prst="rect">
            <a:avLst/>
          </a:prstGeom>
          <a:noFill/>
        </p:spPr>
        <p:txBody>
          <a:bodyPr wrap="square" rtlCol="0">
            <a:spAutoFit/>
          </a:bodyPr>
          <a:lstStyle/>
          <a:p>
            <a:r>
              <a:rPr lang="en-US" sz="2400" b="1" dirty="0"/>
              <a:t>A∩B</a:t>
            </a:r>
          </a:p>
        </p:txBody>
      </p:sp>
      <p:sp>
        <p:nvSpPr>
          <p:cNvPr id="30" name="TextBox 29">
            <a:extLst>
              <a:ext uri="{FF2B5EF4-FFF2-40B4-BE49-F238E27FC236}">
                <a16:creationId xmlns:a16="http://schemas.microsoft.com/office/drawing/2014/main" id="{B6B312BC-AA97-A949-B869-DE72630F5310}"/>
              </a:ext>
            </a:extLst>
          </p:cNvPr>
          <p:cNvSpPr txBox="1"/>
          <p:nvPr/>
        </p:nvSpPr>
        <p:spPr>
          <a:xfrm>
            <a:off x="5284257" y="2443168"/>
            <a:ext cx="340743" cy="461665"/>
          </a:xfrm>
          <a:prstGeom prst="rect">
            <a:avLst/>
          </a:prstGeom>
          <a:noFill/>
        </p:spPr>
        <p:txBody>
          <a:bodyPr wrap="square" rtlCol="0">
            <a:spAutoFit/>
          </a:bodyPr>
          <a:lstStyle/>
          <a:p>
            <a:r>
              <a:rPr lang="en-US" sz="2400" b="1" dirty="0"/>
              <a:t>B</a:t>
            </a:r>
          </a:p>
        </p:txBody>
      </p:sp>
      <p:sp>
        <p:nvSpPr>
          <p:cNvPr id="31" name="TextBox 30">
            <a:extLst>
              <a:ext uri="{FF2B5EF4-FFF2-40B4-BE49-F238E27FC236}">
                <a16:creationId xmlns:a16="http://schemas.microsoft.com/office/drawing/2014/main" id="{6B667B8B-30DD-9444-BFC2-9A8B64F907CF}"/>
              </a:ext>
            </a:extLst>
          </p:cNvPr>
          <p:cNvSpPr txBox="1"/>
          <p:nvPr/>
        </p:nvSpPr>
        <p:spPr>
          <a:xfrm>
            <a:off x="5274097" y="951228"/>
            <a:ext cx="340743" cy="461665"/>
          </a:xfrm>
          <a:prstGeom prst="rect">
            <a:avLst/>
          </a:prstGeom>
          <a:noFill/>
        </p:spPr>
        <p:txBody>
          <a:bodyPr wrap="square" rtlCol="0">
            <a:spAutoFit/>
          </a:bodyPr>
          <a:lstStyle/>
          <a:p>
            <a:r>
              <a:rPr lang="en-US" sz="2400" b="1" dirty="0"/>
              <a:t>A</a:t>
            </a:r>
          </a:p>
        </p:txBody>
      </p:sp>
      <p:sp>
        <p:nvSpPr>
          <p:cNvPr id="32" name="Rectangle 31">
            <a:extLst>
              <a:ext uri="{FF2B5EF4-FFF2-40B4-BE49-F238E27FC236}">
                <a16:creationId xmlns:a16="http://schemas.microsoft.com/office/drawing/2014/main" id="{284D3EC6-34A6-1049-94C3-144A2434F4C3}"/>
              </a:ext>
            </a:extLst>
          </p:cNvPr>
          <p:cNvSpPr/>
          <p:nvPr/>
        </p:nvSpPr>
        <p:spPr>
          <a:xfrm>
            <a:off x="7751496" y="1053026"/>
            <a:ext cx="880188" cy="1746842"/>
          </a:xfrm>
          <a:prstGeom prst="rect">
            <a:avLst/>
          </a:prstGeom>
          <a:noFill/>
          <a:ln w="5080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679413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8" name="Google Shape;88;p13"/>
              <p:cNvSpPr txBox="1"/>
              <p:nvPr/>
            </p:nvSpPr>
            <p:spPr>
              <a:xfrm>
                <a:off x="145742" y="1208258"/>
                <a:ext cx="6187097" cy="2450487"/>
              </a:xfrm>
              <a:prstGeom prst="rect">
                <a:avLst/>
              </a:prstGeom>
              <a:noFill/>
              <a:ln w="63500"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3200" b="1" i="0" u="none" strike="noStrike" cap="none" dirty="0">
                    <a:solidFill>
                      <a:srgbClr val="0070C0"/>
                    </a:solidFill>
                    <a:latin typeface="Calibri"/>
                    <a:ea typeface="Calibri"/>
                    <a:cs typeface="Calibri"/>
                    <a:sym typeface="Calibri"/>
                  </a:rPr>
                  <a:t>Bayes’ Theorem </a:t>
                </a:r>
                <a:r>
                  <a:rPr lang="en-US" sz="2000" b="0" i="0" u="none" strike="noStrike" cap="none" dirty="0">
                    <a:solidFill>
                      <a:schemeClr val="dk1"/>
                    </a:solidFill>
                    <a:latin typeface="Calibri"/>
                    <a:ea typeface="Calibri"/>
                    <a:cs typeface="Calibri"/>
                    <a:sym typeface="Calibri"/>
                  </a:rPr>
                  <a:t>(conditional probability)</a:t>
                </a:r>
              </a:p>
              <a:p>
                <a:pPr marL="0" marR="0" lvl="0" indent="0" algn="l" rtl="0">
                  <a:spcBef>
                    <a:spcPts val="0"/>
                  </a:spcBef>
                  <a:spcAft>
                    <a:spcPts val="0"/>
                  </a:spcAft>
                  <a:buNone/>
                </a:pPr>
                <a:endParaRPr lang="en-US" sz="1200" b="0" i="0" u="none" strike="noStrike" cap="none" dirty="0">
                  <a:solidFill>
                    <a:schemeClr val="dk1"/>
                  </a:solidFill>
                  <a:latin typeface="Calibri"/>
                  <a:ea typeface="Calibri"/>
                  <a:cs typeface="Calibri"/>
                  <a:sym typeface="Calibri"/>
                </a:endParaRPr>
              </a:p>
              <a:p>
                <a:pPr/>
                <a14:m>
                  <m:oMathPara xmlns:m="http://schemas.openxmlformats.org/officeDocument/2006/math">
                    <m:oMathParaPr>
                      <m:jc m:val="center"/>
                    </m:oMathParaPr>
                    <m:oMath xmlns:m="http://schemas.openxmlformats.org/officeDocument/2006/math">
                      <m:r>
                        <a:rPr lang="en-US" b="1" i="1">
                          <a:latin typeface="Cambria Math" panose="02040503050406030204" pitchFamily="18" charset="0"/>
                        </a:rPr>
                        <m:t>𝑷</m:t>
                      </m:r>
                      <m:r>
                        <a:rPr lang="en-US" b="1" i="1">
                          <a:latin typeface="Cambria Math" panose="02040503050406030204" pitchFamily="18" charset="0"/>
                        </a:rPr>
                        <m:t>(</m:t>
                      </m:r>
                      <m:r>
                        <a:rPr lang="en-US" b="1" i="1">
                          <a:latin typeface="Cambria Math" panose="02040503050406030204" pitchFamily="18" charset="0"/>
                        </a:rPr>
                        <m:t>𝑨</m:t>
                      </m:r>
                      <m:r>
                        <a:rPr lang="en-US" b="1" i="1">
                          <a:latin typeface="Cambria Math" panose="02040503050406030204" pitchFamily="18" charset="0"/>
                        </a:rPr>
                        <m:t>|</m:t>
                      </m:r>
                      <m:r>
                        <a:rPr lang="en-US" b="1" i="1">
                          <a:latin typeface="Cambria Math" panose="02040503050406030204" pitchFamily="18" charset="0"/>
                        </a:rPr>
                        <m:t>𝑩</m:t>
                      </m:r>
                      <m:r>
                        <a:rPr lang="en-US" b="1" i="1">
                          <a:latin typeface="Cambria Math" panose="02040503050406030204" pitchFamily="18" charset="0"/>
                        </a:rPr>
                        <m:t>) = </m:t>
                      </m:r>
                      <m:f>
                        <m:fPr>
                          <m:ctrlPr>
                            <a:rPr lang="en-US" b="1" i="1">
                              <a:latin typeface="Cambria Math" panose="02040503050406030204" pitchFamily="18" charset="0"/>
                            </a:rPr>
                          </m:ctrlPr>
                        </m:fPr>
                        <m:num>
                          <m:r>
                            <a:rPr lang="en-US" b="1" i="1">
                              <a:latin typeface="Cambria Math" panose="02040503050406030204" pitchFamily="18" charset="0"/>
                            </a:rPr>
                            <m:t>𝑷</m:t>
                          </m:r>
                          <m:r>
                            <a:rPr lang="en-US" b="1" i="1">
                              <a:latin typeface="Cambria Math" panose="02040503050406030204" pitchFamily="18" charset="0"/>
                            </a:rPr>
                            <m:t>(</m:t>
                          </m:r>
                          <m:r>
                            <a:rPr lang="en-US" b="1" i="1">
                              <a:latin typeface="Cambria Math" panose="02040503050406030204" pitchFamily="18" charset="0"/>
                            </a:rPr>
                            <m:t>𝑩</m:t>
                          </m:r>
                          <m:r>
                            <a:rPr lang="en-US" b="1" i="1">
                              <a:latin typeface="Cambria Math" panose="02040503050406030204" pitchFamily="18" charset="0"/>
                            </a:rPr>
                            <m:t>|</m:t>
                          </m:r>
                          <m:r>
                            <a:rPr lang="en-US" b="1" i="1">
                              <a:latin typeface="Cambria Math" panose="02040503050406030204" pitchFamily="18" charset="0"/>
                            </a:rPr>
                            <m:t>𝑨</m:t>
                          </m:r>
                          <m:r>
                            <a:rPr lang="en-US" b="1" i="1">
                              <a:latin typeface="Cambria Math" panose="02040503050406030204" pitchFamily="18" charset="0"/>
                            </a:rPr>
                            <m:t>) ∗ </m:t>
                          </m:r>
                          <m:r>
                            <a:rPr lang="en-US" b="1" i="1">
                              <a:latin typeface="Cambria Math" panose="02040503050406030204" pitchFamily="18" charset="0"/>
                            </a:rPr>
                            <m:t>𝑷</m:t>
                          </m:r>
                          <m:r>
                            <a:rPr lang="en-US" b="1" i="1">
                              <a:latin typeface="Cambria Math" panose="02040503050406030204" pitchFamily="18" charset="0"/>
                            </a:rPr>
                            <m:t>(</m:t>
                          </m:r>
                          <m:r>
                            <a:rPr lang="en-US" b="1" i="1">
                              <a:latin typeface="Cambria Math" panose="02040503050406030204" pitchFamily="18" charset="0"/>
                            </a:rPr>
                            <m:t>𝑨</m:t>
                          </m:r>
                          <m:r>
                            <a:rPr lang="en-US" b="1" i="1">
                              <a:latin typeface="Cambria Math" panose="02040503050406030204" pitchFamily="18" charset="0"/>
                            </a:rPr>
                            <m:t>)</m:t>
                          </m:r>
                        </m:num>
                        <m:den>
                          <m:r>
                            <a:rPr lang="en-US" b="1" i="1">
                              <a:latin typeface="Cambria Math" panose="02040503050406030204" pitchFamily="18" charset="0"/>
                            </a:rPr>
                            <m:t>𝑷</m:t>
                          </m:r>
                          <m:r>
                            <a:rPr lang="en-US" b="1" i="1">
                              <a:latin typeface="Cambria Math" panose="02040503050406030204" pitchFamily="18" charset="0"/>
                            </a:rPr>
                            <m:t>(</m:t>
                          </m:r>
                          <m:r>
                            <a:rPr lang="en-US" b="1" i="1">
                              <a:latin typeface="Cambria Math" panose="02040503050406030204" pitchFamily="18" charset="0"/>
                            </a:rPr>
                            <m:t>𝑩</m:t>
                          </m:r>
                          <m:r>
                            <a:rPr lang="en-US" b="1" i="1">
                              <a:latin typeface="Cambria Math" panose="02040503050406030204" pitchFamily="18" charset="0"/>
                            </a:rPr>
                            <m:t>)</m:t>
                          </m:r>
                        </m:den>
                      </m:f>
                    </m:oMath>
                  </m:oMathPara>
                </a14:m>
                <a:endParaRPr lang="en-US" dirty="0"/>
              </a:p>
              <a:p>
                <a:pPr marL="0" marR="0" lvl="0" indent="0" algn="l" rtl="0">
                  <a:spcBef>
                    <a:spcPts val="0"/>
                  </a:spcBef>
                  <a:spcAft>
                    <a:spcPts val="0"/>
                  </a:spcAft>
                  <a:buNone/>
                </a:pPr>
                <a:r>
                  <a:rPr lang="en-US" sz="2000" dirty="0">
                    <a:solidFill>
                      <a:schemeClr val="dk1"/>
                    </a:solidFill>
                    <a:latin typeface="Calibri"/>
                    <a:cs typeface="Calibri"/>
                    <a:sym typeface="Calibri"/>
                  </a:rPr>
                  <a:t>or</a:t>
                </a:r>
              </a:p>
              <a:p>
                <a:pPr algn="ctr"/>
                <a:r>
                  <a:rPr lang="en-US" sz="2000" dirty="0">
                    <a:solidFill>
                      <a:schemeClr val="dk1"/>
                    </a:solidFill>
                    <a:latin typeface="Calibri"/>
                    <a:cs typeface="Calibri"/>
                    <a:sym typeface="Calibri"/>
                  </a:rPr>
                  <a:t>     </a:t>
                </a:r>
                <a14:m>
                  <m:oMath xmlns:m="http://schemas.openxmlformats.org/officeDocument/2006/math">
                    <m:r>
                      <a:rPr lang="en-US" b="1" i="1">
                        <a:latin typeface="Cambria Math" panose="02040503050406030204" pitchFamily="18" charset="0"/>
                      </a:rPr>
                      <m:t>𝑷</m:t>
                    </m:r>
                    <m:r>
                      <a:rPr lang="en-US" b="1" i="1">
                        <a:latin typeface="Cambria Math" panose="02040503050406030204" pitchFamily="18" charset="0"/>
                      </a:rPr>
                      <m:t>(</m:t>
                    </m:r>
                    <m:r>
                      <a:rPr lang="en-US" b="1" i="1">
                        <a:latin typeface="Cambria Math" panose="02040503050406030204" pitchFamily="18" charset="0"/>
                      </a:rPr>
                      <m:t>𝑨</m:t>
                    </m:r>
                    <m:r>
                      <a:rPr lang="en-US" b="1" i="1">
                        <a:latin typeface="Cambria Math" panose="02040503050406030204" pitchFamily="18" charset="0"/>
                      </a:rPr>
                      <m:t>|</m:t>
                    </m:r>
                    <m:r>
                      <a:rPr lang="en-US" b="1" i="1">
                        <a:latin typeface="Cambria Math" panose="02040503050406030204" pitchFamily="18" charset="0"/>
                      </a:rPr>
                      <m:t>𝑩</m:t>
                    </m:r>
                    <m:r>
                      <a:rPr lang="en-US" b="1" i="1">
                        <a:latin typeface="Cambria Math" panose="02040503050406030204" pitchFamily="18" charset="0"/>
                      </a:rPr>
                      <m:t>)∗ </m:t>
                    </m:r>
                    <m:r>
                      <a:rPr lang="en-US" b="1" i="1">
                        <a:latin typeface="Cambria Math" panose="02040503050406030204" pitchFamily="18" charset="0"/>
                      </a:rPr>
                      <m:t>𝑷</m:t>
                    </m:r>
                    <m:r>
                      <a:rPr lang="en-US" b="1" i="1">
                        <a:latin typeface="Cambria Math" panose="02040503050406030204" pitchFamily="18" charset="0"/>
                      </a:rPr>
                      <m:t>(</m:t>
                    </m:r>
                    <m:r>
                      <a:rPr lang="en-US" b="1" i="1">
                        <a:latin typeface="Cambria Math" panose="02040503050406030204" pitchFamily="18" charset="0"/>
                      </a:rPr>
                      <m:t>𝑩</m:t>
                    </m:r>
                    <m:r>
                      <a:rPr lang="en-US" b="1" i="1">
                        <a:latin typeface="Cambria Math" panose="02040503050406030204" pitchFamily="18" charset="0"/>
                      </a:rPr>
                      <m:t>) = </m:t>
                    </m:r>
                    <m:r>
                      <a:rPr lang="en-US" b="1" i="1">
                        <a:latin typeface="Cambria Math" panose="02040503050406030204" pitchFamily="18" charset="0"/>
                      </a:rPr>
                      <m:t>𝑷</m:t>
                    </m:r>
                    <m:r>
                      <a:rPr lang="en-US" b="1" i="1">
                        <a:latin typeface="Cambria Math" panose="02040503050406030204" pitchFamily="18" charset="0"/>
                      </a:rPr>
                      <m:t>(</m:t>
                    </m:r>
                    <m:r>
                      <a:rPr lang="en-US" b="1" i="1">
                        <a:latin typeface="Cambria Math" panose="02040503050406030204" pitchFamily="18" charset="0"/>
                      </a:rPr>
                      <m:t>𝑩</m:t>
                    </m:r>
                    <m:r>
                      <a:rPr lang="en-US" b="1" i="1">
                        <a:latin typeface="Cambria Math" panose="02040503050406030204" pitchFamily="18" charset="0"/>
                      </a:rPr>
                      <m:t>|</m:t>
                    </m:r>
                    <m:r>
                      <a:rPr lang="en-US" b="1" i="1">
                        <a:latin typeface="Cambria Math" panose="02040503050406030204" pitchFamily="18" charset="0"/>
                      </a:rPr>
                      <m:t>𝑨</m:t>
                    </m:r>
                    <m:r>
                      <a:rPr lang="en-US" b="1" i="1">
                        <a:latin typeface="Cambria Math" panose="02040503050406030204" pitchFamily="18" charset="0"/>
                      </a:rPr>
                      <m:t>) ∗ </m:t>
                    </m:r>
                    <m:r>
                      <a:rPr lang="en-US" b="1" i="1">
                        <a:latin typeface="Cambria Math" panose="02040503050406030204" pitchFamily="18" charset="0"/>
                      </a:rPr>
                      <m:t>𝑷</m:t>
                    </m:r>
                    <m:r>
                      <a:rPr lang="en-US" b="1" i="1">
                        <a:latin typeface="Cambria Math" panose="02040503050406030204" pitchFamily="18" charset="0"/>
                      </a:rPr>
                      <m:t>(</m:t>
                    </m:r>
                    <m:r>
                      <a:rPr lang="en-US" b="1" i="1">
                        <a:latin typeface="Cambria Math" panose="02040503050406030204" pitchFamily="18" charset="0"/>
                      </a:rPr>
                      <m:t>𝑨</m:t>
                    </m:r>
                    <m:r>
                      <a:rPr lang="en-US" b="1" i="1">
                        <a:latin typeface="Cambria Math" panose="02040503050406030204" pitchFamily="18" charset="0"/>
                      </a:rPr>
                      <m:t>)</m:t>
                    </m:r>
                  </m:oMath>
                </a14:m>
                <a:endParaRPr lang="en-US" dirty="0"/>
              </a:p>
              <a:p>
                <a:pPr marL="0" marR="0" lvl="0" indent="0" algn="l" rtl="0">
                  <a:spcBef>
                    <a:spcPts val="0"/>
                  </a:spcBef>
                  <a:spcAft>
                    <a:spcPts val="0"/>
                  </a:spcAft>
                  <a:buNone/>
                </a:pPr>
                <a:endParaRPr lang="en-US" sz="1200" dirty="0">
                  <a:solidFill>
                    <a:schemeClr val="dk1"/>
                  </a:solidFill>
                  <a:latin typeface="Calibri"/>
                  <a:cs typeface="Calibri"/>
                  <a:sym typeface="Calibri"/>
                </a:endParaRPr>
              </a:p>
              <a:p>
                <a:pPr marL="0" marR="0" lvl="0" indent="0" algn="l" rtl="0">
                  <a:spcBef>
                    <a:spcPts val="0"/>
                  </a:spcBef>
                  <a:spcAft>
                    <a:spcPts val="0"/>
                  </a:spcAft>
                  <a:buNone/>
                </a:pPr>
                <a:r>
                  <a:rPr lang="en-US" sz="2400" b="0" i="0" u="none" strike="noStrike" cap="none" dirty="0">
                    <a:solidFill>
                      <a:schemeClr val="dk1"/>
                    </a:solidFill>
                    <a:latin typeface="Calibri"/>
                    <a:ea typeface="Calibri"/>
                    <a:cs typeface="Calibri"/>
                    <a:sym typeface="Calibri"/>
                  </a:rPr>
                  <a:t>where A and B are events, and P(B) not equal 0.</a:t>
                </a:r>
                <a:endParaRPr sz="2400" b="0" i="0" u="none" strike="noStrike" cap="none" dirty="0">
                  <a:solidFill>
                    <a:schemeClr val="dk1"/>
                  </a:solidFill>
                  <a:latin typeface="Calibri"/>
                  <a:ea typeface="Calibri"/>
                  <a:cs typeface="Calibri"/>
                  <a:sym typeface="Calibri"/>
                </a:endParaRPr>
              </a:p>
            </p:txBody>
          </p:sp>
        </mc:Choice>
        <mc:Fallback xmlns="">
          <p:sp>
            <p:nvSpPr>
              <p:cNvPr id="88" name="Google Shape;88;p13"/>
              <p:cNvSpPr txBox="1">
                <a:spLocks noRot="1" noChangeAspect="1" noMove="1" noResize="1" noEditPoints="1" noAdjustHandles="1" noChangeArrowheads="1" noChangeShapeType="1" noTextEdit="1"/>
              </p:cNvSpPr>
              <p:nvPr/>
            </p:nvSpPr>
            <p:spPr>
              <a:xfrm>
                <a:off x="145742" y="1208258"/>
                <a:ext cx="6187097" cy="2450487"/>
              </a:xfrm>
              <a:prstGeom prst="rect">
                <a:avLst/>
              </a:prstGeom>
              <a:blipFill>
                <a:blip r:embed="rId3"/>
                <a:stretch>
                  <a:fillRect l="-2028" t="-2010" b="-1005"/>
                </a:stretch>
              </a:blipFill>
              <a:ln w="63500" cap="flat" cmpd="sng">
                <a:solidFill>
                  <a:schemeClr val="accent6"/>
                </a:solidFill>
                <a:prstDash val="solid"/>
                <a:round/>
                <a:headEnd type="none" w="sm" len="sm"/>
                <a:tailEnd type="none" w="sm" len="sm"/>
              </a:ln>
            </p:spPr>
            <p:txBody>
              <a:bodyPr/>
              <a:lstStyle/>
              <a:p>
                <a:r>
                  <a:rPr lang="en-US">
                    <a:noFill/>
                  </a:rPr>
                  <a:t> </a:t>
                </a:r>
              </a:p>
            </p:txBody>
          </p:sp>
        </mc:Fallback>
      </mc:AlternateContent>
      <p:sp>
        <p:nvSpPr>
          <p:cNvPr id="89" name="Google Shape;89;p13"/>
          <p:cNvSpPr txBox="1"/>
          <p:nvPr/>
        </p:nvSpPr>
        <p:spPr>
          <a:xfrm>
            <a:off x="4800731" y="4169514"/>
            <a:ext cx="4378046" cy="248205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dirty="0">
                <a:solidFill>
                  <a:schemeClr val="dk1"/>
                </a:solidFill>
                <a:latin typeface="Calibri"/>
                <a:cs typeface="Calibri"/>
                <a:sym typeface="Calibri"/>
              </a:rPr>
              <a:t>A = Happy, B = Rich</a:t>
            </a:r>
            <a:endParaRPr dirty="0"/>
          </a:p>
          <a:p>
            <a:pPr marL="0" marR="0" lvl="0" indent="0" algn="l" rtl="0">
              <a:spcBef>
                <a:spcPts val="0"/>
              </a:spcBef>
              <a:spcAft>
                <a:spcPts val="0"/>
              </a:spcAft>
              <a:buNone/>
            </a:pPr>
            <a:r>
              <a:rPr lang="en-US" dirty="0">
                <a:solidFill>
                  <a:schemeClr val="dk1"/>
                </a:solidFill>
                <a:latin typeface="Calibri"/>
                <a:ea typeface="Calibri"/>
                <a:cs typeface="Calibri"/>
                <a:sym typeface="Calibri"/>
              </a:rPr>
              <a:t>P(A) = 40% = probability of being happy (Yellow)</a:t>
            </a:r>
          </a:p>
          <a:p>
            <a:pPr marL="0" marR="0" lvl="0" indent="0" algn="l" rtl="0">
              <a:spcBef>
                <a:spcPts val="0"/>
              </a:spcBef>
              <a:spcAft>
                <a:spcPts val="0"/>
              </a:spcAft>
              <a:buNone/>
            </a:pPr>
            <a:r>
              <a:rPr lang="en-US" dirty="0">
                <a:solidFill>
                  <a:schemeClr val="dk1"/>
                </a:solidFill>
                <a:latin typeface="Calibri"/>
                <a:ea typeface="Calibri"/>
                <a:cs typeface="Calibri"/>
                <a:sym typeface="Calibri"/>
              </a:rPr>
              <a:t>P(B) = 5% = probability of being rich (Blue)</a:t>
            </a:r>
          </a:p>
          <a:p>
            <a:pPr marL="0" marR="0" lvl="0" indent="0" algn="l" rtl="0">
              <a:spcBef>
                <a:spcPts val="0"/>
              </a:spcBef>
              <a:spcAft>
                <a:spcPts val="0"/>
              </a:spcAft>
              <a:buNone/>
            </a:pPr>
            <a:endParaRPr lang="en-US" dirty="0">
              <a:solidFill>
                <a:schemeClr val="dk1"/>
              </a:solidFill>
              <a:latin typeface="Calibri"/>
              <a:ea typeface="Calibri"/>
              <a:cs typeface="Calibri"/>
              <a:sym typeface="Calibri"/>
            </a:endParaRPr>
          </a:p>
          <a:p>
            <a:pPr lvl="0"/>
            <a:r>
              <a:rPr lang="en-US" dirty="0">
                <a:solidFill>
                  <a:schemeClr val="dk1"/>
                </a:solidFill>
                <a:latin typeface="Calibri"/>
                <a:ea typeface="Calibri"/>
                <a:cs typeface="Calibri"/>
                <a:sym typeface="Calibri"/>
              </a:rPr>
              <a:t>P(B|A) = 10% = probability of being rich given that Happy</a:t>
            </a:r>
          </a:p>
          <a:p>
            <a:pPr lvl="0"/>
            <a:r>
              <a:rPr lang="en-US" dirty="0">
                <a:solidFill>
                  <a:schemeClr val="dk1"/>
                </a:solidFill>
                <a:latin typeface="Calibri"/>
                <a:ea typeface="Calibri"/>
                <a:cs typeface="Calibri"/>
                <a:sym typeface="Calibri"/>
              </a:rPr>
              <a:t>P(A|B) = 80% = probability of being happy given that rich</a:t>
            </a:r>
          </a:p>
          <a:p>
            <a:pPr marL="0" marR="0" lvl="0" indent="0" algn="l" rtl="0">
              <a:spcBef>
                <a:spcPts val="0"/>
              </a:spcBef>
              <a:spcAft>
                <a:spcPts val="0"/>
              </a:spcAft>
              <a:buNone/>
            </a:pPr>
            <a:endParaRPr lang="en-US" dirty="0">
              <a:solidFill>
                <a:schemeClr val="dk1"/>
              </a:solidFill>
              <a:latin typeface="Calibri"/>
              <a:ea typeface="Calibri"/>
              <a:cs typeface="Calibri"/>
              <a:sym typeface="Calibri"/>
            </a:endParaRPr>
          </a:p>
          <a:p>
            <a:pPr marL="0" marR="0" lvl="0" indent="0" algn="l" rtl="0">
              <a:spcBef>
                <a:spcPts val="0"/>
              </a:spcBef>
              <a:spcAft>
                <a:spcPts val="0"/>
              </a:spcAft>
              <a:buNone/>
            </a:pPr>
            <a:r>
              <a:rPr lang="en-US" dirty="0">
                <a:solidFill>
                  <a:schemeClr val="dk1"/>
                </a:solidFill>
                <a:latin typeface="Calibri"/>
                <a:ea typeface="Calibri"/>
                <a:cs typeface="Calibri"/>
                <a:sym typeface="Calibri"/>
              </a:rPr>
              <a:t>Intersection:</a:t>
            </a:r>
          </a:p>
          <a:p>
            <a:r>
              <a:rPr lang="en-US" dirty="0">
                <a:solidFill>
                  <a:schemeClr val="dk1"/>
                </a:solidFill>
                <a:latin typeface="Calibri"/>
                <a:ea typeface="Calibri"/>
                <a:cs typeface="Calibri"/>
                <a:sym typeface="Calibri"/>
              </a:rPr>
              <a:t>P(A &amp; B) = 4% = probability of rich &amp; happy (Green)</a:t>
            </a:r>
          </a:p>
          <a:p>
            <a:pPr marL="0" marR="0" lvl="0" indent="0" algn="l" rtl="0">
              <a:spcBef>
                <a:spcPts val="0"/>
              </a:spcBef>
              <a:spcAft>
                <a:spcPts val="0"/>
              </a:spcAft>
              <a:buNone/>
            </a:pPr>
            <a:r>
              <a:rPr lang="en-US" dirty="0">
                <a:solidFill>
                  <a:schemeClr val="dk1"/>
                </a:solidFill>
                <a:latin typeface="Calibri"/>
                <a:ea typeface="Calibri"/>
                <a:cs typeface="Calibri"/>
                <a:sym typeface="Calibri"/>
              </a:rPr>
              <a:t>P(A|B)*P(B) = 80%*5% = 4%</a:t>
            </a:r>
            <a:endParaRPr dirty="0">
              <a:solidFill>
                <a:schemeClr val="dk1"/>
              </a:solidFill>
              <a:latin typeface="Calibri"/>
              <a:ea typeface="Calibri"/>
              <a:cs typeface="Calibri"/>
              <a:sym typeface="Calibri"/>
            </a:endParaRPr>
          </a:p>
          <a:p>
            <a:pPr marL="0" marR="0" lvl="0" indent="0" algn="l" rtl="0">
              <a:spcBef>
                <a:spcPts val="0"/>
              </a:spcBef>
              <a:spcAft>
                <a:spcPts val="0"/>
              </a:spcAft>
              <a:buNone/>
            </a:pPr>
            <a:r>
              <a:rPr lang="en-US" dirty="0">
                <a:solidFill>
                  <a:schemeClr val="dk1"/>
                </a:solidFill>
                <a:latin typeface="Calibri"/>
                <a:ea typeface="Calibri"/>
                <a:cs typeface="Calibri"/>
                <a:sym typeface="Calibri"/>
              </a:rPr>
              <a:t>P(B|A)*P(A) = 10%*40% = 4%</a:t>
            </a:r>
          </a:p>
        </p:txBody>
      </p:sp>
      <p:sp>
        <p:nvSpPr>
          <p:cNvPr id="90" name="Google Shape;90;p13"/>
          <p:cNvSpPr txBox="1"/>
          <p:nvPr/>
        </p:nvSpPr>
        <p:spPr>
          <a:xfrm>
            <a:off x="93257" y="-77443"/>
            <a:ext cx="7972927" cy="95410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b="1" dirty="0">
                <a:solidFill>
                  <a:srgbClr val="0070C0"/>
                </a:solidFill>
                <a:latin typeface="Calibri"/>
                <a:ea typeface="Calibri"/>
                <a:cs typeface="Calibri"/>
                <a:sym typeface="Calibri"/>
              </a:rPr>
              <a:t>Bayesian inference - </a:t>
            </a:r>
            <a:r>
              <a:rPr lang="en-US" sz="2800" dirty="0">
                <a:solidFill>
                  <a:srgbClr val="0070C0"/>
                </a:solidFill>
                <a:latin typeface="Calibri"/>
                <a:ea typeface="Calibri"/>
                <a:cs typeface="Calibri"/>
                <a:sym typeface="Calibri"/>
              </a:rPr>
              <a:t>calculate probability</a:t>
            </a:r>
            <a:endParaRPr dirty="0"/>
          </a:p>
          <a:p>
            <a:pPr marL="0" marR="0" lvl="0" indent="0" algn="l" rtl="0">
              <a:spcBef>
                <a:spcPts val="0"/>
              </a:spcBef>
              <a:spcAft>
                <a:spcPts val="0"/>
              </a:spcAft>
              <a:buNone/>
            </a:pPr>
            <a:r>
              <a:rPr lang="en-US" sz="2800" dirty="0">
                <a:solidFill>
                  <a:srgbClr val="0070C0"/>
                </a:solidFill>
                <a:latin typeface="Calibri"/>
                <a:ea typeface="Calibri"/>
                <a:cs typeface="Calibri"/>
                <a:sym typeface="Calibri"/>
              </a:rPr>
              <a:t>following chains of dependencies or correlations</a:t>
            </a:r>
            <a:endParaRPr dirty="0"/>
          </a:p>
        </p:txBody>
      </p:sp>
      <p:sp>
        <p:nvSpPr>
          <p:cNvPr id="91" name="Google Shape;91;p13"/>
          <p:cNvSpPr txBox="1"/>
          <p:nvPr/>
        </p:nvSpPr>
        <p:spPr>
          <a:xfrm>
            <a:off x="10130582" y="2213811"/>
            <a:ext cx="1588170" cy="64633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Thomas Bayes </a:t>
            </a:r>
            <a:br>
              <a:rPr lang="en-US" sz="1800" dirty="0">
                <a:solidFill>
                  <a:schemeClr val="dk1"/>
                </a:solidFill>
                <a:latin typeface="Calibri"/>
                <a:ea typeface="Calibri"/>
                <a:cs typeface="Calibri"/>
                <a:sym typeface="Calibri"/>
              </a:rPr>
            </a:br>
            <a:r>
              <a:rPr lang="en-US" sz="1800" dirty="0">
                <a:solidFill>
                  <a:schemeClr val="dk1"/>
                </a:solidFill>
                <a:latin typeface="Calibri"/>
                <a:ea typeface="Calibri"/>
                <a:cs typeface="Calibri"/>
                <a:sym typeface="Calibri"/>
              </a:rPr>
              <a:t>(1701–1761)</a:t>
            </a:r>
            <a:endParaRPr sz="1800" dirty="0">
              <a:solidFill>
                <a:schemeClr val="dk1"/>
              </a:solidFill>
              <a:latin typeface="Calibri"/>
              <a:ea typeface="Calibri"/>
              <a:cs typeface="Calibri"/>
              <a:sym typeface="Calibri"/>
            </a:endParaRPr>
          </a:p>
        </p:txBody>
      </p:sp>
      <p:pic>
        <p:nvPicPr>
          <p:cNvPr id="92" name="Google Shape;92;p13"/>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10005418" y="0"/>
            <a:ext cx="1818487" cy="2213811"/>
          </a:xfrm>
          <a:prstGeom prst="rect">
            <a:avLst/>
          </a:prstGeom>
          <a:noFill/>
          <a:ln>
            <a:noFill/>
          </a:ln>
        </p:spPr>
      </p:pic>
      <p:sp>
        <p:nvSpPr>
          <p:cNvPr id="96" name="Google Shape;96;p13"/>
          <p:cNvSpPr/>
          <p:nvPr/>
        </p:nvSpPr>
        <p:spPr>
          <a:xfrm>
            <a:off x="124872" y="4295617"/>
            <a:ext cx="4588042" cy="2229852"/>
          </a:xfrm>
          <a:prstGeom prst="rect">
            <a:avLst/>
          </a:prstGeom>
          <a:solidFill>
            <a:srgbClr val="FBE4D4"/>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7" name="Google Shape;97;p13"/>
          <p:cNvSpPr/>
          <p:nvPr/>
        </p:nvSpPr>
        <p:spPr>
          <a:xfrm>
            <a:off x="768355" y="4600417"/>
            <a:ext cx="3224463" cy="1764631"/>
          </a:xfrm>
          <a:prstGeom prst="ellipse">
            <a:avLst/>
          </a:prstGeom>
          <a:solidFill>
            <a:srgbClr val="FFC00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8" name="Google Shape;98;p13"/>
          <p:cNvSpPr/>
          <p:nvPr/>
        </p:nvSpPr>
        <p:spPr>
          <a:xfrm>
            <a:off x="2944273" y="5032264"/>
            <a:ext cx="1397874" cy="900935"/>
          </a:xfrm>
          <a:prstGeom prst="ellipse">
            <a:avLst/>
          </a:prstGeom>
          <a:solidFill>
            <a:srgbClr val="00B0F0">
              <a:alpha val="40784"/>
            </a:srgbClr>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9" name="Google Shape;99;p13"/>
          <p:cNvSpPr txBox="1"/>
          <p:nvPr/>
        </p:nvSpPr>
        <p:spPr>
          <a:xfrm>
            <a:off x="1669819" y="5032264"/>
            <a:ext cx="1274454" cy="90093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b="1" dirty="0">
                <a:solidFill>
                  <a:srgbClr val="FF0000"/>
                </a:solidFill>
                <a:latin typeface="Calibri"/>
                <a:ea typeface="Calibri"/>
                <a:cs typeface="Calibri"/>
                <a:sym typeface="Calibri"/>
              </a:rPr>
              <a:t>A</a:t>
            </a:r>
          </a:p>
          <a:p>
            <a:pPr marL="0" marR="0" lvl="0" indent="0" algn="l" rtl="0">
              <a:spcBef>
                <a:spcPts val="0"/>
              </a:spcBef>
              <a:spcAft>
                <a:spcPts val="0"/>
              </a:spcAft>
              <a:buNone/>
            </a:pPr>
            <a:r>
              <a:rPr lang="en-US" sz="2000" b="1" dirty="0">
                <a:solidFill>
                  <a:srgbClr val="FF0000"/>
                </a:solidFill>
                <a:latin typeface="Calibri"/>
                <a:ea typeface="Calibri"/>
                <a:cs typeface="Calibri"/>
                <a:sym typeface="Calibri"/>
              </a:rPr>
              <a:t>Happy</a:t>
            </a:r>
            <a:endParaRPr sz="2000" b="1" dirty="0">
              <a:solidFill>
                <a:srgbClr val="FF0000"/>
              </a:solidFill>
              <a:latin typeface="Calibri"/>
              <a:ea typeface="Calibri"/>
              <a:cs typeface="Calibri"/>
              <a:sym typeface="Calibri"/>
            </a:endParaRPr>
          </a:p>
        </p:txBody>
      </p:sp>
      <p:sp>
        <p:nvSpPr>
          <p:cNvPr id="100" name="Google Shape;100;p13"/>
          <p:cNvSpPr txBox="1"/>
          <p:nvPr/>
        </p:nvSpPr>
        <p:spPr>
          <a:xfrm>
            <a:off x="3989078" y="5200812"/>
            <a:ext cx="727576" cy="753546"/>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b="1" dirty="0">
                <a:solidFill>
                  <a:srgbClr val="FF0000"/>
                </a:solidFill>
                <a:latin typeface="Calibri"/>
                <a:ea typeface="Calibri"/>
                <a:cs typeface="Calibri"/>
                <a:sym typeface="Calibri"/>
              </a:rPr>
              <a:t>B</a:t>
            </a:r>
          </a:p>
          <a:p>
            <a:pPr marL="0" marR="0" lvl="0" indent="0" algn="l" rtl="0">
              <a:spcBef>
                <a:spcPts val="0"/>
              </a:spcBef>
              <a:spcAft>
                <a:spcPts val="0"/>
              </a:spcAft>
              <a:buNone/>
            </a:pPr>
            <a:r>
              <a:rPr lang="en-US" sz="2000" b="1" dirty="0">
                <a:solidFill>
                  <a:srgbClr val="FF0000"/>
                </a:solidFill>
                <a:latin typeface="Calibri"/>
                <a:ea typeface="Calibri"/>
                <a:cs typeface="Calibri"/>
                <a:sym typeface="Calibri"/>
              </a:rPr>
              <a:t>Rich</a:t>
            </a:r>
            <a:endParaRPr sz="2000" b="1" dirty="0">
              <a:solidFill>
                <a:srgbClr val="FF0000"/>
              </a:solidFill>
              <a:latin typeface="Calibri"/>
              <a:ea typeface="Calibri"/>
              <a:cs typeface="Calibri"/>
              <a:sym typeface="Calibri"/>
            </a:endParaRPr>
          </a:p>
        </p:txBody>
      </p:sp>
      <p:sp>
        <p:nvSpPr>
          <p:cNvPr id="101" name="Google Shape;101;p13"/>
          <p:cNvSpPr txBox="1"/>
          <p:nvPr/>
        </p:nvSpPr>
        <p:spPr>
          <a:xfrm>
            <a:off x="3294709" y="4278060"/>
            <a:ext cx="1530878" cy="46166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b="1" dirty="0">
                <a:solidFill>
                  <a:srgbClr val="FF0000"/>
                </a:solidFill>
                <a:latin typeface="Calibri"/>
                <a:ea typeface="Calibri"/>
                <a:cs typeface="Calibri"/>
                <a:sym typeface="Calibri"/>
              </a:rPr>
              <a:t>All People</a:t>
            </a:r>
            <a:endParaRPr sz="2000" b="1" dirty="0">
              <a:solidFill>
                <a:srgbClr val="FF0000"/>
              </a:solidFill>
              <a:latin typeface="Calibri"/>
              <a:ea typeface="Calibri"/>
              <a:cs typeface="Calibri"/>
              <a:sym typeface="Calibri"/>
            </a:endParaRPr>
          </a:p>
        </p:txBody>
      </p:sp>
      <p:pic>
        <p:nvPicPr>
          <p:cNvPr id="17" name="Google Shape;102;p13">
            <a:extLst>
              <a:ext uri="{FF2B5EF4-FFF2-40B4-BE49-F238E27FC236}">
                <a16:creationId xmlns:a16="http://schemas.microsoft.com/office/drawing/2014/main" id="{5D5E0C1C-95DE-384B-AD65-D49C976EA70D}"/>
              </a:ext>
            </a:extLst>
          </p:cNvPr>
          <p:cNvPicPr preferRelativeResize="0"/>
          <p:nvPr/>
        </p:nvPicPr>
        <p:blipFill rotWithShape="1">
          <a:blip r:embed="rId5">
            <a:alphaModFix/>
          </a:blip>
          <a:srcRect/>
          <a:stretch/>
        </p:blipFill>
        <p:spPr>
          <a:xfrm>
            <a:off x="6649954" y="1838425"/>
            <a:ext cx="2946400" cy="660400"/>
          </a:xfrm>
          <a:prstGeom prst="rect">
            <a:avLst/>
          </a:prstGeom>
          <a:noFill/>
          <a:ln w="50800" cap="flat" cmpd="sng">
            <a:solidFill>
              <a:srgbClr val="00B050"/>
            </a:solidFill>
            <a:prstDash val="solid"/>
            <a:round/>
            <a:headEnd type="none" w="sm" len="sm"/>
            <a:tailEnd type="none" w="sm" len="sm"/>
          </a:ln>
        </p:spPr>
      </p:pic>
      <p:sp>
        <p:nvSpPr>
          <p:cNvPr id="4" name="TextBox 3">
            <a:extLst>
              <a:ext uri="{FF2B5EF4-FFF2-40B4-BE49-F238E27FC236}">
                <a16:creationId xmlns:a16="http://schemas.microsoft.com/office/drawing/2014/main" id="{23D95E1F-CDDC-4A4B-82A6-9F51C79D9ADF}"/>
              </a:ext>
            </a:extLst>
          </p:cNvPr>
          <p:cNvSpPr txBox="1"/>
          <p:nvPr/>
        </p:nvSpPr>
        <p:spPr>
          <a:xfrm>
            <a:off x="9397063" y="4569363"/>
            <a:ext cx="2670065" cy="1384995"/>
          </a:xfrm>
          <a:prstGeom prst="rect">
            <a:avLst/>
          </a:prstGeom>
          <a:noFill/>
        </p:spPr>
        <p:txBody>
          <a:bodyPr wrap="square" rtlCol="0">
            <a:spAutoFit/>
          </a:bodyPr>
          <a:lstStyle/>
          <a:p>
            <a:r>
              <a:rPr lang="en-US" b="1" dirty="0">
                <a:solidFill>
                  <a:srgbClr val="00B050"/>
                </a:solidFill>
                <a:latin typeface="Menlo" panose="020B0609030804020204" pitchFamily="49" charset="0"/>
                <a:ea typeface="Menlo" panose="020B0609030804020204" pitchFamily="49" charset="0"/>
                <a:cs typeface="Menlo" panose="020B0609030804020204" pitchFamily="49" charset="0"/>
              </a:rPr>
              <a:t>+-----+--------+------+</a:t>
            </a:r>
          </a:p>
          <a:p>
            <a:r>
              <a:rPr lang="en-US" b="1" dirty="0">
                <a:solidFill>
                  <a:srgbClr val="00B050"/>
                </a:solidFill>
                <a:latin typeface="Menlo" panose="020B0609030804020204" pitchFamily="49" charset="0"/>
                <a:ea typeface="Menlo" panose="020B0609030804020204" pitchFamily="49" charset="0"/>
                <a:cs typeface="Menlo" panose="020B0609030804020204" pitchFamily="49" charset="0"/>
              </a:rPr>
              <a:t>|     | Happy  |      |</a:t>
            </a:r>
          </a:p>
          <a:p>
            <a:r>
              <a:rPr lang="en-US" b="1" dirty="0">
                <a:solidFill>
                  <a:srgbClr val="00B050"/>
                </a:solidFill>
                <a:latin typeface="Menlo" panose="020B0609030804020204" pitchFamily="49" charset="0"/>
                <a:ea typeface="Menlo" panose="020B0609030804020204" pitchFamily="49" charset="0"/>
                <a:cs typeface="Menlo" panose="020B0609030804020204" pitchFamily="49" charset="0"/>
              </a:rPr>
              <a:t>+-----+--------+------+</a:t>
            </a:r>
          </a:p>
          <a:p>
            <a:r>
              <a:rPr lang="en-US" b="1" dirty="0">
                <a:solidFill>
                  <a:srgbClr val="00B050"/>
                </a:solidFill>
                <a:latin typeface="Menlo" panose="020B0609030804020204" pitchFamily="49" charset="0"/>
                <a:ea typeface="Menlo" panose="020B0609030804020204" pitchFamily="49" charset="0"/>
                <a:cs typeface="Menlo" panose="020B0609030804020204" pitchFamily="49" charset="0"/>
              </a:rPr>
              <a:t>|Rich |   4    |   1  |</a:t>
            </a:r>
          </a:p>
          <a:p>
            <a:r>
              <a:rPr lang="en-US" b="1" dirty="0">
                <a:solidFill>
                  <a:srgbClr val="00B050"/>
                </a:solidFill>
                <a:latin typeface="Menlo" panose="020B0609030804020204" pitchFamily="49" charset="0"/>
                <a:ea typeface="Menlo" panose="020B0609030804020204" pitchFamily="49" charset="0"/>
                <a:cs typeface="Menlo" panose="020B0609030804020204" pitchFamily="49" charset="0"/>
              </a:rPr>
              <a:t>|     |  36    |  59  |</a:t>
            </a:r>
          </a:p>
          <a:p>
            <a:r>
              <a:rPr lang="en-US" b="1" dirty="0">
                <a:solidFill>
                  <a:srgbClr val="00B050"/>
                </a:solidFill>
                <a:latin typeface="Menlo" panose="020B0609030804020204" pitchFamily="49" charset="0"/>
                <a:ea typeface="Menlo" panose="020B0609030804020204" pitchFamily="49" charset="0"/>
                <a:cs typeface="Menlo" panose="020B0609030804020204" pitchFamily="49" charset="0"/>
              </a:rPr>
              <a:t>+-----+--------+------+</a:t>
            </a:r>
          </a:p>
        </p:txBody>
      </p:sp>
      <p:sp>
        <p:nvSpPr>
          <p:cNvPr id="2" name="TextBox 1">
            <a:extLst>
              <a:ext uri="{FF2B5EF4-FFF2-40B4-BE49-F238E27FC236}">
                <a16:creationId xmlns:a16="http://schemas.microsoft.com/office/drawing/2014/main" id="{08D25109-BDA7-D542-BBD3-673AD585F84A}"/>
              </a:ext>
            </a:extLst>
          </p:cNvPr>
          <p:cNvSpPr txBox="1"/>
          <p:nvPr/>
        </p:nvSpPr>
        <p:spPr>
          <a:xfrm>
            <a:off x="9849491" y="2860142"/>
            <a:ext cx="2217637" cy="1384995"/>
          </a:xfrm>
          <a:prstGeom prst="rect">
            <a:avLst/>
          </a:prstGeom>
          <a:noFill/>
        </p:spPr>
        <p:txBody>
          <a:bodyPr wrap="square" rtlCol="0">
            <a:spAutoFit/>
          </a:bodyPr>
          <a:lstStyle/>
          <a:p>
            <a:pPr algn="ctr"/>
            <a:r>
              <a:rPr lang="en-US" dirty="0"/>
              <a:t>Bayes "solution" to a problem of inverse probability, was presented by Richard Price in 1763, two years after Bayes' death.</a:t>
            </a:r>
          </a:p>
        </p:txBody>
      </p:sp>
      <p:sp>
        <p:nvSpPr>
          <p:cNvPr id="3" name="TextBox 2">
            <a:extLst>
              <a:ext uri="{FF2B5EF4-FFF2-40B4-BE49-F238E27FC236}">
                <a16:creationId xmlns:a16="http://schemas.microsoft.com/office/drawing/2014/main" id="{680BD279-5025-984E-9F93-DDE8AEBFA92D}"/>
              </a:ext>
            </a:extLst>
          </p:cNvPr>
          <p:cNvSpPr txBox="1"/>
          <p:nvPr/>
        </p:nvSpPr>
        <p:spPr>
          <a:xfrm>
            <a:off x="8719972" y="1445339"/>
            <a:ext cx="890203" cy="307777"/>
          </a:xfrm>
          <a:prstGeom prst="rect">
            <a:avLst/>
          </a:prstGeom>
          <a:noFill/>
        </p:spPr>
        <p:txBody>
          <a:bodyPr wrap="square" rtlCol="0">
            <a:spAutoFit/>
          </a:bodyPr>
          <a:lstStyle/>
          <a:p>
            <a:r>
              <a:rPr lang="en-US" dirty="0"/>
              <a:t>P(B|A)</a:t>
            </a:r>
          </a:p>
        </p:txBody>
      </p:sp>
      <p:sp>
        <p:nvSpPr>
          <p:cNvPr id="18" name="TextBox 17">
            <a:extLst>
              <a:ext uri="{FF2B5EF4-FFF2-40B4-BE49-F238E27FC236}">
                <a16:creationId xmlns:a16="http://schemas.microsoft.com/office/drawing/2014/main" id="{14E09531-C697-B042-B4BC-38DCCD68B758}"/>
              </a:ext>
            </a:extLst>
          </p:cNvPr>
          <p:cNvSpPr txBox="1"/>
          <p:nvPr/>
        </p:nvSpPr>
        <p:spPr>
          <a:xfrm>
            <a:off x="7824512" y="1445339"/>
            <a:ext cx="619677" cy="307777"/>
          </a:xfrm>
          <a:prstGeom prst="rect">
            <a:avLst/>
          </a:prstGeom>
          <a:noFill/>
        </p:spPr>
        <p:txBody>
          <a:bodyPr wrap="square" rtlCol="0">
            <a:spAutoFit/>
          </a:bodyPr>
          <a:lstStyle/>
          <a:p>
            <a:r>
              <a:rPr lang="en-US" dirty="0"/>
              <a:t>P(A)</a:t>
            </a:r>
          </a:p>
        </p:txBody>
      </p:sp>
      <p:sp>
        <p:nvSpPr>
          <p:cNvPr id="19" name="TextBox 18">
            <a:extLst>
              <a:ext uri="{FF2B5EF4-FFF2-40B4-BE49-F238E27FC236}">
                <a16:creationId xmlns:a16="http://schemas.microsoft.com/office/drawing/2014/main" id="{F099BFE0-214E-2B4F-A1E1-A8D2AC7F6355}"/>
              </a:ext>
            </a:extLst>
          </p:cNvPr>
          <p:cNvSpPr txBox="1"/>
          <p:nvPr/>
        </p:nvSpPr>
        <p:spPr>
          <a:xfrm>
            <a:off x="8413828" y="2542789"/>
            <a:ext cx="677606" cy="307777"/>
          </a:xfrm>
          <a:prstGeom prst="rect">
            <a:avLst/>
          </a:prstGeom>
          <a:noFill/>
        </p:spPr>
        <p:txBody>
          <a:bodyPr wrap="square" rtlCol="0">
            <a:spAutoFit/>
          </a:bodyPr>
          <a:lstStyle/>
          <a:p>
            <a:r>
              <a:rPr lang="en-US" dirty="0"/>
              <a:t>P(B)</a:t>
            </a:r>
          </a:p>
        </p:txBody>
      </p:sp>
      <p:sp>
        <p:nvSpPr>
          <p:cNvPr id="20" name="TextBox 19">
            <a:extLst>
              <a:ext uri="{FF2B5EF4-FFF2-40B4-BE49-F238E27FC236}">
                <a16:creationId xmlns:a16="http://schemas.microsoft.com/office/drawing/2014/main" id="{4D658A17-55A2-5249-ABB2-34BE8376768C}"/>
              </a:ext>
            </a:extLst>
          </p:cNvPr>
          <p:cNvSpPr txBox="1"/>
          <p:nvPr/>
        </p:nvSpPr>
        <p:spPr>
          <a:xfrm>
            <a:off x="6673273" y="1445339"/>
            <a:ext cx="890204" cy="307777"/>
          </a:xfrm>
          <a:prstGeom prst="rect">
            <a:avLst/>
          </a:prstGeom>
          <a:noFill/>
        </p:spPr>
        <p:txBody>
          <a:bodyPr wrap="square" rtlCol="0">
            <a:spAutoFit/>
          </a:bodyPr>
          <a:lstStyle/>
          <a:p>
            <a:r>
              <a:rPr lang="en-US" dirty="0"/>
              <a:t>P(A|B)</a:t>
            </a:r>
          </a:p>
        </p:txBody>
      </p:sp>
    </p:spTree>
    <p:extLst>
      <p:ext uri="{BB962C8B-B14F-4D97-AF65-F5344CB8AC3E}">
        <p14:creationId xmlns:p14="http://schemas.microsoft.com/office/powerpoint/2010/main" val="531636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3FB964B-A29C-1649-A2C4-81BC78C24A50}"/>
              </a:ext>
            </a:extLst>
          </p:cNvPr>
          <p:cNvSpPr txBox="1"/>
          <p:nvPr/>
        </p:nvSpPr>
        <p:spPr>
          <a:xfrm>
            <a:off x="0" y="58846"/>
            <a:ext cx="5579165" cy="6740307"/>
          </a:xfrm>
          <a:prstGeom prst="rect">
            <a:avLst/>
          </a:prstGeom>
          <a:noFill/>
        </p:spPr>
        <p:txBody>
          <a:bodyPr wrap="square" rtlCol="0">
            <a:spAutoFit/>
          </a:bodyPr>
          <a:lstStyle/>
          <a:p>
            <a:r>
              <a:rPr lang="en-US" sz="2000" b="1" dirty="0"/>
              <a:t>Bayesian vs Frequentist</a:t>
            </a:r>
          </a:p>
          <a:p>
            <a:r>
              <a:rPr lang="en-US" sz="2000" b="1" dirty="0"/>
              <a:t>Survivorship Bias in World War 2</a:t>
            </a:r>
          </a:p>
          <a:p>
            <a:endParaRPr lang="en-US" dirty="0"/>
          </a:p>
          <a:p>
            <a:r>
              <a:rPr lang="en-US" dirty="0"/>
              <a:t>During World War II the US military's concluded that the most-hit areas of the plane needed additional armor.</a:t>
            </a:r>
          </a:p>
          <a:p>
            <a:r>
              <a:rPr lang="en-US" dirty="0"/>
              <a:t>But statistician Abraham Wald (Statistical Research Group (SRG) at Columbia University) has recommended adding armor to the areas that showed the least damage. His reasoning was that the sample didn't include the planes which were shot down.</a:t>
            </a:r>
          </a:p>
          <a:p>
            <a:endParaRPr lang="en-US" dirty="0"/>
          </a:p>
          <a:p>
            <a:r>
              <a:rPr lang="en-US" dirty="0"/>
              <a:t>It is dangerous to use data "as is" to create a model,</a:t>
            </a:r>
            <a:br>
              <a:rPr lang="en-US" dirty="0"/>
            </a:br>
            <a:r>
              <a:rPr lang="en-US" dirty="0"/>
              <a:t>because the data may be biased to start with,</a:t>
            </a:r>
            <a:br>
              <a:rPr lang="en-US" dirty="0"/>
            </a:br>
            <a:r>
              <a:rPr lang="en-US" dirty="0"/>
              <a:t>and it can easily lead to creating a biased model</a:t>
            </a:r>
            <a:br>
              <a:rPr lang="en-US" dirty="0"/>
            </a:br>
            <a:br>
              <a:rPr lang="en-US" dirty="0"/>
            </a:br>
            <a:r>
              <a:rPr lang="en-US" dirty="0"/>
              <a:t>Problem occur when we have:</a:t>
            </a:r>
            <a:br>
              <a:rPr lang="en-US" dirty="0"/>
            </a:br>
            <a:r>
              <a:rPr lang="en-US" dirty="0"/>
              <a:t> - under-represented features (missing data)</a:t>
            </a:r>
            <a:br>
              <a:rPr lang="en-US" dirty="0"/>
            </a:br>
            <a:r>
              <a:rPr lang="en-US" dirty="0"/>
              <a:t> - over-represented features,</a:t>
            </a:r>
            <a:br>
              <a:rPr lang="en-US" dirty="0"/>
            </a:br>
            <a:r>
              <a:rPr lang="en-US" dirty="0"/>
              <a:t> - "target leakage" effect.</a:t>
            </a:r>
            <a:br>
              <a:rPr lang="en-US" dirty="0"/>
            </a:br>
            <a:br>
              <a:rPr lang="en-US" dirty="0"/>
            </a:br>
            <a:r>
              <a:rPr lang="en-US" dirty="0"/>
              <a:t>Survivorship bias:</a:t>
            </a:r>
            <a:br>
              <a:rPr lang="en-US" dirty="0"/>
            </a:br>
            <a:r>
              <a:rPr lang="en-US" dirty="0"/>
              <a:t> - </a:t>
            </a:r>
            <a:r>
              <a:rPr lang="en-US" dirty="0">
                <a:hlinkClick r:id="rId2"/>
              </a:rPr>
              <a:t>https://www.youtube.com/watch?v=B3YQJ5DwTzM</a:t>
            </a:r>
            <a:r>
              <a:rPr lang="en-US" dirty="0"/>
              <a:t> </a:t>
            </a:r>
            <a:br>
              <a:rPr lang="en-US" dirty="0"/>
            </a:br>
            <a:br>
              <a:rPr lang="en-US" dirty="0"/>
            </a:br>
            <a:r>
              <a:rPr lang="en-US" dirty="0"/>
              <a:t>Gender Bias:</a:t>
            </a:r>
            <a:br>
              <a:rPr lang="en-US" dirty="0"/>
            </a:br>
            <a:r>
              <a:rPr lang="en-US" dirty="0"/>
              <a:t> - </a:t>
            </a:r>
            <a:r>
              <a:rPr lang="en-US" dirty="0">
                <a:hlinkClick r:id="rId3"/>
              </a:rPr>
              <a:t>https://www.youtube.com/watch?v=p60-Jdq754A</a:t>
            </a:r>
            <a:r>
              <a:rPr lang="en-US" dirty="0"/>
              <a:t> </a:t>
            </a:r>
            <a:br>
              <a:rPr lang="en-US" dirty="0"/>
            </a:br>
            <a:br>
              <a:rPr lang="en-US" dirty="0"/>
            </a:br>
            <a:r>
              <a:rPr lang="en-US" dirty="0"/>
              <a:t>Bias in criminal justice:</a:t>
            </a:r>
            <a:br>
              <a:rPr lang="en-US" dirty="0"/>
            </a:br>
            <a:r>
              <a:rPr lang="en-US" dirty="0"/>
              <a:t> - </a:t>
            </a:r>
            <a:r>
              <a:rPr lang="en-US" dirty="0">
                <a:hlinkClick r:id="rId4"/>
              </a:rPr>
              <a:t>https://www.youtube.com/watch?v=Gi4YeRqfb24</a:t>
            </a:r>
            <a:r>
              <a:rPr lang="en-US" dirty="0"/>
              <a:t> </a:t>
            </a:r>
            <a:br>
              <a:rPr lang="en-US" dirty="0"/>
            </a:br>
            <a:br>
              <a:rPr lang="en-US" dirty="0"/>
            </a:br>
            <a:r>
              <a:rPr lang="en-US" dirty="0"/>
              <a:t>Target Leakage:</a:t>
            </a:r>
            <a:br>
              <a:rPr lang="en-US" dirty="0"/>
            </a:br>
            <a:r>
              <a:rPr lang="en-US" dirty="0"/>
              <a:t> - </a:t>
            </a:r>
            <a:r>
              <a:rPr lang="en-US" dirty="0">
                <a:hlinkClick r:id="rId5"/>
              </a:rPr>
              <a:t>https://www.youtube.com/watch?v=y8qaI5mpJeA</a:t>
            </a:r>
            <a:r>
              <a:rPr lang="en-US" dirty="0"/>
              <a:t> </a:t>
            </a:r>
          </a:p>
        </p:txBody>
      </p:sp>
      <p:pic>
        <p:nvPicPr>
          <p:cNvPr id="6" name="Picture 5">
            <a:extLst>
              <a:ext uri="{FF2B5EF4-FFF2-40B4-BE49-F238E27FC236}">
                <a16:creationId xmlns:a16="http://schemas.microsoft.com/office/drawing/2014/main" id="{EA27DDEE-0422-6E4F-AC95-3AFA579C3DB8}"/>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6617056" y="225286"/>
            <a:ext cx="5429170" cy="3419062"/>
          </a:xfrm>
          <a:prstGeom prst="rect">
            <a:avLst/>
          </a:prstGeom>
        </p:spPr>
      </p:pic>
    </p:spTree>
    <p:extLst>
      <p:ext uri="{BB962C8B-B14F-4D97-AF65-F5344CB8AC3E}">
        <p14:creationId xmlns:p14="http://schemas.microsoft.com/office/powerpoint/2010/main" val="37746252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5A3E503-F444-8740-9959-BAADA127EBBD}"/>
              </a:ext>
            </a:extLst>
          </p:cNvPr>
          <p:cNvSpPr txBox="1"/>
          <p:nvPr/>
        </p:nvSpPr>
        <p:spPr>
          <a:xfrm>
            <a:off x="-65351" y="0"/>
            <a:ext cx="4585855" cy="523220"/>
          </a:xfrm>
          <a:prstGeom prst="rect">
            <a:avLst/>
          </a:prstGeom>
          <a:noFill/>
        </p:spPr>
        <p:txBody>
          <a:bodyPr wrap="square" rtlCol="0">
            <a:spAutoFit/>
          </a:bodyPr>
          <a:lstStyle/>
          <a:p>
            <a:r>
              <a:rPr lang="en-US" sz="2800" b="1" dirty="0"/>
              <a:t>Confidence vs Credibility</a:t>
            </a:r>
          </a:p>
        </p:txBody>
      </p:sp>
      <p:sp>
        <p:nvSpPr>
          <p:cNvPr id="3" name="TextBox 2">
            <a:extLst>
              <a:ext uri="{FF2B5EF4-FFF2-40B4-BE49-F238E27FC236}">
                <a16:creationId xmlns:a16="http://schemas.microsoft.com/office/drawing/2014/main" id="{34C986C8-6494-5542-A5B4-2B5DE3F7F949}"/>
              </a:ext>
            </a:extLst>
          </p:cNvPr>
          <p:cNvSpPr txBox="1"/>
          <p:nvPr/>
        </p:nvSpPr>
        <p:spPr>
          <a:xfrm>
            <a:off x="193963" y="904886"/>
            <a:ext cx="3824583" cy="1477328"/>
          </a:xfrm>
          <a:prstGeom prst="rect">
            <a:avLst/>
          </a:prstGeom>
          <a:noFill/>
        </p:spPr>
        <p:txBody>
          <a:bodyPr wrap="square" rtlCol="0">
            <a:spAutoFit/>
          </a:bodyPr>
          <a:lstStyle/>
          <a:p>
            <a:r>
              <a:rPr lang="en-US" sz="2000" b="1" dirty="0" err="1">
                <a:solidFill>
                  <a:srgbClr val="FF0000"/>
                </a:solidFill>
              </a:rPr>
              <a:t>Bayesianism</a:t>
            </a:r>
            <a:r>
              <a:rPr lang="en-US" dirty="0"/>
              <a:t>: </a:t>
            </a:r>
          </a:p>
          <a:p>
            <a:r>
              <a:rPr lang="en-US" dirty="0"/>
              <a:t>probabilistic statement about </a:t>
            </a:r>
          </a:p>
          <a:p>
            <a:endParaRPr lang="en-US" dirty="0"/>
          </a:p>
          <a:p>
            <a:r>
              <a:rPr lang="en-US" dirty="0"/>
              <a:t>model parameters </a:t>
            </a:r>
          </a:p>
          <a:p>
            <a:endParaRPr lang="en-US" dirty="0"/>
          </a:p>
          <a:p>
            <a:r>
              <a:rPr lang="en-US" dirty="0"/>
              <a:t>given a fixed credible region</a:t>
            </a:r>
          </a:p>
        </p:txBody>
      </p:sp>
      <p:sp>
        <p:nvSpPr>
          <p:cNvPr id="4" name="TextBox 3">
            <a:extLst>
              <a:ext uri="{FF2B5EF4-FFF2-40B4-BE49-F238E27FC236}">
                <a16:creationId xmlns:a16="http://schemas.microsoft.com/office/drawing/2014/main" id="{EED3848A-8A25-2249-A3FC-A28BF38BEC4C}"/>
              </a:ext>
            </a:extLst>
          </p:cNvPr>
          <p:cNvSpPr txBox="1"/>
          <p:nvPr/>
        </p:nvSpPr>
        <p:spPr>
          <a:xfrm>
            <a:off x="193962" y="3777454"/>
            <a:ext cx="3824583" cy="1692771"/>
          </a:xfrm>
          <a:prstGeom prst="rect">
            <a:avLst/>
          </a:prstGeom>
          <a:noFill/>
        </p:spPr>
        <p:txBody>
          <a:bodyPr wrap="square" rtlCol="0">
            <a:spAutoFit/>
          </a:bodyPr>
          <a:lstStyle/>
          <a:p>
            <a:r>
              <a:rPr lang="en-US" sz="2000" b="1" dirty="0">
                <a:solidFill>
                  <a:srgbClr val="FF0000"/>
                </a:solidFill>
              </a:rPr>
              <a:t>Frequentism:</a:t>
            </a:r>
            <a:r>
              <a:rPr lang="en-US" dirty="0"/>
              <a:t> </a:t>
            </a:r>
          </a:p>
          <a:p>
            <a:r>
              <a:rPr lang="en-US" dirty="0"/>
              <a:t>probabilistic statement about </a:t>
            </a:r>
          </a:p>
          <a:p>
            <a:endParaRPr lang="en-US" dirty="0"/>
          </a:p>
          <a:p>
            <a:r>
              <a:rPr lang="en-US" dirty="0"/>
              <a:t>a recipe for generating </a:t>
            </a:r>
          </a:p>
          <a:p>
            <a:r>
              <a:rPr lang="en-US" dirty="0"/>
              <a:t>confidence intervals</a:t>
            </a:r>
          </a:p>
          <a:p>
            <a:endParaRPr lang="en-US" dirty="0"/>
          </a:p>
          <a:p>
            <a:r>
              <a:rPr lang="en-US" dirty="0"/>
              <a:t>given a fixed model parameter</a:t>
            </a:r>
          </a:p>
        </p:txBody>
      </p:sp>
      <p:sp>
        <p:nvSpPr>
          <p:cNvPr id="5" name="Oval 4">
            <a:extLst>
              <a:ext uri="{FF2B5EF4-FFF2-40B4-BE49-F238E27FC236}">
                <a16:creationId xmlns:a16="http://schemas.microsoft.com/office/drawing/2014/main" id="{97595D3F-C164-0840-A6D6-EBC1EDB6388E}"/>
              </a:ext>
            </a:extLst>
          </p:cNvPr>
          <p:cNvSpPr/>
          <p:nvPr/>
        </p:nvSpPr>
        <p:spPr>
          <a:xfrm>
            <a:off x="4311296" y="902468"/>
            <a:ext cx="3017520" cy="1232379"/>
          </a:xfrm>
          <a:prstGeom prst="ellipse">
            <a:avLst/>
          </a:prstGeom>
          <a:solidFill>
            <a:schemeClr val="accent5">
              <a:lumMod val="20000"/>
              <a:lumOff val="80000"/>
              <a:alpha val="70672"/>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0389F32D-E4AF-F74B-B423-B6CF1ADA4514}"/>
              </a:ext>
            </a:extLst>
          </p:cNvPr>
          <p:cNvSpPr/>
          <p:nvPr/>
        </p:nvSpPr>
        <p:spPr>
          <a:xfrm>
            <a:off x="4268121" y="3608771"/>
            <a:ext cx="2273857" cy="1232379"/>
          </a:xfrm>
          <a:prstGeom prst="ellipse">
            <a:avLst/>
          </a:prstGeom>
          <a:solidFill>
            <a:schemeClr val="accent5">
              <a:lumMod val="20000"/>
              <a:lumOff val="80000"/>
              <a:alpha val="35911"/>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9971E320-B45D-DC49-9CD1-B08E949D34C1}"/>
              </a:ext>
            </a:extLst>
          </p:cNvPr>
          <p:cNvSpPr/>
          <p:nvPr/>
        </p:nvSpPr>
        <p:spPr>
          <a:xfrm rot="965329">
            <a:off x="5276487" y="4365250"/>
            <a:ext cx="2057528" cy="1232379"/>
          </a:xfrm>
          <a:prstGeom prst="ellipse">
            <a:avLst/>
          </a:prstGeom>
          <a:solidFill>
            <a:schemeClr val="accent5">
              <a:lumMod val="20000"/>
              <a:lumOff val="80000"/>
              <a:alpha val="35911"/>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4D137703-CE6E-FB49-ACEE-A14BFBBC126E}"/>
              </a:ext>
            </a:extLst>
          </p:cNvPr>
          <p:cNvSpPr/>
          <p:nvPr/>
        </p:nvSpPr>
        <p:spPr>
          <a:xfrm rot="20412797">
            <a:off x="5657103" y="3660341"/>
            <a:ext cx="1999873" cy="1232379"/>
          </a:xfrm>
          <a:prstGeom prst="ellipse">
            <a:avLst/>
          </a:prstGeom>
          <a:solidFill>
            <a:schemeClr val="accent5">
              <a:lumMod val="20000"/>
              <a:lumOff val="80000"/>
              <a:alpha val="35911"/>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CB82C0F5-E1B3-2F41-9437-1892493D73C6}"/>
              </a:ext>
            </a:extLst>
          </p:cNvPr>
          <p:cNvSpPr/>
          <p:nvPr/>
        </p:nvSpPr>
        <p:spPr>
          <a:xfrm>
            <a:off x="4777192" y="1224189"/>
            <a:ext cx="294468" cy="294468"/>
          </a:xfrm>
          <a:prstGeom prst="ellips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FA9DEC98-9184-0042-8FCD-BE315EE1B302}"/>
              </a:ext>
            </a:extLst>
          </p:cNvPr>
          <p:cNvSpPr/>
          <p:nvPr/>
        </p:nvSpPr>
        <p:spPr>
          <a:xfrm>
            <a:off x="4664182" y="1588259"/>
            <a:ext cx="294468" cy="294468"/>
          </a:xfrm>
          <a:prstGeom prst="ellips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FC0CCFB6-ABDF-0F48-B91D-96BD9D06FF92}"/>
              </a:ext>
            </a:extLst>
          </p:cNvPr>
          <p:cNvSpPr/>
          <p:nvPr/>
        </p:nvSpPr>
        <p:spPr>
          <a:xfrm>
            <a:off x="5918303" y="1390565"/>
            <a:ext cx="294468" cy="294468"/>
          </a:xfrm>
          <a:prstGeom prst="ellips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19D6AF0D-4587-7A42-8D51-E0DC365C8D14}"/>
              </a:ext>
            </a:extLst>
          </p:cNvPr>
          <p:cNvSpPr/>
          <p:nvPr/>
        </p:nvSpPr>
        <p:spPr>
          <a:xfrm>
            <a:off x="5234392" y="1681389"/>
            <a:ext cx="294468" cy="294468"/>
          </a:xfrm>
          <a:prstGeom prst="ellips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907320EE-28A9-284A-B12A-770FA0ABE4AD}"/>
              </a:ext>
            </a:extLst>
          </p:cNvPr>
          <p:cNvSpPr/>
          <p:nvPr/>
        </p:nvSpPr>
        <p:spPr>
          <a:xfrm>
            <a:off x="5264167" y="1105980"/>
            <a:ext cx="294468" cy="294468"/>
          </a:xfrm>
          <a:prstGeom prst="ellips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E8579B37-E01E-664F-8F4C-083685EB2437}"/>
              </a:ext>
            </a:extLst>
          </p:cNvPr>
          <p:cNvSpPr/>
          <p:nvPr/>
        </p:nvSpPr>
        <p:spPr>
          <a:xfrm>
            <a:off x="5491408" y="1412468"/>
            <a:ext cx="294468" cy="294468"/>
          </a:xfrm>
          <a:prstGeom prst="ellips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B9B0E2BC-5D03-3341-9854-DFF10299782B}"/>
              </a:ext>
            </a:extLst>
          </p:cNvPr>
          <p:cNvSpPr/>
          <p:nvPr/>
        </p:nvSpPr>
        <p:spPr>
          <a:xfrm>
            <a:off x="5728519" y="974410"/>
            <a:ext cx="294468" cy="294468"/>
          </a:xfrm>
          <a:prstGeom prst="ellips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4361876C-0846-EA45-A05C-86C2E7B861C9}"/>
              </a:ext>
            </a:extLst>
          </p:cNvPr>
          <p:cNvSpPr/>
          <p:nvPr/>
        </p:nvSpPr>
        <p:spPr>
          <a:xfrm>
            <a:off x="6281604" y="1758333"/>
            <a:ext cx="294468" cy="294468"/>
          </a:xfrm>
          <a:prstGeom prst="ellips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FFBB75ED-CC7C-144E-964C-7C14A754F150}"/>
              </a:ext>
            </a:extLst>
          </p:cNvPr>
          <p:cNvSpPr/>
          <p:nvPr/>
        </p:nvSpPr>
        <p:spPr>
          <a:xfrm>
            <a:off x="6535044" y="1293791"/>
            <a:ext cx="294468" cy="294468"/>
          </a:xfrm>
          <a:prstGeom prst="ellips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739F93DF-8AB8-BA4E-BD98-C1C92669B7B7}"/>
              </a:ext>
            </a:extLst>
          </p:cNvPr>
          <p:cNvSpPr/>
          <p:nvPr/>
        </p:nvSpPr>
        <p:spPr>
          <a:xfrm>
            <a:off x="6318744" y="973282"/>
            <a:ext cx="294468" cy="294468"/>
          </a:xfrm>
          <a:prstGeom prst="ellips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71680A35-4E34-1D4E-A54E-FEEE28D00C07}"/>
              </a:ext>
            </a:extLst>
          </p:cNvPr>
          <p:cNvSpPr/>
          <p:nvPr/>
        </p:nvSpPr>
        <p:spPr>
          <a:xfrm>
            <a:off x="6864464" y="1250398"/>
            <a:ext cx="294468" cy="294468"/>
          </a:xfrm>
          <a:prstGeom prst="ellips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E298DDC5-F068-6140-8F06-B936894D64BE}"/>
              </a:ext>
            </a:extLst>
          </p:cNvPr>
          <p:cNvSpPr/>
          <p:nvPr/>
        </p:nvSpPr>
        <p:spPr>
          <a:xfrm>
            <a:off x="5125137" y="1293062"/>
            <a:ext cx="294468" cy="294468"/>
          </a:xfrm>
          <a:prstGeom prst="ellips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53355E27-83EF-0B41-97EE-326671135067}"/>
              </a:ext>
            </a:extLst>
          </p:cNvPr>
          <p:cNvSpPr/>
          <p:nvPr/>
        </p:nvSpPr>
        <p:spPr>
          <a:xfrm>
            <a:off x="5713138" y="1659486"/>
            <a:ext cx="294468" cy="294468"/>
          </a:xfrm>
          <a:prstGeom prst="ellips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2BD73340-6D1D-AE44-B09C-815640DC9FC8}"/>
              </a:ext>
            </a:extLst>
          </p:cNvPr>
          <p:cNvSpPr/>
          <p:nvPr/>
        </p:nvSpPr>
        <p:spPr>
          <a:xfrm>
            <a:off x="6609850" y="1483231"/>
            <a:ext cx="294468" cy="294468"/>
          </a:xfrm>
          <a:prstGeom prst="ellips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DC9430E1-6A51-E74C-AD08-B6208CCDFDE5}"/>
              </a:ext>
            </a:extLst>
          </p:cNvPr>
          <p:cNvSpPr/>
          <p:nvPr/>
        </p:nvSpPr>
        <p:spPr>
          <a:xfrm>
            <a:off x="5060420" y="1677319"/>
            <a:ext cx="294468" cy="294468"/>
          </a:xfrm>
          <a:prstGeom prst="ellips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86D1FB04-5468-8F4E-9755-25EC0332A18A}"/>
              </a:ext>
            </a:extLst>
          </p:cNvPr>
          <p:cNvSpPr/>
          <p:nvPr/>
        </p:nvSpPr>
        <p:spPr>
          <a:xfrm>
            <a:off x="6036092" y="1179505"/>
            <a:ext cx="294468" cy="294468"/>
          </a:xfrm>
          <a:prstGeom prst="ellips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146A4F47-2635-FE4D-BA59-CE43369FFE09}"/>
              </a:ext>
            </a:extLst>
          </p:cNvPr>
          <p:cNvSpPr/>
          <p:nvPr/>
        </p:nvSpPr>
        <p:spPr>
          <a:xfrm>
            <a:off x="5582337" y="1750262"/>
            <a:ext cx="294468" cy="294468"/>
          </a:xfrm>
          <a:prstGeom prst="ellips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E7633667-E8B9-1243-9559-B3506FE8D536}"/>
              </a:ext>
            </a:extLst>
          </p:cNvPr>
          <p:cNvSpPr/>
          <p:nvPr/>
        </p:nvSpPr>
        <p:spPr>
          <a:xfrm>
            <a:off x="5780061" y="4401368"/>
            <a:ext cx="294468" cy="294468"/>
          </a:xfrm>
          <a:prstGeom prst="ellips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CAC20ABF-F0A3-9045-B238-D3C46F483BE4}"/>
              </a:ext>
            </a:extLst>
          </p:cNvPr>
          <p:cNvSpPr/>
          <p:nvPr/>
        </p:nvSpPr>
        <p:spPr>
          <a:xfrm rot="17922373">
            <a:off x="4550099" y="4599030"/>
            <a:ext cx="2119979" cy="1232379"/>
          </a:xfrm>
          <a:prstGeom prst="ellipse">
            <a:avLst/>
          </a:prstGeom>
          <a:solidFill>
            <a:schemeClr val="accent5">
              <a:lumMod val="20000"/>
              <a:lumOff val="80000"/>
              <a:alpha val="35911"/>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8440E9EA-43C4-C54E-98F3-E733DFA077D9}"/>
              </a:ext>
            </a:extLst>
          </p:cNvPr>
          <p:cNvSpPr/>
          <p:nvPr/>
        </p:nvSpPr>
        <p:spPr>
          <a:xfrm>
            <a:off x="2921676" y="1674506"/>
            <a:ext cx="294468" cy="294468"/>
          </a:xfrm>
          <a:prstGeom prst="ellips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E895DA2D-D3D0-6547-A366-55CC61A6F780}"/>
              </a:ext>
            </a:extLst>
          </p:cNvPr>
          <p:cNvSpPr/>
          <p:nvPr/>
        </p:nvSpPr>
        <p:spPr>
          <a:xfrm>
            <a:off x="2700289" y="2119084"/>
            <a:ext cx="737242" cy="231018"/>
          </a:xfrm>
          <a:prstGeom prst="ellipse">
            <a:avLst/>
          </a:prstGeom>
          <a:solidFill>
            <a:schemeClr val="accent5">
              <a:lumMod val="20000"/>
              <a:lumOff val="80000"/>
              <a:alpha val="70672"/>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14E7C7C7-5362-AB42-9D0B-48F844AE0C7F}"/>
              </a:ext>
            </a:extLst>
          </p:cNvPr>
          <p:cNvSpPr/>
          <p:nvPr/>
        </p:nvSpPr>
        <p:spPr>
          <a:xfrm>
            <a:off x="2700289" y="4706644"/>
            <a:ext cx="737242" cy="231018"/>
          </a:xfrm>
          <a:prstGeom prst="ellipse">
            <a:avLst/>
          </a:prstGeom>
          <a:solidFill>
            <a:schemeClr val="accent5">
              <a:lumMod val="20000"/>
              <a:lumOff val="80000"/>
              <a:alpha val="70672"/>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CE3F0682-C169-2B45-B192-6427C490D3B6}"/>
              </a:ext>
            </a:extLst>
          </p:cNvPr>
          <p:cNvSpPr/>
          <p:nvPr/>
        </p:nvSpPr>
        <p:spPr>
          <a:xfrm>
            <a:off x="2921676" y="5180331"/>
            <a:ext cx="294468" cy="294468"/>
          </a:xfrm>
          <a:prstGeom prst="ellips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17C850E5-2DF4-124E-AB45-622FF4D87943}"/>
              </a:ext>
            </a:extLst>
          </p:cNvPr>
          <p:cNvSpPr txBox="1"/>
          <p:nvPr/>
        </p:nvSpPr>
        <p:spPr>
          <a:xfrm>
            <a:off x="7538024" y="6157292"/>
            <a:ext cx="4653976" cy="523220"/>
          </a:xfrm>
          <a:prstGeom prst="rect">
            <a:avLst/>
          </a:prstGeom>
          <a:noFill/>
        </p:spPr>
        <p:txBody>
          <a:bodyPr wrap="square" rtlCol="0">
            <a:spAutoFit/>
          </a:bodyPr>
          <a:lstStyle/>
          <a:p>
            <a:r>
              <a:rPr lang="en-US" dirty="0"/>
              <a:t>from Jake </a:t>
            </a:r>
            <a:r>
              <a:rPr lang="en-US" dirty="0" err="1"/>
              <a:t>VanderPlas</a:t>
            </a:r>
            <a:endParaRPr lang="en-US" dirty="0"/>
          </a:p>
          <a:p>
            <a:r>
              <a:rPr lang="en-US" dirty="0">
                <a:hlinkClick r:id="rId2"/>
              </a:rPr>
              <a:t>https://www.youtube.com/watch?v=KhAUfqhLakw</a:t>
            </a:r>
            <a:r>
              <a:rPr lang="en-US" dirty="0"/>
              <a:t> </a:t>
            </a:r>
          </a:p>
        </p:txBody>
      </p:sp>
      <p:sp>
        <p:nvSpPr>
          <p:cNvPr id="37" name="TextBox 36">
            <a:extLst>
              <a:ext uri="{FF2B5EF4-FFF2-40B4-BE49-F238E27FC236}">
                <a16:creationId xmlns:a16="http://schemas.microsoft.com/office/drawing/2014/main" id="{DCA3305E-3FC6-4041-ABE0-3DEA2DC4C76B}"/>
              </a:ext>
            </a:extLst>
          </p:cNvPr>
          <p:cNvSpPr txBox="1"/>
          <p:nvPr/>
        </p:nvSpPr>
        <p:spPr>
          <a:xfrm>
            <a:off x="8461363" y="3695285"/>
            <a:ext cx="3634531" cy="1815882"/>
          </a:xfrm>
          <a:prstGeom prst="rect">
            <a:avLst/>
          </a:prstGeom>
          <a:noFill/>
        </p:spPr>
        <p:txBody>
          <a:bodyPr wrap="square" rtlCol="0">
            <a:spAutoFit/>
          </a:bodyPr>
          <a:lstStyle/>
          <a:p>
            <a:r>
              <a:rPr lang="en-US" dirty="0"/>
              <a:t>In general, a frequentist's</a:t>
            </a:r>
          </a:p>
          <a:p>
            <a:r>
              <a:rPr lang="en-US" dirty="0"/>
              <a:t> </a:t>
            </a:r>
            <a:r>
              <a:rPr lang="en-US" b="1" dirty="0">
                <a:solidFill>
                  <a:srgbClr val="FF0000"/>
                </a:solidFill>
              </a:rPr>
              <a:t>95% Confidence Interval</a:t>
            </a:r>
          </a:p>
          <a:p>
            <a:r>
              <a:rPr lang="en-US" b="1" dirty="0">
                <a:solidFill>
                  <a:srgbClr val="00B050"/>
                </a:solidFill>
              </a:rPr>
              <a:t>is not 95% likely</a:t>
            </a:r>
            <a:r>
              <a:rPr lang="en-US" dirty="0"/>
              <a:t> to contain the true value!</a:t>
            </a:r>
          </a:p>
          <a:p>
            <a:endParaRPr lang="en-US" dirty="0"/>
          </a:p>
          <a:p>
            <a:r>
              <a:rPr lang="en-US" dirty="0"/>
              <a:t>A frequentist only states that:</a:t>
            </a:r>
          </a:p>
          <a:p>
            <a:r>
              <a:rPr lang="en-US" dirty="0"/>
              <a:t>   if we repeat experiment multiple times</a:t>
            </a:r>
          </a:p>
          <a:p>
            <a:r>
              <a:rPr lang="en-US" dirty="0"/>
              <a:t>   then 95% of such confidence intervals</a:t>
            </a:r>
          </a:p>
          <a:p>
            <a:r>
              <a:rPr lang="en-US" dirty="0"/>
              <a:t>   will contain the true value.</a:t>
            </a:r>
          </a:p>
        </p:txBody>
      </p:sp>
      <p:sp>
        <p:nvSpPr>
          <p:cNvPr id="38" name="Oval 37">
            <a:extLst>
              <a:ext uri="{FF2B5EF4-FFF2-40B4-BE49-F238E27FC236}">
                <a16:creationId xmlns:a16="http://schemas.microsoft.com/office/drawing/2014/main" id="{CF6D186E-EF05-3242-87BC-E8DAD450D089}"/>
              </a:ext>
            </a:extLst>
          </p:cNvPr>
          <p:cNvSpPr/>
          <p:nvPr/>
        </p:nvSpPr>
        <p:spPr>
          <a:xfrm>
            <a:off x="6159858" y="4192514"/>
            <a:ext cx="1538352" cy="821425"/>
          </a:xfrm>
          <a:prstGeom prst="ellipse">
            <a:avLst/>
          </a:prstGeom>
          <a:solidFill>
            <a:schemeClr val="accent5">
              <a:lumMod val="60000"/>
              <a:lumOff val="40000"/>
              <a:alpha val="77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Our Particular Interval</a:t>
            </a:r>
          </a:p>
        </p:txBody>
      </p:sp>
    </p:spTree>
    <p:extLst>
      <p:ext uri="{BB962C8B-B14F-4D97-AF65-F5344CB8AC3E}">
        <p14:creationId xmlns:p14="http://schemas.microsoft.com/office/powerpoint/2010/main" val="3333210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93;p13">
            <a:extLst>
              <a:ext uri="{FF2B5EF4-FFF2-40B4-BE49-F238E27FC236}">
                <a16:creationId xmlns:a16="http://schemas.microsoft.com/office/drawing/2014/main" id="{F5066C6A-F841-BB4E-888A-251B4AF760F4}"/>
              </a:ext>
            </a:extLst>
          </p:cNvPr>
          <p:cNvSpPr txBox="1"/>
          <p:nvPr/>
        </p:nvSpPr>
        <p:spPr>
          <a:xfrm>
            <a:off x="2748641" y="1644652"/>
            <a:ext cx="6694715" cy="1637391"/>
          </a:xfrm>
          <a:prstGeom prst="rect">
            <a:avLst/>
          </a:prstGeom>
          <a:noFill/>
          <a:ln w="63500">
            <a:solidFill>
              <a:schemeClr val="accent6">
                <a:lumMod val="40000"/>
                <a:lumOff val="60000"/>
              </a:schemeClr>
            </a:solid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b="1" dirty="0">
                <a:solidFill>
                  <a:schemeClr val="accent1"/>
                </a:solidFill>
                <a:latin typeface="Calibri" panose="020F0502020204030204" pitchFamily="34" charset="0"/>
                <a:cs typeface="Calibri" panose="020F0502020204030204" pitchFamily="34" charset="0"/>
                <a:sym typeface="Calibri"/>
              </a:rPr>
              <a:t>Frequentist interpretation of Bayes’ theorem.</a:t>
            </a:r>
            <a:endParaRPr sz="2400" b="1" dirty="0">
              <a:solidFill>
                <a:schemeClr val="accent1"/>
              </a:solidFill>
              <a:latin typeface="Calibri" panose="020F0502020204030204" pitchFamily="34" charset="0"/>
              <a:cs typeface="Calibri" panose="020F0502020204030204" pitchFamily="34" charset="0"/>
            </a:endParaRPr>
          </a:p>
          <a:p>
            <a:pPr marL="0" marR="0" lvl="0" indent="0" algn="l" rtl="0">
              <a:spcBef>
                <a:spcPts val="0"/>
              </a:spcBef>
              <a:spcAft>
                <a:spcPts val="0"/>
              </a:spcAft>
              <a:buNone/>
            </a:pPr>
            <a:r>
              <a:rPr lang="en-US" sz="1800" b="1" dirty="0">
                <a:solidFill>
                  <a:srgbClr val="00B050"/>
                </a:solidFill>
                <a:latin typeface="Calibri" panose="020F0502020204030204" pitchFamily="34" charset="0"/>
                <a:cs typeface="Calibri" panose="020F0502020204030204" pitchFamily="34" charset="0"/>
                <a:sym typeface="Calibri"/>
              </a:rPr>
              <a:t>Probability measures a proportion of outcomes.</a:t>
            </a:r>
            <a:endParaRPr sz="1800" b="1" dirty="0">
              <a:solidFill>
                <a:srgbClr val="00B050"/>
              </a:solidFill>
              <a:latin typeface="Calibri" panose="020F0502020204030204" pitchFamily="34" charset="0"/>
              <a:cs typeface="Calibri" panose="020F0502020204030204" pitchFamily="34" charset="0"/>
              <a:sym typeface="Calibri"/>
            </a:endParaRPr>
          </a:p>
          <a:p>
            <a:pPr marL="0" marR="0" lvl="0" indent="0" algn="l" rtl="0">
              <a:spcBef>
                <a:spcPts val="0"/>
              </a:spcBef>
              <a:spcAft>
                <a:spcPts val="0"/>
              </a:spcAft>
              <a:buNone/>
            </a:pPr>
            <a:r>
              <a:rPr lang="en-US" sz="1800" dirty="0">
                <a:solidFill>
                  <a:schemeClr val="dk1"/>
                </a:solidFill>
                <a:latin typeface="Calibri" panose="020F0502020204030204" pitchFamily="34" charset="0"/>
                <a:cs typeface="Calibri" panose="020F0502020204030204" pitchFamily="34" charset="0"/>
                <a:sym typeface="Calibri"/>
              </a:rPr>
              <a:t>P(A) - proportions of outcomes A</a:t>
            </a:r>
          </a:p>
          <a:p>
            <a:r>
              <a:rPr lang="en-US" sz="1800" dirty="0">
                <a:solidFill>
                  <a:schemeClr val="dk1"/>
                </a:solidFill>
                <a:latin typeface="Calibri" panose="020F0502020204030204" pitchFamily="34" charset="0"/>
                <a:cs typeface="Calibri" panose="020F0502020204030204" pitchFamily="34" charset="0"/>
                <a:sym typeface="Calibri"/>
              </a:rPr>
              <a:t>P(B) - proportions of outcomes B</a:t>
            </a:r>
          </a:p>
          <a:p>
            <a:pPr marL="0" marR="0" lvl="0" indent="0" algn="l" rtl="0">
              <a:spcBef>
                <a:spcPts val="0"/>
              </a:spcBef>
              <a:spcAft>
                <a:spcPts val="0"/>
              </a:spcAft>
              <a:buNone/>
            </a:pPr>
            <a:r>
              <a:rPr lang="en-US" sz="1800" dirty="0">
                <a:solidFill>
                  <a:schemeClr val="dk1"/>
                </a:solidFill>
                <a:latin typeface="Calibri" panose="020F0502020204030204" pitchFamily="34" charset="0"/>
                <a:cs typeface="Calibri" panose="020F0502020204030204" pitchFamily="34" charset="0"/>
                <a:sym typeface="Calibri"/>
              </a:rPr>
              <a:t>P(B|A) is the proportion of outcomes B out of outcomes A</a:t>
            </a:r>
          </a:p>
        </p:txBody>
      </p:sp>
      <p:sp>
        <p:nvSpPr>
          <p:cNvPr id="7" name="TextBox 6">
            <a:extLst>
              <a:ext uri="{FF2B5EF4-FFF2-40B4-BE49-F238E27FC236}">
                <a16:creationId xmlns:a16="http://schemas.microsoft.com/office/drawing/2014/main" id="{925C92EE-03D8-DB44-AE43-BDAD05469BE7}"/>
              </a:ext>
            </a:extLst>
          </p:cNvPr>
          <p:cNvSpPr txBox="1"/>
          <p:nvPr/>
        </p:nvSpPr>
        <p:spPr>
          <a:xfrm>
            <a:off x="-1" y="37572"/>
            <a:ext cx="6694715" cy="523220"/>
          </a:xfrm>
          <a:prstGeom prst="rect">
            <a:avLst/>
          </a:prstGeom>
          <a:noFill/>
        </p:spPr>
        <p:txBody>
          <a:bodyPr wrap="square" rtlCol="0">
            <a:spAutoFit/>
          </a:bodyPr>
          <a:lstStyle/>
          <a:p>
            <a:r>
              <a:rPr lang="en-US" sz="2800" b="1" dirty="0"/>
              <a:t>Frequentist vs Bayesian </a:t>
            </a:r>
          </a:p>
        </p:txBody>
      </p:sp>
      <p:sp>
        <p:nvSpPr>
          <p:cNvPr id="8" name="Google Shape;93;p13">
            <a:extLst>
              <a:ext uri="{FF2B5EF4-FFF2-40B4-BE49-F238E27FC236}">
                <a16:creationId xmlns:a16="http://schemas.microsoft.com/office/drawing/2014/main" id="{63B1458D-308E-4C42-81E2-BCB6757E15B7}"/>
              </a:ext>
            </a:extLst>
          </p:cNvPr>
          <p:cNvSpPr txBox="1"/>
          <p:nvPr/>
        </p:nvSpPr>
        <p:spPr>
          <a:xfrm>
            <a:off x="2748642" y="4114801"/>
            <a:ext cx="6694715" cy="1637390"/>
          </a:xfrm>
          <a:prstGeom prst="rect">
            <a:avLst/>
          </a:prstGeom>
          <a:noFill/>
          <a:ln w="63500">
            <a:solidFill>
              <a:schemeClr val="accent6">
                <a:lumMod val="40000"/>
                <a:lumOff val="60000"/>
              </a:schemeClr>
            </a:solidFill>
          </a:ln>
        </p:spPr>
        <p:txBody>
          <a:bodyPr spcFirstLastPara="1" wrap="square" lIns="91425" tIns="45700" rIns="91425" bIns="45700" anchor="t" anchorCtr="0">
            <a:noAutofit/>
          </a:bodyPr>
          <a:lstStyle/>
          <a:p>
            <a:r>
              <a:rPr lang="en-US" sz="2400" b="1" dirty="0">
                <a:solidFill>
                  <a:schemeClr val="accent1"/>
                </a:solidFill>
                <a:latin typeface="Calibri" panose="020F0502020204030204" pitchFamily="34" charset="0"/>
                <a:cs typeface="Calibri" panose="020F0502020204030204" pitchFamily="34" charset="0"/>
                <a:sym typeface="Calibri"/>
              </a:rPr>
              <a:t>Bayesian interpretation of Bayes’ theorem.</a:t>
            </a:r>
            <a:endParaRPr lang="en-US" sz="2400" b="1" dirty="0">
              <a:solidFill>
                <a:schemeClr val="accent1"/>
              </a:solidFill>
              <a:latin typeface="Calibri" panose="020F0502020204030204" pitchFamily="34" charset="0"/>
              <a:cs typeface="Calibri" panose="020F0502020204030204" pitchFamily="34" charset="0"/>
            </a:endParaRPr>
          </a:p>
          <a:p>
            <a:pPr lvl="0"/>
            <a:r>
              <a:rPr lang="en-US" sz="1800" b="1" dirty="0">
                <a:solidFill>
                  <a:srgbClr val="00B050"/>
                </a:solidFill>
                <a:latin typeface="Calibri" panose="020F0502020204030204" pitchFamily="34" charset="0"/>
                <a:cs typeface="Calibri" panose="020F0502020204030204" pitchFamily="34" charset="0"/>
                <a:sym typeface="Calibri"/>
              </a:rPr>
              <a:t>Probability measures a degree of belief.</a:t>
            </a:r>
            <a:br>
              <a:rPr lang="en-US" sz="1800" b="1" dirty="0">
                <a:solidFill>
                  <a:srgbClr val="00B050"/>
                </a:solidFill>
                <a:latin typeface="Calibri" panose="020F0502020204030204" pitchFamily="34" charset="0"/>
                <a:cs typeface="Calibri" panose="020F0502020204030204" pitchFamily="34" charset="0"/>
                <a:sym typeface="Calibri"/>
              </a:rPr>
            </a:br>
            <a:r>
              <a:rPr lang="en-US" sz="1800" dirty="0">
                <a:solidFill>
                  <a:schemeClr val="dk1"/>
                </a:solidFill>
                <a:latin typeface="Calibri" panose="020F0502020204030204" pitchFamily="34" charset="0"/>
                <a:cs typeface="Calibri" panose="020F0502020204030204" pitchFamily="34" charset="0"/>
                <a:sym typeface="Calibri"/>
              </a:rPr>
              <a:t>P(A), the </a:t>
            </a:r>
            <a:r>
              <a:rPr lang="en-US" sz="1800" b="1" dirty="0">
                <a:solidFill>
                  <a:schemeClr val="accent1"/>
                </a:solidFill>
                <a:latin typeface="Calibri" panose="020F0502020204030204" pitchFamily="34" charset="0"/>
                <a:cs typeface="Calibri" panose="020F0502020204030204" pitchFamily="34" charset="0"/>
                <a:sym typeface="Calibri"/>
              </a:rPr>
              <a:t>prior</a:t>
            </a:r>
            <a:r>
              <a:rPr lang="en-US" sz="1800" dirty="0">
                <a:solidFill>
                  <a:schemeClr val="dk1"/>
                </a:solidFill>
                <a:latin typeface="Calibri" panose="020F0502020204030204" pitchFamily="34" charset="0"/>
                <a:cs typeface="Calibri" panose="020F0502020204030204" pitchFamily="34" charset="0"/>
                <a:sym typeface="Calibri"/>
              </a:rPr>
              <a:t>, is the initial degree of belief in A.</a:t>
            </a:r>
            <a:endParaRPr lang="en-US" sz="1800" dirty="0">
              <a:solidFill>
                <a:schemeClr val="dk1"/>
              </a:solidFill>
              <a:latin typeface="Calibri" panose="020F0502020204030204" pitchFamily="34" charset="0"/>
              <a:cs typeface="Calibri" panose="020F0502020204030204" pitchFamily="34" charset="0"/>
            </a:endParaRPr>
          </a:p>
          <a:p>
            <a:pPr lvl="0"/>
            <a:r>
              <a:rPr lang="en-US" sz="1800" dirty="0">
                <a:solidFill>
                  <a:schemeClr val="dk1"/>
                </a:solidFill>
                <a:latin typeface="Calibri" panose="020F0502020204030204" pitchFamily="34" charset="0"/>
                <a:cs typeface="Calibri" panose="020F0502020204030204" pitchFamily="34" charset="0"/>
                <a:sym typeface="Calibri"/>
              </a:rPr>
              <a:t>P(A|B), the </a:t>
            </a:r>
            <a:r>
              <a:rPr lang="en-US" sz="1800" b="1" dirty="0">
                <a:solidFill>
                  <a:schemeClr val="accent1"/>
                </a:solidFill>
                <a:latin typeface="Calibri" panose="020F0502020204030204" pitchFamily="34" charset="0"/>
                <a:cs typeface="Calibri" panose="020F0502020204030204" pitchFamily="34" charset="0"/>
                <a:sym typeface="Calibri"/>
              </a:rPr>
              <a:t>posterior</a:t>
            </a:r>
            <a:r>
              <a:rPr lang="en-US" sz="1800" dirty="0">
                <a:solidFill>
                  <a:schemeClr val="dk1"/>
                </a:solidFill>
                <a:latin typeface="Calibri" panose="020F0502020204030204" pitchFamily="34" charset="0"/>
                <a:cs typeface="Calibri" panose="020F0502020204030204" pitchFamily="34" charset="0"/>
                <a:sym typeface="Calibri"/>
              </a:rPr>
              <a:t>, is the degree of belief having accounted for B.</a:t>
            </a:r>
            <a:br>
              <a:rPr lang="en-US" sz="1800" dirty="0">
                <a:solidFill>
                  <a:schemeClr val="dk1"/>
                </a:solidFill>
                <a:latin typeface="Calibri" panose="020F0502020204030204" pitchFamily="34" charset="0"/>
                <a:cs typeface="Calibri" panose="020F0502020204030204" pitchFamily="34" charset="0"/>
                <a:sym typeface="Calibri"/>
              </a:rPr>
            </a:br>
            <a:r>
              <a:rPr lang="en-US" sz="1800" dirty="0">
                <a:solidFill>
                  <a:schemeClr val="dk1"/>
                </a:solidFill>
                <a:latin typeface="Calibri" panose="020F0502020204030204" pitchFamily="34" charset="0"/>
                <a:cs typeface="Calibri" panose="020F0502020204030204" pitchFamily="34" charset="0"/>
                <a:sym typeface="Calibri"/>
              </a:rPr>
              <a:t>P(B|A)/P(B) – represents the support B provides for A.</a:t>
            </a:r>
            <a:endParaRPr lang="en-US" sz="1800" dirty="0">
              <a:solidFill>
                <a:schemeClr val="dk1"/>
              </a:solidFill>
              <a:latin typeface="Calibri" panose="020F0502020204030204" pitchFamily="34" charset="0"/>
              <a:cs typeface="Calibri" panose="020F0502020204030204" pitchFamily="34" charset="0"/>
            </a:endParaRPr>
          </a:p>
          <a:p>
            <a:pPr marL="0" marR="0" lvl="0" indent="0" algn="l" rtl="0">
              <a:spcBef>
                <a:spcPts val="0"/>
              </a:spcBef>
              <a:spcAft>
                <a:spcPts val="0"/>
              </a:spcAft>
              <a:buNone/>
            </a:pPr>
            <a:endParaRPr sz="1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249350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EB5F268-965F-C142-A102-83C02389B555}"/>
              </a:ext>
            </a:extLst>
          </p:cNvPr>
          <p:cNvSpPr txBox="1"/>
          <p:nvPr/>
        </p:nvSpPr>
        <p:spPr>
          <a:xfrm>
            <a:off x="84912" y="85118"/>
            <a:ext cx="5906814" cy="6771084"/>
          </a:xfrm>
          <a:prstGeom prst="rect">
            <a:avLst/>
          </a:prstGeom>
          <a:noFill/>
        </p:spPr>
        <p:txBody>
          <a:bodyPr wrap="square" rtlCol="0">
            <a:spAutoFit/>
          </a:bodyPr>
          <a:lstStyle/>
          <a:p>
            <a:r>
              <a:rPr lang="en-US" sz="1800" b="1" dirty="0"/>
              <a:t>Random Variable. Probability Distribution</a:t>
            </a:r>
          </a:p>
          <a:p>
            <a:br>
              <a:rPr lang="en-US" dirty="0"/>
            </a:br>
            <a:r>
              <a:rPr lang="en-US" b="1" dirty="0">
                <a:solidFill>
                  <a:srgbClr val="0070C0"/>
                </a:solidFill>
              </a:rPr>
              <a:t>Random variable </a:t>
            </a:r>
            <a:r>
              <a:rPr lang="en-US" dirty="0"/>
              <a:t>is a numerical variable taking different values.</a:t>
            </a:r>
          </a:p>
          <a:p>
            <a:r>
              <a:rPr lang="en-US" dirty="0"/>
              <a:t>Values may be </a:t>
            </a:r>
            <a:r>
              <a:rPr lang="en-US" b="1" dirty="0">
                <a:solidFill>
                  <a:srgbClr val="0070C0"/>
                </a:solidFill>
              </a:rPr>
              <a:t>discrete or continuous</a:t>
            </a:r>
            <a:r>
              <a:rPr lang="en-US" dirty="0"/>
              <a:t>.</a:t>
            </a:r>
          </a:p>
          <a:p>
            <a:endParaRPr lang="en-US" dirty="0"/>
          </a:p>
          <a:p>
            <a:r>
              <a:rPr lang="en-US" dirty="0"/>
              <a:t>For example, think of variable “x” which may have any real value between -10 and +10.</a:t>
            </a:r>
          </a:p>
          <a:p>
            <a:endParaRPr lang="en-US" dirty="0"/>
          </a:p>
          <a:p>
            <a:r>
              <a:rPr lang="en-US" dirty="0"/>
              <a:t>Or think of a variable “z” which can have discrete values 0,0.1,0.2, … 0.9, 1.0</a:t>
            </a:r>
          </a:p>
          <a:p>
            <a:endParaRPr lang="en-US" dirty="0"/>
          </a:p>
          <a:p>
            <a:r>
              <a:rPr lang="en-US" sz="2400" b="1" dirty="0">
                <a:solidFill>
                  <a:srgbClr val="FF0000"/>
                </a:solidFill>
              </a:rPr>
              <a:t>Discrete Case</a:t>
            </a:r>
          </a:p>
          <a:p>
            <a:r>
              <a:rPr lang="en-US" b="1" dirty="0">
                <a:solidFill>
                  <a:srgbClr val="0070C0"/>
                </a:solidFill>
              </a:rPr>
              <a:t>Probability function </a:t>
            </a:r>
            <a:r>
              <a:rPr lang="en-US" dirty="0"/>
              <a:t>P(x) of a discrete random variable “x” </a:t>
            </a:r>
          </a:p>
          <a:p>
            <a:r>
              <a:rPr lang="en-US" dirty="0"/>
              <a:t>is simply a function which gives probability of discrete values.</a:t>
            </a:r>
          </a:p>
          <a:p>
            <a:endParaRPr lang="en-US" dirty="0"/>
          </a:p>
          <a:p>
            <a:r>
              <a:rPr lang="en-US" dirty="0"/>
              <a:t>For example, if the random variable “x” may have two values: ( 0 or 1 ),</a:t>
            </a:r>
          </a:p>
          <a:p>
            <a:r>
              <a:rPr lang="en-US" dirty="0"/>
              <a:t>and if probabilities of those values are equal, then</a:t>
            </a:r>
          </a:p>
          <a:p>
            <a:endParaRPr lang="en-US" dirty="0"/>
          </a:p>
          <a:p>
            <a:r>
              <a:rPr lang="en-US" dirty="0"/>
              <a:t>P(0) = 0.5, f(1) = 0.5.</a:t>
            </a:r>
          </a:p>
          <a:p>
            <a:endParaRPr lang="en-US" dirty="0"/>
          </a:p>
          <a:p>
            <a:r>
              <a:rPr lang="en-US" dirty="0"/>
              <a:t>The sum of individual probabilities for all possible values should be 1.</a:t>
            </a:r>
          </a:p>
          <a:p>
            <a:endParaRPr lang="en-US" dirty="0"/>
          </a:p>
          <a:p>
            <a:r>
              <a:rPr lang="en-US" b="1" dirty="0">
                <a:solidFill>
                  <a:srgbClr val="0070C0"/>
                </a:solidFill>
              </a:rPr>
              <a:t>Expected value </a:t>
            </a:r>
            <a:r>
              <a:rPr lang="en-US" dirty="0"/>
              <a:t>is an weighted average of all values.</a:t>
            </a:r>
          </a:p>
          <a:p>
            <a:endParaRPr lang="en-US" dirty="0"/>
          </a:p>
          <a:p>
            <a:r>
              <a:rPr lang="en-US" dirty="0"/>
              <a:t>E(x) = sum(Xi*P(Xi)), where Xi goes through all allowed values of X.</a:t>
            </a:r>
          </a:p>
          <a:p>
            <a:endParaRPr lang="en-US" dirty="0"/>
          </a:p>
          <a:p>
            <a:r>
              <a:rPr lang="en-US" b="1" dirty="0">
                <a:solidFill>
                  <a:srgbClr val="0070C0"/>
                </a:solidFill>
              </a:rPr>
              <a:t>Variance = sigma squared </a:t>
            </a:r>
            <a:r>
              <a:rPr lang="en-US" dirty="0"/>
              <a:t>= sum( (Xi-E(x))**2 * P(Xi) )</a:t>
            </a:r>
          </a:p>
          <a:p>
            <a:endParaRPr lang="en-US" dirty="0"/>
          </a:p>
          <a:p>
            <a:r>
              <a:rPr lang="en-US" b="1" dirty="0">
                <a:solidFill>
                  <a:srgbClr val="0070C0"/>
                </a:solidFill>
              </a:rPr>
              <a:t>Standard Deviation </a:t>
            </a:r>
            <a:r>
              <a:rPr lang="en-US" dirty="0"/>
              <a:t>= sqrt(sigma squared)</a:t>
            </a:r>
          </a:p>
        </p:txBody>
      </p:sp>
      <p:sp>
        <p:nvSpPr>
          <p:cNvPr id="5" name="TextBox 4">
            <a:extLst>
              <a:ext uri="{FF2B5EF4-FFF2-40B4-BE49-F238E27FC236}">
                <a16:creationId xmlns:a16="http://schemas.microsoft.com/office/drawing/2014/main" id="{E72EEA3B-9D50-A145-B8FE-B6686486D979}"/>
              </a:ext>
            </a:extLst>
          </p:cNvPr>
          <p:cNvSpPr txBox="1"/>
          <p:nvPr/>
        </p:nvSpPr>
        <p:spPr>
          <a:xfrm>
            <a:off x="5991726" y="178676"/>
            <a:ext cx="6200274" cy="6494085"/>
          </a:xfrm>
          <a:prstGeom prst="rect">
            <a:avLst/>
          </a:prstGeom>
          <a:noFill/>
        </p:spPr>
        <p:txBody>
          <a:bodyPr wrap="square" rtlCol="0">
            <a:spAutoFit/>
          </a:bodyPr>
          <a:lstStyle/>
          <a:p>
            <a:r>
              <a:rPr lang="en-US" dirty="0"/>
              <a:t>Probability Density Function (</a:t>
            </a:r>
            <a:r>
              <a:rPr lang="en-US" b="1" dirty="0"/>
              <a:t>PDF</a:t>
            </a:r>
            <a:r>
              <a:rPr lang="en-US" dirty="0"/>
              <a:t>)  </a:t>
            </a:r>
          </a:p>
          <a:p>
            <a:r>
              <a:rPr lang="en-US" dirty="0"/>
              <a:t>vs.  Cumulative Probability Function ( </a:t>
            </a:r>
            <a:r>
              <a:rPr lang="en-US" b="1" dirty="0"/>
              <a:t>CPF</a:t>
            </a:r>
            <a:r>
              <a:rPr lang="en-US" dirty="0"/>
              <a:t>)</a:t>
            </a:r>
          </a:p>
          <a:p>
            <a:endParaRPr lang="en-US" dirty="0"/>
          </a:p>
          <a:p>
            <a:r>
              <a:rPr lang="en-US" sz="2400" b="1" dirty="0">
                <a:solidFill>
                  <a:srgbClr val="FF0000"/>
                </a:solidFill>
              </a:rPr>
              <a:t>Continuous Case</a:t>
            </a:r>
          </a:p>
          <a:p>
            <a:endParaRPr lang="en-US" dirty="0"/>
          </a:p>
          <a:p>
            <a:r>
              <a:rPr lang="en-US" b="1" dirty="0">
                <a:solidFill>
                  <a:srgbClr val="0070C0"/>
                </a:solidFill>
              </a:rPr>
              <a:t>Probability Density Function (PDF)</a:t>
            </a:r>
            <a:r>
              <a:rPr lang="en-US" dirty="0"/>
              <a:t> f(x) is a continuous function.</a:t>
            </a:r>
          </a:p>
          <a:p>
            <a:endParaRPr lang="en-US" dirty="0"/>
          </a:p>
          <a:p>
            <a:r>
              <a:rPr lang="en-US" dirty="0"/>
              <a:t>f(x)*dx gives probability that value is between x and </a:t>
            </a:r>
            <a:r>
              <a:rPr lang="en-US" dirty="0" err="1"/>
              <a:t>x+dx</a:t>
            </a:r>
            <a:r>
              <a:rPr lang="en-US" dirty="0"/>
              <a:t>.</a:t>
            </a:r>
          </a:p>
          <a:p>
            <a:endParaRPr lang="en-US" dirty="0"/>
          </a:p>
          <a:p>
            <a:r>
              <a:rPr lang="en-US" dirty="0"/>
              <a:t>The total integral of f(x)*dx should be equal to 1.</a:t>
            </a:r>
          </a:p>
          <a:p>
            <a:endParaRPr lang="en-US" dirty="0"/>
          </a:p>
          <a:p>
            <a:r>
              <a:rPr lang="en-US" b="1" dirty="0">
                <a:solidFill>
                  <a:srgbClr val="0070C0"/>
                </a:solidFill>
              </a:rPr>
              <a:t>Cumulative Probability Function (CPF)</a:t>
            </a:r>
          </a:p>
          <a:p>
            <a:r>
              <a:rPr lang="en-US" dirty="0"/>
              <a:t>This is simply a function F(x) which gives probability that value is less than x.</a:t>
            </a:r>
          </a:p>
          <a:p>
            <a:r>
              <a:rPr lang="en-US" dirty="0"/>
              <a:t>It monotonously grows from 0 to 1 as x grows (from small to large values).</a:t>
            </a:r>
          </a:p>
          <a:p>
            <a:endParaRPr lang="en-US" dirty="0"/>
          </a:p>
          <a:p>
            <a:endParaRPr lang="en-US" dirty="0"/>
          </a:p>
          <a:p>
            <a:r>
              <a:rPr lang="en-US" b="1" dirty="0">
                <a:solidFill>
                  <a:srgbClr val="0070C0"/>
                </a:solidFill>
              </a:rPr>
              <a:t>The PDF is a first derivative of CPF.</a:t>
            </a:r>
          </a:p>
          <a:p>
            <a:endParaRPr lang="en-US" dirty="0"/>
          </a:p>
          <a:p>
            <a:r>
              <a:rPr lang="en-US" dirty="0"/>
              <a:t>CPF(</a:t>
            </a:r>
            <a:r>
              <a:rPr lang="en-US" dirty="0" err="1"/>
              <a:t>x+dx</a:t>
            </a:r>
            <a:r>
              <a:rPr lang="en-US" dirty="0"/>
              <a:t>) – CPF(x) = = [Prob. of value &lt; (</a:t>
            </a:r>
            <a:r>
              <a:rPr lang="en-US" dirty="0" err="1"/>
              <a:t>x+dx</a:t>
            </a:r>
            <a:r>
              <a:rPr lang="en-US" dirty="0"/>
              <a:t>)] – [Prob. of value &lt; x] = f(x)*dx</a:t>
            </a:r>
          </a:p>
          <a:p>
            <a:endParaRPr lang="en-US" dirty="0"/>
          </a:p>
          <a:p>
            <a:r>
              <a:rPr lang="en-US" b="1" dirty="0">
                <a:solidFill>
                  <a:srgbClr val="0070C0"/>
                </a:solidFill>
              </a:rPr>
              <a:t>Mean value = Expected value</a:t>
            </a:r>
          </a:p>
          <a:p>
            <a:endParaRPr lang="en-US" dirty="0"/>
          </a:p>
          <a:p>
            <a:r>
              <a:rPr lang="en-US" dirty="0"/>
              <a:t>For discrete case we had:</a:t>
            </a:r>
          </a:p>
          <a:p>
            <a:r>
              <a:rPr lang="en-US" dirty="0"/>
              <a:t>E(x) = sum(Xi*P(Xi))</a:t>
            </a:r>
          </a:p>
          <a:p>
            <a:endParaRPr lang="en-US" dirty="0"/>
          </a:p>
          <a:p>
            <a:r>
              <a:rPr lang="en-US" dirty="0"/>
              <a:t>For continuous case this translates into</a:t>
            </a:r>
          </a:p>
          <a:p>
            <a:r>
              <a:rPr lang="en-US" dirty="0"/>
              <a:t>E(x) = Integral(</a:t>
            </a:r>
            <a:r>
              <a:rPr lang="en-US" dirty="0" err="1"/>
              <a:t>xF</a:t>
            </a:r>
            <a:r>
              <a:rPr lang="en-US" dirty="0"/>
              <a:t>(x)dx)</a:t>
            </a:r>
          </a:p>
        </p:txBody>
      </p:sp>
    </p:spTree>
    <p:extLst>
      <p:ext uri="{BB962C8B-B14F-4D97-AF65-F5344CB8AC3E}">
        <p14:creationId xmlns:p14="http://schemas.microsoft.com/office/powerpoint/2010/main" val="2249432796"/>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2990</TotalTime>
  <Words>2446</Words>
  <Application>Microsoft Macintosh PowerPoint</Application>
  <PresentationFormat>Widescreen</PresentationFormat>
  <Paragraphs>299</Paragraphs>
  <Slides>10</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Cambria Math</vt:lpstr>
      <vt:lpstr>Menlo</vt:lpstr>
      <vt:lpstr>Monaco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Lev Selector</cp:lastModifiedBy>
  <cp:revision>292</cp:revision>
  <cp:lastPrinted>2021-01-18T18:48:20Z</cp:lastPrinted>
  <dcterms:modified xsi:type="dcterms:W3CDTF">2021-11-29T20:25:02Z</dcterms:modified>
</cp:coreProperties>
</file>